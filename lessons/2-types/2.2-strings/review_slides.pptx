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Default Extension="png" ContentType="image/png"/>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notesMaster" Target="notesMasters/notesMaster1.xml" /><Relationship Id="rId17" Type="http://schemas.openxmlformats.org/officeDocument/2006/relationships/viewProps" Target="viewProps.xml" /><Relationship Id="rId16" Type="http://schemas.openxmlformats.org/officeDocument/2006/relationships/presProps" Target="presProps.xml" /><Relationship Id="rId1" Type="http://schemas.openxmlformats.org/officeDocument/2006/relationships/slideMaster" Target="slideMasters/slideMaster1.xml" /><Relationship Id="rId19" Type="http://schemas.openxmlformats.org/officeDocument/2006/relationships/tableStyles" Target="tableStyles.xml" /><Relationship Id="rId1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Five-minute option. Based on original slide 63’s Hello World review. Ask for the meaning of index, substring, and slice before showing the answer. Negative bounds are optional if learners have not practiced them.</a:t>
            </a:r>
          </a:p>
          <a:p>
            <a:pPr lvl="0" indent="0" marL="0">
              <a:buNone/>
            </a:pPr>
          </a:p>
          <a:p>
            <a:pPr lvl="0" indent="0">
              <a:buNone/>
            </a:pPr>
            <a:r>
              <a:rPr>
                <a:latin typeface="Courier New"/>
              </a:rPr>
              <a:t>assert len(text) == 11 and text[2] == "l" and text[2:5] == "llo"
assert text[6:11] == text[-5:] == "World"</a:t>
            </a:r>
          </a:p>
          <a:p>
            <a:pPr lvl="0" indent="0" marL="0">
              <a:buNone/>
            </a:pPr>
          </a:p>
          <a:p>
            <a:pPr lvl="0" indent="0" marL="0">
              <a:buNone/>
            </a:pPr>
            <a:r>
              <a:rPr/>
              <a:t>Activity ID: review-indexing-and-slicing</a:t>
            </a:r>
          </a:p>
          <a:p>
            <a:pPr lvl="0" indent="0" marL="0">
              <a:buNone/>
            </a:pPr>
          </a:p>
          <a:p>
            <a:pPr lvl="0" indent="0" marL="0">
              <a:buNone/>
            </a:pPr>
            <a:r>
              <a:rPr/>
              <a:t>Slide template: code</a:t>
            </a:r>
          </a:p>
          <a:p>
            <a:pPr lvl="0" indent="0" marL="0">
              <a:buNone/>
            </a:pPr>
          </a:p>
          <a:p>
            <a:pPr lvl="0" indent="0" marL="0">
              <a:buNone/>
            </a:pPr>
            <a:r>
              <a:rPr/>
              <a:t>Example ID: review-indexing-and-slicing Example scope: lesson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Five-minute option. Based on original slide 63’s Hello World review. Ask for the meaning of index, substring, and slice before showing the answer. Negative bounds are optional if learners have not practiced them.</a:t>
            </a:r>
          </a:p>
          <a:p>
            <a:pPr lvl="0" indent="0" marL="0">
              <a:buNone/>
            </a:pPr>
          </a:p>
          <a:p>
            <a:pPr lvl="0" indent="0">
              <a:buNone/>
            </a:pPr>
            <a:r>
              <a:rPr>
                <a:latin typeface="Courier New"/>
              </a:rPr>
              <a:t>assert len(text) == 11 and text[2] == "l" and text[2:5] == "llo"
assert text[6:11] == text[-5:] == "World"</a:t>
            </a:r>
          </a:p>
          <a:p>
            <a:pPr lvl="0" indent="0" marL="0">
              <a:buNone/>
            </a:pPr>
          </a:p>
          <a:p>
            <a:pPr lvl="0" indent="0" marL="0">
              <a:buNone/>
            </a:pPr>
            <a:r>
              <a:rPr/>
              <a:t>Activity ID: review-indexing-and-slicing</a:t>
            </a:r>
          </a:p>
          <a:p>
            <a:pPr lvl="0" indent="0" marL="0">
              <a:buNone/>
            </a:pPr>
          </a:p>
          <a:p>
            <a:pPr lvl="0" indent="0" marL="0">
              <a:buNone/>
            </a:pPr>
            <a:r>
              <a:rPr/>
              <a:t>Slide template: code</a:t>
            </a:r>
          </a:p>
          <a:p>
            <a:pPr lvl="0" indent="0" marL="0">
              <a:buNone/>
            </a:pPr>
          </a:p>
          <a:p>
            <a:pPr lvl="0" indent="0" marL="0">
              <a:buNone/>
            </a:pPr>
            <a:r>
              <a:rPr/>
              <a:t>Example ID: review-indexing-and-slicing Example scope: lesson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Five-minute option. Based on original slide 63’s Hello World review. Ask for the meaning of index, substring, and slice before showing the answer. Negative bounds are optional if learners have not practiced them.</a:t>
            </a:r>
          </a:p>
          <a:p>
            <a:pPr lvl="0" indent="0" marL="0">
              <a:buNone/>
            </a:pPr>
          </a:p>
          <a:p>
            <a:pPr lvl="0" indent="0">
              <a:buNone/>
            </a:pPr>
            <a:r>
              <a:rPr>
                <a:latin typeface="Courier New"/>
              </a:rPr>
              <a:t>assert len(text) == 11 and text[2] == "l" and text[2:5] == "llo"
assert text[6:11] == text[-5:] == "World"</a:t>
            </a:r>
          </a:p>
          <a:p>
            <a:pPr lvl="0" indent="0" marL="0">
              <a:buNone/>
            </a:pPr>
          </a:p>
          <a:p>
            <a:pPr lvl="0" indent="0" marL="0">
              <a:buNone/>
            </a:pPr>
            <a:r>
              <a:rPr/>
              <a:t>Activity ID: review-indexing-and-slicing</a:t>
            </a:r>
          </a:p>
          <a:p>
            <a:pPr lvl="0" indent="0" marL="0">
              <a:buNone/>
            </a:pPr>
          </a:p>
          <a:p>
            <a:pPr lvl="0" indent="0" marL="0">
              <a:buNone/>
            </a:pPr>
            <a:r>
              <a:rPr/>
              <a:t>Slide template: exercise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Five-minute option. Based on original slide 63’s Hello World review. Ask for the meaning of index, substring, and slice before showing the answer. Negative bounds are optional if learners have not practiced them.</a:t>
            </a:r>
          </a:p>
          <a:p>
            <a:pPr lvl="0" indent="0" marL="0">
              <a:buNone/>
            </a:pPr>
          </a:p>
          <a:p>
            <a:pPr lvl="0" indent="0">
              <a:buNone/>
            </a:pPr>
            <a:r>
              <a:rPr>
                <a:latin typeface="Courier New"/>
              </a:rPr>
              <a:t>assert len(text) == 11 and text[2] == "l" and text[2:5] == "llo"
assert text[6:11] == text[-5:] == "World"</a:t>
            </a:r>
          </a:p>
          <a:p>
            <a:pPr lvl="0" indent="0" marL="0">
              <a:buNone/>
            </a:pPr>
          </a:p>
          <a:p>
            <a:pPr lvl="0" indent="0" marL="0">
              <a:buNone/>
            </a:pPr>
            <a:r>
              <a:rPr/>
              <a:t>Activity ID: review-indexing-and-slicing</a:t>
            </a:r>
          </a:p>
          <a:p>
            <a:pPr lvl="0" indent="0" marL="0">
              <a:buNone/>
            </a:pPr>
          </a:p>
          <a:p>
            <a:pPr lvl="0" indent="0" marL="0">
              <a:buNone/>
            </a:pPr>
            <a:r>
              <a:rPr/>
              <a:t>Slide template: answer</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Five-minute option after methods practice. Corrects the original review’s case mismatch when replacing lowercase l after uppercasing. Ask students to name the intermediate value and explain why reassignment differs from changing a character in place.</a:t>
            </a:r>
          </a:p>
          <a:p>
            <a:pPr lvl="0" indent="0" marL="0">
              <a:buNone/>
            </a:pPr>
          </a:p>
          <a:p>
            <a:pPr lvl="0" indent="0">
              <a:buNone/>
            </a:pPr>
            <a:r>
              <a:rPr>
                <a:latin typeface="Courier New"/>
              </a:rPr>
              <a:t>assert changed == "Noice" and original == "NoIce"
assert "Hello World".upper().replace("L", "S") == "HESSO WORSD"</a:t>
            </a:r>
          </a:p>
          <a:p>
            <a:pPr lvl="0" indent="0" marL="0">
              <a:buNone/>
            </a:pPr>
          </a:p>
          <a:p>
            <a:pPr lvl="0" indent="0" marL="0">
              <a:buNone/>
            </a:pPr>
            <a:r>
              <a:rPr/>
              <a:t>Activity ID: review-method-results</a:t>
            </a:r>
          </a:p>
          <a:p>
            <a:pPr lvl="0" indent="0" marL="0">
              <a:buNone/>
            </a:pPr>
          </a:p>
          <a:p>
            <a:pPr lvl="0" indent="0" marL="0">
              <a:buNone/>
            </a:pPr>
            <a:r>
              <a:rPr/>
              <a:t>Slide template: code</a:t>
            </a:r>
          </a:p>
          <a:p>
            <a:pPr lvl="0" indent="0" marL="0">
              <a:buNone/>
            </a:pPr>
          </a:p>
          <a:p>
            <a:pPr lvl="0" indent="0" marL="0">
              <a:buNone/>
            </a:pPr>
            <a:r>
              <a:rPr/>
              <a:t>Example ID: review-method-results Example scope: lesson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Five-minute option after methods practice. Corrects the original review’s case mismatch when replacing lowercase l after uppercasing. Ask students to name the intermediate value and explain why reassignment differs from changing a character in place.</a:t>
            </a:r>
          </a:p>
          <a:p>
            <a:pPr lvl="0" indent="0" marL="0">
              <a:buNone/>
            </a:pPr>
          </a:p>
          <a:p>
            <a:pPr lvl="0" indent="0">
              <a:buNone/>
            </a:pPr>
            <a:r>
              <a:rPr>
                <a:latin typeface="Courier New"/>
              </a:rPr>
              <a:t>assert changed == "Noice" and original == "NoIce"
assert "Hello World".upper().replace("L", "S") == "HESSO WORSD"</a:t>
            </a:r>
          </a:p>
          <a:p>
            <a:pPr lvl="0" indent="0" marL="0">
              <a:buNone/>
            </a:pPr>
          </a:p>
          <a:p>
            <a:pPr lvl="0" indent="0" marL="0">
              <a:buNone/>
            </a:pPr>
            <a:r>
              <a:rPr/>
              <a:t>Activity ID: review-method-results</a:t>
            </a:r>
          </a:p>
          <a:p>
            <a:pPr lvl="0" indent="0" marL="0">
              <a:buNone/>
            </a:pPr>
          </a:p>
          <a:p>
            <a:pPr lvl="0" indent="0" marL="0">
              <a:buNone/>
            </a:pPr>
            <a:r>
              <a:rPr/>
              <a:t>Slide template: code</a:t>
            </a:r>
          </a:p>
          <a:p>
            <a:pPr lvl="0" indent="0" marL="0">
              <a:buNone/>
            </a:pPr>
          </a:p>
          <a:p>
            <a:pPr lvl="0" indent="0" marL="0">
              <a:buNone/>
            </a:pPr>
            <a:r>
              <a:rPr/>
              <a:t>Example ID: review-method-results Example scope: lesson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Five-minute option after methods practice. Corrects the original review’s case mismatch when replacing lowercase l after uppercasing. Ask students to name the intermediate value and explain why reassignment differs from changing a character in place.</a:t>
            </a:r>
          </a:p>
          <a:p>
            <a:pPr lvl="0" indent="0" marL="0">
              <a:buNone/>
            </a:pPr>
          </a:p>
          <a:p>
            <a:pPr lvl="0" indent="0">
              <a:buNone/>
            </a:pPr>
            <a:r>
              <a:rPr>
                <a:latin typeface="Courier New"/>
              </a:rPr>
              <a:t>assert changed == "Noice" and original == "NoIce"
assert "Hello World".upper().replace("L", "S") == "HESSO WORSD"</a:t>
            </a:r>
          </a:p>
          <a:p>
            <a:pPr lvl="0" indent="0" marL="0">
              <a:buNone/>
            </a:pPr>
          </a:p>
          <a:p>
            <a:pPr lvl="0" indent="0" marL="0">
              <a:buNone/>
            </a:pPr>
            <a:r>
              <a:rPr/>
              <a:t>Activity ID: review-method-results</a:t>
            </a:r>
          </a:p>
          <a:p>
            <a:pPr lvl="0" indent="0" marL="0">
              <a:buNone/>
            </a:pPr>
          </a:p>
          <a:p>
            <a:pPr lvl="0" indent="0" marL="0">
              <a:buNone/>
            </a:pPr>
            <a:r>
              <a:rPr/>
              <a:t>Slide template: exercise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Five-minute option after methods practice. Corrects the original review’s case mismatch when replacing lowercase l after uppercasing. Ask students to name the intermediate value and explain why reassignment differs from changing a character in place.</a:t>
            </a:r>
          </a:p>
          <a:p>
            <a:pPr lvl="0" indent="0" marL="0">
              <a:buNone/>
            </a:pPr>
          </a:p>
          <a:p>
            <a:pPr lvl="0" indent="0">
              <a:buNone/>
            </a:pPr>
            <a:r>
              <a:rPr>
                <a:latin typeface="Courier New"/>
              </a:rPr>
              <a:t>assert changed == "Noice" and original == "NoIce"
assert "Hello World".upper().replace("L", "S") == "HESSO WORSD"</a:t>
            </a:r>
          </a:p>
          <a:p>
            <a:pPr lvl="0" indent="0" marL="0">
              <a:buNone/>
            </a:pPr>
          </a:p>
          <a:p>
            <a:pPr lvl="0" indent="0" marL="0">
              <a:buNone/>
            </a:pPr>
            <a:r>
              <a:rPr/>
              <a:t>Activity ID: review-method-results</a:t>
            </a:r>
          </a:p>
          <a:p>
            <a:pPr lvl="0" indent="0" marL="0">
              <a:buNone/>
            </a:pPr>
          </a:p>
          <a:p>
            <a:pPr lvl="0" indent="0" marL="0">
              <a:buNone/>
            </a:pPr>
            <a:r>
              <a:rPr/>
              <a:t>Slide template: answer</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Five-minute option only after </a:t>
            </a:r>
            <a:r>
              <a:rPr>
                <a:latin typeface="Courier New"/>
              </a:rPr>
              <a:t>split</a:t>
            </a:r>
            <a:r>
              <a:rPr/>
              <a:t>/</a:t>
            </a:r>
            <a:r>
              <a:rPr>
                <a:latin typeface="Courier New"/>
              </a:rPr>
              <a:t>join</a:t>
            </a:r>
            <a:r>
              <a:rPr/>
              <a:t> practice. Retains the original bonus challenge for later recall. Use indexing/slicing review first if this material was deferred. Ask students to explain the delimiter instead of reciting method names.</a:t>
            </a:r>
          </a:p>
          <a:p>
            <a:pPr lvl="0" indent="0" marL="0">
              <a:buNone/>
            </a:pPr>
          </a:p>
          <a:p>
            <a:pPr lvl="0" indent="0">
              <a:buNone/>
            </a:pPr>
            <a:r>
              <a:rPr>
                <a:latin typeface="Courier New"/>
              </a:rPr>
              <a:t>assert pieces == ["N", "O", "I", "C", "E"]
assert commas == "N,O,I,C,E" and noice == "noice"</a:t>
            </a:r>
          </a:p>
          <a:p>
            <a:pPr lvl="0" indent="0" marL="0">
              <a:buNone/>
            </a:pPr>
          </a:p>
          <a:p>
            <a:pPr lvl="0" indent="0" marL="0">
              <a:buNone/>
            </a:pPr>
            <a:r>
              <a:rPr/>
              <a:t>Activity ID: review-delimiters</a:t>
            </a:r>
          </a:p>
          <a:p>
            <a:pPr lvl="0" indent="0" marL="0">
              <a:buNone/>
            </a:pPr>
          </a:p>
          <a:p>
            <a:pPr lvl="0" indent="0" marL="0">
              <a:buNone/>
            </a:pPr>
            <a:r>
              <a:rPr/>
              <a:t>Slide template: code</a:t>
            </a:r>
          </a:p>
          <a:p>
            <a:pPr lvl="0" indent="0" marL="0">
              <a:buNone/>
            </a:pPr>
          </a:p>
          <a:p>
            <a:pPr lvl="0" indent="0" marL="0">
              <a:buNone/>
            </a:pPr>
            <a:r>
              <a:rPr/>
              <a:t>Example ID: review-delimiters Example scope: lesson Example reveal: false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Five-minute option only after </a:t>
            </a:r>
            <a:r>
              <a:rPr>
                <a:latin typeface="Courier New"/>
              </a:rPr>
              <a:t>split</a:t>
            </a:r>
            <a:r>
              <a:rPr/>
              <a:t>/</a:t>
            </a:r>
            <a:r>
              <a:rPr>
                <a:latin typeface="Courier New"/>
              </a:rPr>
              <a:t>join</a:t>
            </a:r>
            <a:r>
              <a:rPr/>
              <a:t> practice. Retains the original bonus challenge for later recall. Use indexing/slicing review first if this material was deferred. Ask students to explain the delimiter instead of reciting method names.</a:t>
            </a:r>
          </a:p>
          <a:p>
            <a:pPr lvl="0" indent="0" marL="0">
              <a:buNone/>
            </a:pPr>
          </a:p>
          <a:p>
            <a:pPr lvl="0" indent="0">
              <a:buNone/>
            </a:pPr>
            <a:r>
              <a:rPr>
                <a:latin typeface="Courier New"/>
              </a:rPr>
              <a:t>assert pieces == ["N", "O", "I", "C", "E"]
assert commas == "N,O,I,C,E" and noice == "noice"</a:t>
            </a:r>
          </a:p>
          <a:p>
            <a:pPr lvl="0" indent="0" marL="0">
              <a:buNone/>
            </a:pPr>
          </a:p>
          <a:p>
            <a:pPr lvl="0" indent="0" marL="0">
              <a:buNone/>
            </a:pPr>
            <a:r>
              <a:rPr/>
              <a:t>Activity ID: review-delimiters</a:t>
            </a:r>
          </a:p>
          <a:p>
            <a:pPr lvl="0" indent="0" marL="0">
              <a:buNone/>
            </a:pPr>
          </a:p>
          <a:p>
            <a:pPr lvl="0" indent="0" marL="0">
              <a:buNone/>
            </a:pPr>
            <a:r>
              <a:rPr/>
              <a:t>Slide template: code</a:t>
            </a:r>
          </a:p>
          <a:p>
            <a:pPr lvl="0" indent="0" marL="0">
              <a:buNone/>
            </a:pPr>
          </a:p>
          <a:p>
            <a:pPr lvl="0" indent="0" marL="0">
              <a:buNone/>
            </a:pPr>
            <a:r>
              <a:rPr/>
              <a:t>Example ID: review-delimiters Example scope: lesson Example reveal: true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Five-minute option only after </a:t>
            </a:r>
            <a:r>
              <a:rPr>
                <a:latin typeface="Courier New"/>
              </a:rPr>
              <a:t>split</a:t>
            </a:r>
            <a:r>
              <a:rPr/>
              <a:t>/</a:t>
            </a:r>
            <a:r>
              <a:rPr>
                <a:latin typeface="Courier New"/>
              </a:rPr>
              <a:t>join</a:t>
            </a:r>
            <a:r>
              <a:rPr/>
              <a:t> practice. Retains the original bonus challenge for later recall. Use indexing/slicing review first if this material was deferred. Ask students to explain the delimiter instead of reciting method names.</a:t>
            </a:r>
          </a:p>
          <a:p>
            <a:pPr lvl="0" indent="0" marL="0">
              <a:buNone/>
            </a:pPr>
          </a:p>
          <a:p>
            <a:pPr lvl="0" indent="0">
              <a:buNone/>
            </a:pPr>
            <a:r>
              <a:rPr>
                <a:latin typeface="Courier New"/>
              </a:rPr>
              <a:t>assert pieces == ["N", "O", "I", "C", "E"]
assert commas == "N,O,I,C,E" and noice == "noice"</a:t>
            </a:r>
          </a:p>
          <a:p>
            <a:pPr lvl="0" indent="0" marL="0">
              <a:buNone/>
            </a:pPr>
          </a:p>
          <a:p>
            <a:pPr lvl="0" indent="0" marL="0">
              <a:buNone/>
            </a:pPr>
            <a:r>
              <a:rPr/>
              <a:t>Activity ID: review-delimiters</a:t>
            </a:r>
          </a:p>
          <a:p>
            <a:pPr lvl="0" indent="0" marL="0">
              <a:buNone/>
            </a:pPr>
          </a:p>
          <a:p>
            <a:pPr lvl="0" indent="0" marL="0">
              <a:buNone/>
            </a:pPr>
            <a:r>
              <a:rPr/>
              <a:t>Slide template: exercise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Five-minute option only after </a:t>
            </a:r>
            <a:r>
              <a:rPr>
                <a:latin typeface="Courier New"/>
              </a:rPr>
              <a:t>split</a:t>
            </a:r>
            <a:r>
              <a:rPr/>
              <a:t>/</a:t>
            </a:r>
            <a:r>
              <a:rPr>
                <a:latin typeface="Courier New"/>
              </a:rPr>
              <a:t>join</a:t>
            </a:r>
            <a:r>
              <a:rPr/>
              <a:t> practice. Retains the original bonus challenge for later recall. Use indexing/slicing review first if this material was deferred. Ask students to explain the delimiter instead of reciting method names.</a:t>
            </a:r>
          </a:p>
          <a:p>
            <a:pPr lvl="0" indent="0" marL="0">
              <a:buNone/>
            </a:pPr>
          </a:p>
          <a:p>
            <a:pPr lvl="0" indent="0">
              <a:buNone/>
            </a:pPr>
            <a:r>
              <a:rPr>
                <a:latin typeface="Courier New"/>
              </a:rPr>
              <a:t>assert pieces == ["N", "O", "I", "C", "E"]
assert commas == "N,O,I,C,E" and noice == "noice"</a:t>
            </a:r>
          </a:p>
          <a:p>
            <a:pPr lvl="0" indent="0" marL="0">
              <a:buNone/>
            </a:pPr>
          </a:p>
          <a:p>
            <a:pPr lvl="0" indent="0" marL="0">
              <a:buNone/>
            </a:pPr>
            <a:r>
              <a:rPr/>
              <a:t>Activity ID: review-delimiters</a:t>
            </a:r>
          </a:p>
          <a:p>
            <a:pPr lvl="0" indent="0" marL="0">
              <a:buNone/>
            </a:pPr>
          </a:p>
          <a:p>
            <a:pPr lvl="0" indent="0" marL="0">
              <a:buNone/>
            </a:pPr>
            <a:r>
              <a:rPr/>
              <a:t>Slide template: answer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49"/>
            <a:ext cx="4011084"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2389717" y="5367337"/>
            <a:ext cx="73152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609600" y="1600201"/>
            <a:ext cx="10972800" cy="4525963"/>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609600" y="6356351"/>
            <a:ext cx="2844800" cy="365125"/>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4165600" y="6356351"/>
            <a:ext cx="3860800" cy="365125"/>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8737600" y="6356351"/>
            <a:ext cx="2844800" cy="365125"/>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 Id="pi515Logo" Type="http://schemas.openxmlformats.org/officeDocument/2006/relationships/image" Target="../media/pi515-logo.png"/></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pi515Logo" Type="http://schemas.openxmlformats.org/officeDocument/2006/relationships/image" Target="../media/pi515-logo.png"/></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pi515Logo" Type="http://schemas.openxmlformats.org/officeDocument/2006/relationships/image" Target="../media/pi515-logo.png"/></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pi515Logo" Type="http://schemas.openxmlformats.org/officeDocument/2006/relationships/image" Target="../media/pi515-logo.png"/></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pi515Logo" Type="http://schemas.openxmlformats.org/officeDocument/2006/relationships/image" Target="../media/pi515-logo.png"/></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pi515Logo" Type="http://schemas.openxmlformats.org/officeDocument/2006/relationships/image" Target="../media/pi515-logo.png"/></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pi515Logo" Type="http://schemas.openxmlformats.org/officeDocument/2006/relationships/image" Target="../media/pi515-logo.png"/></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pi515Logo" Type="http://schemas.openxmlformats.org/officeDocument/2006/relationships/image" Target="../media/pi515-logo.png"/></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pi515Logo" Type="http://schemas.openxmlformats.org/officeDocument/2006/relationships/image" Target="../media/pi515-logo.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pi515Logo" Type="http://schemas.openxmlformats.org/officeDocument/2006/relationships/image" Target="../media/pi515-logo.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pi515Logo" Type="http://schemas.openxmlformats.org/officeDocument/2006/relationships/image" Target="../media/pi515-logo.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pi515Logo" Type="http://schemas.openxmlformats.org/officeDocument/2006/relationships/image" Target="../media/pi515-logo.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pi515Logo" Type="http://schemas.openxmlformats.org/officeDocument/2006/relationships/image" Target="../media/pi515-logo.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4360" y="1005840"/>
            <a:ext cx="10972800" cy="1554480"/>
          </a:xfrm>
        </p:spPr>
        <p:txBody>
          <a:bodyPr anchor="t" lIns="0" rIns="0" tIns="0" bIns="0">
            <a:noAutofit/>
          </a:bodyPr>
          <a:lstStyle/>
          <a:p>
            <a:pPr marL="0" indent="0" algn="l">
              <a:buNone/>
            </a:pPr>
            <a:r>
              <a:rPr sz="4000" b="1">
                <a:solidFill>
                  <a:srgbClr val="17763C"/>
                </a:solidFill>
                <a:latin typeface="Arial"/>
              </a:rPr>
              <a:t>Strings - indexing, slicing, and methods — review</a:t>
            </a:r>
          </a:p>
        </p:txBody>
      </p:sp>
      <p:sp>
        <p:nvSpPr>
          <p:cNvPr id="3" name="Pi515 accent"/>
          <p:cNvSpPr/>
          <p:nvPr/>
        </p:nvSpPr>
        <p:spPr>
          <a:xfrm>
            <a:off x="0" y="0"/>
            <a:ext cx="12192000" cy="54864"/>
          </a:xfrm>
          <a:prstGeom prst="rect">
            <a:avLst/>
          </a:prstGeom>
          <a:solidFill>
            <a:srgbClr val="39DC78"/>
          </a:solidFill>
          <a:ln>
            <a:noFill/>
          </a:ln>
        </p:spPr>
      </p:sp>
      <p:sp>
        <p:nvSpPr>
          <p:cNvPr id="4"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TECH MENTORSHIP</a:t>
            </a:r>
          </a:p>
        </p:txBody>
      </p:sp>
      <p:sp>
        <p:nvSpPr>
          <p:cNvPr id="5" name="Footer rule"/>
          <p:cNvSpPr/>
          <p:nvPr/>
        </p:nvSpPr>
        <p:spPr>
          <a:xfrm>
            <a:off x="594360" y="6400800"/>
            <a:ext cx="10972800" cy="10973"/>
          </a:xfrm>
          <a:prstGeom prst="rect">
            <a:avLst/>
          </a:prstGeom>
          <a:solidFill>
            <a:srgbClr val="E6E6E6"/>
          </a:solidFill>
          <a:ln>
            <a:noFill/>
          </a:ln>
        </p:spPr>
      </p:sp>
      <p:sp>
        <p:nvSpPr>
          <p:cNvPr id="6"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a:t>
            </a:r>
          </a:p>
        </p:txBody>
      </p:sp>
      <p:pic>
        <p:nvPicPr>
          <p:cNvPr id="7"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Length, indexing, and slicing</a:t>
            </a:r>
          </a:p>
        </p:txBody>
      </p:sp>
      <p:sp>
        <p:nvSpPr>
          <p:cNvPr id="17" name="Printed output panel 0"/>
          <p:cNvSpPr/>
          <p:nvPr/>
        </p:nvSpPr>
        <p:spPr>
          <a:xfrm>
            <a:off x="8183880" y="2255520"/>
            <a:ext cx="3383280" cy="1804416"/>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Predict before running. Which expression returns a character, which returns a substring, and which returns a number?</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text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"Hello World"</a:t>
            </a:r>
          </a:p>
        </p:txBody>
      </p:sp>
      <p:sp>
        <p:nvSpPr>
          <p:cNvPr id="8"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008000"/>
                </a:solidFill>
                <a:latin typeface="Courier New"/>
              </a:rPr>
              <a:t xml:space="preserve">len</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r>
              <a:rPr sz="2000">
                <a:solidFill>
                  <a:srgbClr val="666666"/>
                </a:solidFill>
                <a:latin typeface="Courier New"/>
              </a:rPr>
              <a:t xml:space="preserve">)</a:t>
            </a:r>
          </a:p>
        </p:txBody>
      </p:sp>
      <p:sp>
        <p:nvSpPr>
          <p:cNvPr id="10" name="Printed output 0:2"/>
          <p:cNvSpPr txBox="1"/>
          <p:nvPr/>
        </p:nvSpPr>
        <p:spPr>
          <a:xfrm>
            <a:off x="8366760" y="2946908"/>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1" name="Code number 0:3"/>
          <p:cNvSpPr txBox="1"/>
          <p:nvPr/>
        </p:nvSpPr>
        <p:spPr>
          <a:xfrm>
            <a:off x="164592" y="325831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2" name="Code line 0:3"/>
          <p:cNvSpPr txBox="1"/>
          <p:nvPr/>
        </p:nvSpPr>
        <p:spPr>
          <a:xfrm>
            <a:off x="594360" y="325831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r>
              <a:rPr sz="2000">
                <a:solidFill>
                  <a:srgbClr val="208050"/>
                </a:solidFill>
                <a:latin typeface="Courier New"/>
              </a:rPr>
              <a:t xml:space="preserve">2</a:t>
            </a:r>
            <a:r>
              <a:rPr sz="2000">
                <a:solidFill>
                  <a:srgbClr val="666666"/>
                </a:solidFill>
                <a:latin typeface="Courier New"/>
              </a:rPr>
              <a:t xml:space="preserve">]</a:t>
            </a:r>
            <a:r>
              <a:rPr sz="2000">
                <a:solidFill>
                  <a:srgbClr val="666666"/>
                </a:solidFill>
                <a:latin typeface="Courier New"/>
              </a:rPr>
              <a:t xml:space="preserve">)</a:t>
            </a:r>
          </a:p>
        </p:txBody>
      </p:sp>
      <p:sp>
        <p:nvSpPr>
          <p:cNvPr id="13" name="Printed output 0:3"/>
          <p:cNvSpPr txBox="1"/>
          <p:nvPr/>
        </p:nvSpPr>
        <p:spPr>
          <a:xfrm>
            <a:off x="8366760" y="328371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4" name="Code number 0:4"/>
          <p:cNvSpPr txBox="1"/>
          <p:nvPr/>
        </p:nvSpPr>
        <p:spPr>
          <a:xfrm>
            <a:off x="164592" y="359511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5" name="Code line 0:4"/>
          <p:cNvSpPr txBox="1"/>
          <p:nvPr/>
        </p:nvSpPr>
        <p:spPr>
          <a:xfrm>
            <a:off x="594360" y="3595116"/>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r>
              <a:rPr sz="2000">
                <a:solidFill>
                  <a:srgbClr val="208050"/>
                </a:solidFill>
                <a:latin typeface="Courier New"/>
              </a:rPr>
              <a:t xml:space="preserve">2</a:t>
            </a:r>
            <a:r>
              <a:rPr sz="2000">
                <a:solidFill>
                  <a:srgbClr val="666666"/>
                </a:solidFill>
                <a:latin typeface="Courier New"/>
              </a:rPr>
              <a:t xml:space="preserve">:</a:t>
            </a:r>
            <a:r>
              <a:rPr sz="2000">
                <a:solidFill>
                  <a:srgbClr val="208050"/>
                </a:solidFill>
                <a:latin typeface="Courier New"/>
              </a:rPr>
              <a:t xml:space="preserve">5</a:t>
            </a:r>
            <a:r>
              <a:rPr sz="2000">
                <a:solidFill>
                  <a:srgbClr val="666666"/>
                </a:solidFill>
                <a:latin typeface="Courier New"/>
              </a:rPr>
              <a:t xml:space="preserve">]</a:t>
            </a:r>
            <a:r>
              <a:rPr sz="2000">
                <a:solidFill>
                  <a:srgbClr val="666666"/>
                </a:solidFill>
                <a:latin typeface="Courier New"/>
              </a:rPr>
              <a:t xml:space="preserve">)</a:t>
            </a:r>
          </a:p>
        </p:txBody>
      </p:sp>
      <p:sp>
        <p:nvSpPr>
          <p:cNvPr id="16" name="Printed output 0:4"/>
          <p:cNvSpPr txBox="1"/>
          <p:nvPr/>
        </p:nvSpPr>
        <p:spPr>
          <a:xfrm>
            <a:off x="8366760" y="3620516"/>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8" name="Pi515 accent"/>
          <p:cNvSpPr/>
          <p:nvPr/>
        </p:nvSpPr>
        <p:spPr>
          <a:xfrm>
            <a:off x="0" y="0"/>
            <a:ext cx="12192000" cy="54864"/>
          </a:xfrm>
          <a:prstGeom prst="rect">
            <a:avLst/>
          </a:prstGeom>
          <a:solidFill>
            <a:srgbClr val="39DC78"/>
          </a:solidFill>
          <a:ln>
            <a:noFill/>
          </a:ln>
        </p:spPr>
      </p:sp>
      <p:sp>
        <p:nvSpPr>
          <p:cNvPr id="19"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20" name="Footer rule"/>
          <p:cNvSpPr/>
          <p:nvPr/>
        </p:nvSpPr>
        <p:spPr>
          <a:xfrm>
            <a:off x="594360" y="6400800"/>
            <a:ext cx="10972800" cy="10973"/>
          </a:xfrm>
          <a:prstGeom prst="rect">
            <a:avLst/>
          </a:prstGeom>
          <a:solidFill>
            <a:srgbClr val="E6E6E6"/>
          </a:solidFill>
          <a:ln>
            <a:noFill/>
          </a:ln>
        </p:spPr>
      </p:sp>
      <p:sp>
        <p:nvSpPr>
          <p:cNvPr id="21"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2</a:t>
            </a:r>
          </a:p>
        </p:txBody>
      </p:sp>
      <p:pic>
        <p:nvPicPr>
          <p:cNvPr id="22"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Length, indexing, and slicing</a:t>
            </a:r>
          </a:p>
        </p:txBody>
      </p:sp>
      <p:sp>
        <p:nvSpPr>
          <p:cNvPr id="17" name="Printed output panel 0"/>
          <p:cNvSpPr/>
          <p:nvPr/>
        </p:nvSpPr>
        <p:spPr>
          <a:xfrm>
            <a:off x="8183880" y="2255520"/>
            <a:ext cx="3383280" cy="1804416"/>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Predict before running. Which expression returns a character, which returns a substring, and which returns a number?</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text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"Hello World"</a:t>
            </a:r>
          </a:p>
        </p:txBody>
      </p:sp>
      <p:sp>
        <p:nvSpPr>
          <p:cNvPr id="8"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008000"/>
                </a:solidFill>
                <a:latin typeface="Courier New"/>
              </a:rPr>
              <a:t xml:space="preserve">len</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r>
              <a:rPr sz="2000">
                <a:solidFill>
                  <a:srgbClr val="666666"/>
                </a:solidFill>
                <a:latin typeface="Courier New"/>
              </a:rPr>
              <a:t xml:space="preserve">)</a:t>
            </a:r>
          </a:p>
        </p:txBody>
      </p:sp>
      <p:sp>
        <p:nvSpPr>
          <p:cNvPr id="10" name="Printed output 0:2"/>
          <p:cNvSpPr txBox="1"/>
          <p:nvPr/>
        </p:nvSpPr>
        <p:spPr>
          <a:xfrm>
            <a:off x="8366760" y="2946908"/>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11</a:t>
            </a:r>
          </a:p>
        </p:txBody>
      </p:sp>
      <p:sp>
        <p:nvSpPr>
          <p:cNvPr id="11" name="Code number 0:3"/>
          <p:cNvSpPr txBox="1"/>
          <p:nvPr/>
        </p:nvSpPr>
        <p:spPr>
          <a:xfrm>
            <a:off x="164592" y="325831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2" name="Code line 0:3"/>
          <p:cNvSpPr txBox="1"/>
          <p:nvPr/>
        </p:nvSpPr>
        <p:spPr>
          <a:xfrm>
            <a:off x="594360" y="325831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r>
              <a:rPr sz="2000">
                <a:solidFill>
                  <a:srgbClr val="208050"/>
                </a:solidFill>
                <a:latin typeface="Courier New"/>
              </a:rPr>
              <a:t xml:space="preserve">2</a:t>
            </a:r>
            <a:r>
              <a:rPr sz="2000">
                <a:solidFill>
                  <a:srgbClr val="666666"/>
                </a:solidFill>
                <a:latin typeface="Courier New"/>
              </a:rPr>
              <a:t xml:space="preserve">]</a:t>
            </a:r>
            <a:r>
              <a:rPr sz="2000">
                <a:solidFill>
                  <a:srgbClr val="666666"/>
                </a:solidFill>
                <a:latin typeface="Courier New"/>
              </a:rPr>
              <a:t xml:space="preserve">)</a:t>
            </a:r>
          </a:p>
        </p:txBody>
      </p:sp>
      <p:sp>
        <p:nvSpPr>
          <p:cNvPr id="13" name="Printed output 0:3"/>
          <p:cNvSpPr txBox="1"/>
          <p:nvPr/>
        </p:nvSpPr>
        <p:spPr>
          <a:xfrm>
            <a:off x="8366760" y="328371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l</a:t>
            </a:r>
          </a:p>
        </p:txBody>
      </p:sp>
      <p:sp>
        <p:nvSpPr>
          <p:cNvPr id="14" name="Code number 0:4"/>
          <p:cNvSpPr txBox="1"/>
          <p:nvPr/>
        </p:nvSpPr>
        <p:spPr>
          <a:xfrm>
            <a:off x="164592" y="359511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5" name="Code line 0:4"/>
          <p:cNvSpPr txBox="1"/>
          <p:nvPr/>
        </p:nvSpPr>
        <p:spPr>
          <a:xfrm>
            <a:off x="594360" y="3595116"/>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r>
              <a:rPr sz="2000">
                <a:solidFill>
                  <a:srgbClr val="208050"/>
                </a:solidFill>
                <a:latin typeface="Courier New"/>
              </a:rPr>
              <a:t xml:space="preserve">2</a:t>
            </a:r>
            <a:r>
              <a:rPr sz="2000">
                <a:solidFill>
                  <a:srgbClr val="666666"/>
                </a:solidFill>
                <a:latin typeface="Courier New"/>
              </a:rPr>
              <a:t xml:space="preserve">:</a:t>
            </a:r>
            <a:r>
              <a:rPr sz="2000">
                <a:solidFill>
                  <a:srgbClr val="208050"/>
                </a:solidFill>
                <a:latin typeface="Courier New"/>
              </a:rPr>
              <a:t xml:space="preserve">5</a:t>
            </a:r>
            <a:r>
              <a:rPr sz="2000">
                <a:solidFill>
                  <a:srgbClr val="666666"/>
                </a:solidFill>
                <a:latin typeface="Courier New"/>
              </a:rPr>
              <a:t xml:space="preserve">]</a:t>
            </a:r>
            <a:r>
              <a:rPr sz="2000">
                <a:solidFill>
                  <a:srgbClr val="666666"/>
                </a:solidFill>
                <a:latin typeface="Courier New"/>
              </a:rPr>
              <a:t xml:space="preserve">)</a:t>
            </a:r>
          </a:p>
        </p:txBody>
      </p:sp>
      <p:sp>
        <p:nvSpPr>
          <p:cNvPr id="16" name="Printed output 0:4"/>
          <p:cNvSpPr txBox="1"/>
          <p:nvPr/>
        </p:nvSpPr>
        <p:spPr>
          <a:xfrm>
            <a:off x="8366760" y="3620516"/>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llo</a:t>
            </a:r>
          </a:p>
        </p:txBody>
      </p:sp>
      <p:sp>
        <p:nvSpPr>
          <p:cNvPr id="18" name="Pi515 accent"/>
          <p:cNvSpPr/>
          <p:nvPr/>
        </p:nvSpPr>
        <p:spPr>
          <a:xfrm>
            <a:off x="0" y="0"/>
            <a:ext cx="12192000" cy="54864"/>
          </a:xfrm>
          <a:prstGeom prst="rect">
            <a:avLst/>
          </a:prstGeom>
          <a:solidFill>
            <a:srgbClr val="39DC78"/>
          </a:solidFill>
          <a:ln>
            <a:noFill/>
          </a:ln>
        </p:spPr>
      </p:sp>
      <p:sp>
        <p:nvSpPr>
          <p:cNvPr id="19"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20" name="Footer rule"/>
          <p:cNvSpPr/>
          <p:nvPr/>
        </p:nvSpPr>
        <p:spPr>
          <a:xfrm>
            <a:off x="594360" y="6400800"/>
            <a:ext cx="10972800" cy="10973"/>
          </a:xfrm>
          <a:prstGeom prst="rect">
            <a:avLst/>
          </a:prstGeom>
          <a:solidFill>
            <a:srgbClr val="E6E6E6"/>
          </a:solidFill>
          <a:ln>
            <a:noFill/>
          </a:ln>
        </p:spPr>
      </p:sp>
      <p:sp>
        <p:nvSpPr>
          <p:cNvPr id="21"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3</a:t>
            </a:r>
          </a:p>
        </p:txBody>
      </p:sp>
      <p:pic>
        <p:nvPicPr>
          <p:cNvPr id="22"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0 — Length, indexing, and slicing</a:t>
            </a:r>
          </a:p>
        </p:txBody>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Write your predictions, then run the example. Write a slice that selects </a:t>
            </a:r>
            <a:r>
              <a:rPr sz="2200">
                <a:solidFill>
                  <a:srgbClr val="4070A0"/>
                </a:solidFill>
                <a:latin typeface="Courier New"/>
              </a:rPr>
              <a:t xml:space="preserve">"World"</a:t>
            </a:r>
            <a:r>
              <a:rPr sz="2200">
                <a:solidFill>
                  <a:srgbClr val="2B2B2B"/>
                </a:solidFill>
                <a:latin typeface="Arial"/>
              </a:rPr>
              <a:t>. Explain why its stop is excluded. Try a negative start too.</a:t>
            </a:r>
          </a:p>
        </p:txBody>
      </p:sp>
      <p:sp>
        <p:nvSpPr>
          <p:cNvPr id="4" name="Code number 0:1"/>
          <p:cNvSpPr txBox="1"/>
          <p:nvPr/>
        </p:nvSpPr>
        <p:spPr>
          <a:xfrm>
            <a:off x="164592" y="23103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31038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text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"Hello World"</a:t>
            </a:r>
          </a:p>
        </p:txBody>
      </p:sp>
      <p:sp>
        <p:nvSpPr>
          <p:cNvPr id="6" name="Code number 0:2"/>
          <p:cNvSpPr txBox="1"/>
          <p:nvPr/>
        </p:nvSpPr>
        <p:spPr>
          <a:xfrm>
            <a:off x="164592" y="264718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647188"/>
            <a:ext cx="109728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YOUR CODE HERE: select World in two ways.</a:t>
            </a:r>
          </a:p>
        </p:txBody>
      </p:sp>
      <p:sp>
        <p:nvSpPr>
          <p:cNvPr id="8" name="Pi515 accent"/>
          <p:cNvSpPr/>
          <p:nvPr/>
        </p:nvSpPr>
        <p:spPr>
          <a:xfrm>
            <a:off x="0" y="0"/>
            <a:ext cx="12192000" cy="54864"/>
          </a:xfrm>
          <a:prstGeom prst="rect">
            <a:avLst/>
          </a:prstGeom>
          <a:solidFill>
            <a:srgbClr val="39DC78"/>
          </a:solidFill>
          <a:ln>
            <a:noFill/>
          </a:ln>
        </p:spPr>
      </p:sp>
      <p:sp>
        <p:nvSpPr>
          <p:cNvPr id="9"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EXERCISE</a:t>
            </a:r>
          </a:p>
        </p:txBody>
      </p:sp>
      <p:sp>
        <p:nvSpPr>
          <p:cNvPr id="10" name="Footer rule"/>
          <p:cNvSpPr/>
          <p:nvPr/>
        </p:nvSpPr>
        <p:spPr>
          <a:xfrm>
            <a:off x="594360" y="6400800"/>
            <a:ext cx="10972800" cy="10973"/>
          </a:xfrm>
          <a:prstGeom prst="rect">
            <a:avLst/>
          </a:prstGeom>
          <a:solidFill>
            <a:srgbClr val="E6E6E6"/>
          </a:solidFill>
          <a:ln>
            <a:noFill/>
          </a:ln>
        </p:spPr>
      </p:sp>
      <p:sp>
        <p:nvSpPr>
          <p:cNvPr id="11"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4</a:t>
            </a:r>
          </a:p>
        </p:txBody>
      </p:sp>
      <p:pic>
        <p:nvPicPr>
          <p:cNvPr id="12"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0 — Length, indexing, and slicing — answer</a:t>
            </a:r>
          </a:p>
        </p:txBody>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Length is 11. Index 2 selects </a:t>
            </a:r>
            <a:r>
              <a:rPr sz="2200">
                <a:solidFill>
                  <a:srgbClr val="4070A0"/>
                </a:solidFill>
                <a:latin typeface="Courier New"/>
              </a:rPr>
              <a:t xml:space="preserve">"l"</a:t>
            </a:r>
            <a:r>
              <a:rPr sz="2200">
                <a:solidFill>
                  <a:srgbClr val="2B2B2B"/>
                </a:solidFill>
                <a:latin typeface="Arial"/>
              </a:rPr>
              <a:t>. The slice selects </a:t>
            </a:r>
            <a:r>
              <a:rPr sz="2200">
                <a:solidFill>
                  <a:srgbClr val="4070A0"/>
                </a:solidFill>
                <a:latin typeface="Courier New"/>
              </a:rPr>
              <a:t xml:space="preserve">"llo"</a:t>
            </a:r>
            <a:r>
              <a:rPr sz="2200">
                <a:solidFill>
                  <a:srgbClr val="2B2B2B"/>
                </a:solidFill>
                <a:latin typeface="Arial"/>
              </a:rPr>
              <a:t> at indices 2, 3, and 4. To select World:</a:t>
            </a:r>
          </a:p>
        </p:txBody>
      </p:sp>
      <p:sp>
        <p:nvSpPr>
          <p:cNvPr id="4" name="Code number 0:1"/>
          <p:cNvSpPr txBox="1"/>
          <p:nvPr/>
        </p:nvSpPr>
        <p:spPr>
          <a:xfrm>
            <a:off x="164592" y="23103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31038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text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"Hello World"</a:t>
            </a:r>
          </a:p>
        </p:txBody>
      </p:sp>
      <p:sp>
        <p:nvSpPr>
          <p:cNvPr id="6" name="Code number 0:2"/>
          <p:cNvSpPr txBox="1"/>
          <p:nvPr/>
        </p:nvSpPr>
        <p:spPr>
          <a:xfrm>
            <a:off x="164592" y="264718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647188"/>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r>
              <a:rPr sz="2000">
                <a:solidFill>
                  <a:srgbClr val="208050"/>
                </a:solidFill>
                <a:latin typeface="Courier New"/>
              </a:rPr>
              <a:t xml:space="preserve">6</a:t>
            </a:r>
            <a:r>
              <a:rPr sz="2000">
                <a:solidFill>
                  <a:srgbClr val="666666"/>
                </a:solidFill>
                <a:latin typeface="Courier New"/>
              </a:rPr>
              <a:t xml:space="preserve">:</a:t>
            </a:r>
            <a:r>
              <a:rPr sz="2000">
                <a:solidFill>
                  <a:srgbClr val="208050"/>
                </a:solidFill>
                <a:latin typeface="Courier New"/>
              </a:rPr>
              <a:t xml:space="preserve">11</a:t>
            </a:r>
            <a:r>
              <a:rPr sz="2000">
                <a:solidFill>
                  <a:srgbClr val="666666"/>
                </a:solidFill>
                <a:latin typeface="Courier New"/>
              </a:rPr>
              <a:t xml:space="preserve">]</a:t>
            </a:r>
            <a:r>
              <a:rPr sz="2000">
                <a:solidFill>
                  <a:srgbClr val="666666"/>
                </a:solidFill>
                <a:latin typeface="Courier New"/>
              </a:rPr>
              <a:t xml:space="preserve">)</a:t>
            </a:r>
          </a:p>
        </p:txBody>
      </p:sp>
      <p:sp>
        <p:nvSpPr>
          <p:cNvPr id="8" name="Code number 0:3"/>
          <p:cNvSpPr txBox="1"/>
          <p:nvPr/>
        </p:nvSpPr>
        <p:spPr>
          <a:xfrm>
            <a:off x="164592" y="298399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9" name="Code line 0:3"/>
          <p:cNvSpPr txBox="1"/>
          <p:nvPr/>
        </p:nvSpPr>
        <p:spPr>
          <a:xfrm>
            <a:off x="594360" y="2983992"/>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r>
              <a:rPr sz="2000">
                <a:solidFill>
                  <a:srgbClr val="666666"/>
                </a:solidFill>
                <a:latin typeface="Courier New"/>
              </a:rPr>
              <a:t xml:space="preserve">-</a:t>
            </a:r>
            <a:r>
              <a:rPr sz="2000">
                <a:solidFill>
                  <a:srgbClr val="208050"/>
                </a:solidFill>
                <a:latin typeface="Courier New"/>
              </a:rPr>
              <a:t xml:space="preserve">5</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WORKED ANSWER</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5</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Methods return new strings</a:t>
            </a:r>
          </a:p>
        </p:txBody>
      </p:sp>
      <p:sp>
        <p:nvSpPr>
          <p:cNvPr id="16" name="Printed output panel 0"/>
          <p:cNvSpPr/>
          <p:nvPr/>
        </p:nvSpPr>
        <p:spPr>
          <a:xfrm>
            <a:off x="8183880" y="1920240"/>
            <a:ext cx="3383280" cy="1804416"/>
          </a:xfrm>
          <a:prstGeom prst="rect">
            <a:avLst/>
          </a:prstGeom>
          <a:solidFill>
            <a:srgbClr val="EEF6F3"/>
          </a:solidFill>
          <a:ln>
            <a:noFill/>
          </a:ln>
        </p:spPr>
      </p:sp>
      <p:sp>
        <p:nvSpPr>
          <p:cNvPr id="3" name="Body paragraph 3"/>
          <p:cNvSpPr txBox="1"/>
          <p:nvPr/>
        </p:nvSpPr>
        <p:spPr>
          <a:xfrm>
            <a:off x="594360" y="1417320"/>
            <a:ext cx="10972800" cy="39014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Predict both results. Does the original string change?</a:t>
            </a:r>
          </a:p>
        </p:txBody>
      </p:sp>
      <p:sp>
        <p:nvSpPr>
          <p:cNvPr id="4" name="Code column header 0"/>
          <p:cNvSpPr txBox="1"/>
          <p:nvPr/>
        </p:nvSpPr>
        <p:spPr>
          <a:xfrm>
            <a:off x="594360" y="19751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19751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2494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2494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text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"Hello World"</a:t>
            </a:r>
          </a:p>
        </p:txBody>
      </p:sp>
      <p:sp>
        <p:nvSpPr>
          <p:cNvPr id="8" name="Code number 0:2"/>
          <p:cNvSpPr txBox="1"/>
          <p:nvPr/>
        </p:nvSpPr>
        <p:spPr>
          <a:xfrm>
            <a:off x="164592" y="258622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58622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changed</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text</a:t>
            </a:r>
            <a:r>
              <a:rPr sz="2000">
                <a:solidFill>
                  <a:srgbClr val="666666"/>
                </a:solidFill>
                <a:latin typeface="Courier New"/>
              </a:rPr>
              <a:t xml:space="preserve">.</a:t>
            </a:r>
            <a:r>
              <a:rPr sz="2000">
                <a:solidFill>
                  <a:srgbClr val="06287E"/>
                </a:solidFill>
                <a:latin typeface="Courier New"/>
              </a:rPr>
              <a:t xml:space="preserve">upper</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r>
              <a:rPr sz="2000">
                <a:solidFill>
                  <a:srgbClr val="06287E"/>
                </a:solidFill>
                <a:latin typeface="Courier New"/>
              </a:rPr>
              <a:t xml:space="preserve">replace</a:t>
            </a:r>
            <a:r>
              <a:rPr sz="2000">
                <a:solidFill>
                  <a:srgbClr val="666666"/>
                </a:solidFill>
                <a:latin typeface="Courier New"/>
              </a:rPr>
              <a:t xml:space="preserve">(</a:t>
            </a:r>
            <a:r>
              <a:rPr sz="2000">
                <a:solidFill>
                  <a:srgbClr val="4070A0"/>
                </a:solidFill>
                <a:latin typeface="Courier New"/>
              </a:rPr>
              <a:t xml:space="preserve">"L"</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a:t>
            </a:r>
            <a:r>
              <a:rPr sz="2000">
                <a:solidFill>
                  <a:srgbClr val="666666"/>
                </a:solidFill>
                <a:latin typeface="Courier New"/>
              </a:rPr>
              <a:t xml:space="preserve">)</a:t>
            </a:r>
          </a:p>
        </p:txBody>
      </p:sp>
      <p:sp>
        <p:nvSpPr>
          <p:cNvPr id="10" name="Code number 0:3"/>
          <p:cNvSpPr txBox="1"/>
          <p:nvPr/>
        </p:nvSpPr>
        <p:spPr>
          <a:xfrm>
            <a:off x="164592" y="292303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292303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changed</a:t>
            </a:r>
            <a:r>
              <a:rPr sz="2000">
                <a:solidFill>
                  <a:srgbClr val="666666"/>
                </a:solidFill>
                <a:latin typeface="Courier New"/>
              </a:rPr>
              <a:t xml:space="preserve">)</a:t>
            </a:r>
          </a:p>
        </p:txBody>
      </p:sp>
      <p:sp>
        <p:nvSpPr>
          <p:cNvPr id="12" name="Printed output 0:3"/>
          <p:cNvSpPr txBox="1"/>
          <p:nvPr/>
        </p:nvSpPr>
        <p:spPr>
          <a:xfrm>
            <a:off x="8366760" y="294843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3" name="Code number 0:4"/>
          <p:cNvSpPr txBox="1"/>
          <p:nvPr/>
        </p:nvSpPr>
        <p:spPr>
          <a:xfrm>
            <a:off x="164592" y="325983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4" name="Code line 0:4"/>
          <p:cNvSpPr txBox="1"/>
          <p:nvPr/>
        </p:nvSpPr>
        <p:spPr>
          <a:xfrm>
            <a:off x="594360" y="3259836"/>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p>
        </p:txBody>
      </p:sp>
      <p:sp>
        <p:nvSpPr>
          <p:cNvPr id="15" name="Printed output 0:4"/>
          <p:cNvSpPr txBox="1"/>
          <p:nvPr/>
        </p:nvSpPr>
        <p:spPr>
          <a:xfrm>
            <a:off x="8366760" y="3285236"/>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7" name="Pi515 accent"/>
          <p:cNvSpPr/>
          <p:nvPr/>
        </p:nvSpPr>
        <p:spPr>
          <a:xfrm>
            <a:off x="0" y="0"/>
            <a:ext cx="12192000" cy="54864"/>
          </a:xfrm>
          <a:prstGeom prst="rect">
            <a:avLst/>
          </a:prstGeom>
          <a:solidFill>
            <a:srgbClr val="39DC78"/>
          </a:solidFill>
          <a:ln>
            <a:noFill/>
          </a:ln>
        </p:spPr>
      </p:sp>
      <p:sp>
        <p:nvSpPr>
          <p:cNvPr id="18"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9" name="Footer rule"/>
          <p:cNvSpPr/>
          <p:nvPr/>
        </p:nvSpPr>
        <p:spPr>
          <a:xfrm>
            <a:off x="594360" y="6400800"/>
            <a:ext cx="10972800" cy="10973"/>
          </a:xfrm>
          <a:prstGeom prst="rect">
            <a:avLst/>
          </a:prstGeom>
          <a:solidFill>
            <a:srgbClr val="E6E6E6"/>
          </a:solidFill>
          <a:ln>
            <a:noFill/>
          </a:ln>
        </p:spPr>
      </p:sp>
      <p:sp>
        <p:nvSpPr>
          <p:cNvPr id="20"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6</a:t>
            </a:r>
          </a:p>
        </p:txBody>
      </p:sp>
      <p:pic>
        <p:nvPicPr>
          <p:cNvPr id="21"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Methods return new strings</a:t>
            </a:r>
          </a:p>
        </p:txBody>
      </p:sp>
      <p:sp>
        <p:nvSpPr>
          <p:cNvPr id="16" name="Printed output panel 0"/>
          <p:cNvSpPr/>
          <p:nvPr/>
        </p:nvSpPr>
        <p:spPr>
          <a:xfrm>
            <a:off x="8183880" y="1920240"/>
            <a:ext cx="3383280" cy="1804416"/>
          </a:xfrm>
          <a:prstGeom prst="rect">
            <a:avLst/>
          </a:prstGeom>
          <a:solidFill>
            <a:srgbClr val="EEF6F3"/>
          </a:solidFill>
          <a:ln>
            <a:noFill/>
          </a:ln>
        </p:spPr>
      </p:sp>
      <p:sp>
        <p:nvSpPr>
          <p:cNvPr id="3" name="Body paragraph 3"/>
          <p:cNvSpPr txBox="1"/>
          <p:nvPr/>
        </p:nvSpPr>
        <p:spPr>
          <a:xfrm>
            <a:off x="594360" y="1417320"/>
            <a:ext cx="10972800" cy="39014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Predict both results. Does the original string change?</a:t>
            </a:r>
          </a:p>
        </p:txBody>
      </p:sp>
      <p:sp>
        <p:nvSpPr>
          <p:cNvPr id="4" name="Code column header 0"/>
          <p:cNvSpPr txBox="1"/>
          <p:nvPr/>
        </p:nvSpPr>
        <p:spPr>
          <a:xfrm>
            <a:off x="594360" y="197510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197510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24942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24942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text</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"Hello World"</a:t>
            </a:r>
          </a:p>
        </p:txBody>
      </p:sp>
      <p:sp>
        <p:nvSpPr>
          <p:cNvPr id="8" name="Code number 0:2"/>
          <p:cNvSpPr txBox="1"/>
          <p:nvPr/>
        </p:nvSpPr>
        <p:spPr>
          <a:xfrm>
            <a:off x="164592" y="258622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58622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changed</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text</a:t>
            </a:r>
            <a:r>
              <a:rPr sz="2000">
                <a:solidFill>
                  <a:srgbClr val="666666"/>
                </a:solidFill>
                <a:latin typeface="Courier New"/>
              </a:rPr>
              <a:t xml:space="preserve">.</a:t>
            </a:r>
            <a:r>
              <a:rPr sz="2000">
                <a:solidFill>
                  <a:srgbClr val="06287E"/>
                </a:solidFill>
                <a:latin typeface="Courier New"/>
              </a:rPr>
              <a:t xml:space="preserve">upper</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r>
              <a:rPr sz="2000">
                <a:solidFill>
                  <a:srgbClr val="06287E"/>
                </a:solidFill>
                <a:latin typeface="Courier New"/>
              </a:rPr>
              <a:t xml:space="preserve">replace</a:t>
            </a:r>
            <a:r>
              <a:rPr sz="2000">
                <a:solidFill>
                  <a:srgbClr val="666666"/>
                </a:solidFill>
                <a:latin typeface="Courier New"/>
              </a:rPr>
              <a:t xml:space="preserve">(</a:t>
            </a:r>
            <a:r>
              <a:rPr sz="2000">
                <a:solidFill>
                  <a:srgbClr val="4070A0"/>
                </a:solidFill>
                <a:latin typeface="Courier New"/>
              </a:rPr>
              <a:t xml:space="preserve">"L"</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"S"</a:t>
            </a:r>
            <a:r>
              <a:rPr sz="2000">
                <a:solidFill>
                  <a:srgbClr val="666666"/>
                </a:solidFill>
                <a:latin typeface="Courier New"/>
              </a:rPr>
              <a:t xml:space="preserve">)</a:t>
            </a:r>
          </a:p>
        </p:txBody>
      </p:sp>
      <p:sp>
        <p:nvSpPr>
          <p:cNvPr id="10" name="Code number 0:3"/>
          <p:cNvSpPr txBox="1"/>
          <p:nvPr/>
        </p:nvSpPr>
        <p:spPr>
          <a:xfrm>
            <a:off x="164592" y="292303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2923032"/>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changed</a:t>
            </a:r>
            <a:r>
              <a:rPr sz="2000">
                <a:solidFill>
                  <a:srgbClr val="666666"/>
                </a:solidFill>
                <a:latin typeface="Courier New"/>
              </a:rPr>
              <a:t xml:space="preserve">)</a:t>
            </a:r>
          </a:p>
        </p:txBody>
      </p:sp>
      <p:sp>
        <p:nvSpPr>
          <p:cNvPr id="12" name="Printed output 0:3"/>
          <p:cNvSpPr txBox="1"/>
          <p:nvPr/>
        </p:nvSpPr>
        <p:spPr>
          <a:xfrm>
            <a:off x="8366760" y="2948432"/>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HESSO WORSD</a:t>
            </a:r>
          </a:p>
        </p:txBody>
      </p:sp>
      <p:sp>
        <p:nvSpPr>
          <p:cNvPr id="13" name="Code number 0:4"/>
          <p:cNvSpPr txBox="1"/>
          <p:nvPr/>
        </p:nvSpPr>
        <p:spPr>
          <a:xfrm>
            <a:off x="164592" y="325983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4" name="Code line 0:4"/>
          <p:cNvSpPr txBox="1"/>
          <p:nvPr/>
        </p:nvSpPr>
        <p:spPr>
          <a:xfrm>
            <a:off x="594360" y="3259836"/>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text</a:t>
            </a:r>
            <a:r>
              <a:rPr sz="2000">
                <a:solidFill>
                  <a:srgbClr val="666666"/>
                </a:solidFill>
                <a:latin typeface="Courier New"/>
              </a:rPr>
              <a:t xml:space="preserve">)</a:t>
            </a:r>
          </a:p>
        </p:txBody>
      </p:sp>
      <p:sp>
        <p:nvSpPr>
          <p:cNvPr id="15" name="Printed output 0:4"/>
          <p:cNvSpPr txBox="1"/>
          <p:nvPr/>
        </p:nvSpPr>
        <p:spPr>
          <a:xfrm>
            <a:off x="8366760" y="3285236"/>
            <a:ext cx="3017520" cy="33680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Hello World</a:t>
            </a:r>
          </a:p>
        </p:txBody>
      </p:sp>
      <p:sp>
        <p:nvSpPr>
          <p:cNvPr id="17" name="Pi515 accent"/>
          <p:cNvSpPr/>
          <p:nvPr/>
        </p:nvSpPr>
        <p:spPr>
          <a:xfrm>
            <a:off x="0" y="0"/>
            <a:ext cx="12192000" cy="54864"/>
          </a:xfrm>
          <a:prstGeom prst="rect">
            <a:avLst/>
          </a:prstGeom>
          <a:solidFill>
            <a:srgbClr val="39DC78"/>
          </a:solidFill>
          <a:ln>
            <a:noFill/>
          </a:ln>
        </p:spPr>
      </p:sp>
      <p:sp>
        <p:nvSpPr>
          <p:cNvPr id="18"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9" name="Footer rule"/>
          <p:cNvSpPr/>
          <p:nvPr/>
        </p:nvSpPr>
        <p:spPr>
          <a:xfrm>
            <a:off x="594360" y="6400800"/>
            <a:ext cx="10972800" cy="10973"/>
          </a:xfrm>
          <a:prstGeom prst="rect">
            <a:avLst/>
          </a:prstGeom>
          <a:solidFill>
            <a:srgbClr val="E6E6E6"/>
          </a:solidFill>
          <a:ln>
            <a:noFill/>
          </a:ln>
        </p:spPr>
      </p:sp>
      <p:sp>
        <p:nvSpPr>
          <p:cNvPr id="20"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7</a:t>
            </a:r>
          </a:p>
        </p:txBody>
      </p:sp>
      <p:pic>
        <p:nvPicPr>
          <p:cNvPr id="21"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1 — Methods return new strings</a:t>
            </a:r>
          </a:p>
        </p:txBody>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Transform </a:t>
            </a:r>
            <a:r>
              <a:rPr sz="2200">
                <a:solidFill>
                  <a:srgbClr val="4070A0"/>
                </a:solidFill>
                <a:latin typeface="Courier New"/>
              </a:rPr>
              <a:t xml:space="preserve">"NoIce"</a:t>
            </a:r>
            <a:r>
              <a:rPr sz="2200">
                <a:solidFill>
                  <a:srgbClr val="2B2B2B"/>
                </a:solidFill>
                <a:latin typeface="Arial"/>
              </a:rPr>
              <a:t> into </a:t>
            </a:r>
            <a:r>
              <a:rPr sz="2200">
                <a:solidFill>
                  <a:srgbClr val="4070A0"/>
                </a:solidFill>
                <a:latin typeface="Courier New"/>
              </a:rPr>
              <a:t xml:space="preserve">"Noice"</a:t>
            </a:r>
            <a:r>
              <a:rPr sz="2200">
                <a:solidFill>
                  <a:srgbClr val="2B2B2B"/>
                </a:solidFill>
                <a:latin typeface="Arial"/>
              </a:rPr>
              <a:t> by chaining methods. Print the original afterward and explain the word immutable.</a:t>
            </a:r>
          </a:p>
        </p:txBody>
      </p:sp>
      <p:sp>
        <p:nvSpPr>
          <p:cNvPr id="4" name="Code number 0:1"/>
          <p:cNvSpPr txBox="1"/>
          <p:nvPr/>
        </p:nvSpPr>
        <p:spPr>
          <a:xfrm>
            <a:off x="164592" y="23103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31038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original</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"NoIce"</a:t>
            </a:r>
          </a:p>
        </p:txBody>
      </p:sp>
      <p:sp>
        <p:nvSpPr>
          <p:cNvPr id="6" name="Code number 0:2"/>
          <p:cNvSpPr txBox="1"/>
          <p:nvPr/>
        </p:nvSpPr>
        <p:spPr>
          <a:xfrm>
            <a:off x="164592" y="264718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647188"/>
            <a:ext cx="109728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YOUR CODE HERE: save a changed value, then print both values.</a:t>
            </a:r>
          </a:p>
        </p:txBody>
      </p:sp>
      <p:sp>
        <p:nvSpPr>
          <p:cNvPr id="8" name="Pi515 accent"/>
          <p:cNvSpPr/>
          <p:nvPr/>
        </p:nvSpPr>
        <p:spPr>
          <a:xfrm>
            <a:off x="0" y="0"/>
            <a:ext cx="12192000" cy="54864"/>
          </a:xfrm>
          <a:prstGeom prst="rect">
            <a:avLst/>
          </a:prstGeom>
          <a:solidFill>
            <a:srgbClr val="39DC78"/>
          </a:solidFill>
          <a:ln>
            <a:noFill/>
          </a:ln>
        </p:spPr>
      </p:sp>
      <p:sp>
        <p:nvSpPr>
          <p:cNvPr id="9"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EXERCISE</a:t>
            </a:r>
          </a:p>
        </p:txBody>
      </p:sp>
      <p:sp>
        <p:nvSpPr>
          <p:cNvPr id="10" name="Footer rule"/>
          <p:cNvSpPr/>
          <p:nvPr/>
        </p:nvSpPr>
        <p:spPr>
          <a:xfrm>
            <a:off x="594360" y="6400800"/>
            <a:ext cx="10972800" cy="10973"/>
          </a:xfrm>
          <a:prstGeom prst="rect">
            <a:avLst/>
          </a:prstGeom>
          <a:solidFill>
            <a:srgbClr val="E6E6E6"/>
          </a:solidFill>
          <a:ln>
            <a:noFill/>
          </a:ln>
        </p:spPr>
      </p:sp>
      <p:sp>
        <p:nvSpPr>
          <p:cNvPr id="11"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8</a:t>
            </a:r>
          </a:p>
        </p:txBody>
      </p:sp>
      <p:pic>
        <p:nvPicPr>
          <p:cNvPr id="12"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1 — Methods return new strings — answer</a:t>
            </a:r>
          </a:p>
        </p:txBody>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The shared example prints </a:t>
            </a:r>
            <a:r>
              <a:rPr sz="2200">
                <a:solidFill>
                  <a:srgbClr val="4070A0"/>
                </a:solidFill>
                <a:latin typeface="Courier New"/>
              </a:rPr>
              <a:t xml:space="preserve">"HESSO WORSD"</a:t>
            </a:r>
            <a:r>
              <a:rPr sz="2200">
                <a:solidFill>
                  <a:srgbClr val="2B2B2B"/>
                </a:solidFill>
                <a:latin typeface="Arial"/>
              </a:rPr>
              <a:t>, then </a:t>
            </a:r>
            <a:r>
              <a:rPr sz="2200">
                <a:solidFill>
                  <a:srgbClr val="4070A0"/>
                </a:solidFill>
                <a:latin typeface="Courier New"/>
              </a:rPr>
              <a:t xml:space="preserve">"Hello World"</a:t>
            </a:r>
            <a:r>
              <a:rPr sz="2200">
                <a:solidFill>
                  <a:srgbClr val="2B2B2B"/>
                </a:solidFill>
                <a:latin typeface="Arial"/>
              </a:rPr>
              <a:t>. After uppercasing, replacement must search for uppercase L.</a:t>
            </a:r>
          </a:p>
        </p:txBody>
      </p:sp>
      <p:sp>
        <p:nvSpPr>
          <p:cNvPr id="4" name="Code number 0:1"/>
          <p:cNvSpPr txBox="1"/>
          <p:nvPr/>
        </p:nvSpPr>
        <p:spPr>
          <a:xfrm>
            <a:off x="164592" y="23103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31038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original</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"NoIce"</a:t>
            </a:r>
          </a:p>
        </p:txBody>
      </p:sp>
      <p:sp>
        <p:nvSpPr>
          <p:cNvPr id="6" name="Code number 0:2"/>
          <p:cNvSpPr txBox="1"/>
          <p:nvPr/>
        </p:nvSpPr>
        <p:spPr>
          <a:xfrm>
            <a:off x="164592" y="264718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647188"/>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changed</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original</a:t>
            </a:r>
            <a:r>
              <a:rPr sz="2000">
                <a:solidFill>
                  <a:srgbClr val="666666"/>
                </a:solidFill>
                <a:latin typeface="Courier New"/>
              </a:rPr>
              <a:t xml:space="preserve">.</a:t>
            </a:r>
            <a:r>
              <a:rPr sz="2000">
                <a:solidFill>
                  <a:srgbClr val="06287E"/>
                </a:solidFill>
                <a:latin typeface="Courier New"/>
              </a:rPr>
              <a:t xml:space="preserve">lower</a:t>
            </a:r>
            <a:r>
              <a:rPr sz="2000">
                <a:solidFill>
                  <a:srgbClr val="666666"/>
                </a:solidFill>
                <a:latin typeface="Courier New"/>
              </a:rPr>
              <a:t xml:space="preserve">(</a:t>
            </a:r>
            <a:r>
              <a:rPr sz="2000">
                <a:solidFill>
                  <a:srgbClr val="666666"/>
                </a:solidFill>
                <a:latin typeface="Courier New"/>
              </a:rPr>
              <a:t xml:space="preserve">)</a:t>
            </a:r>
            <a:r>
              <a:rPr sz="2000">
                <a:solidFill>
                  <a:srgbClr val="666666"/>
                </a:solidFill>
                <a:latin typeface="Courier New"/>
              </a:rPr>
              <a:t xml:space="preserve">.</a:t>
            </a:r>
            <a:r>
              <a:rPr sz="2000">
                <a:solidFill>
                  <a:srgbClr val="06287E"/>
                </a:solidFill>
                <a:latin typeface="Courier New"/>
              </a:rPr>
              <a:t xml:space="preserve">capitalize</a:t>
            </a:r>
            <a:r>
              <a:rPr sz="2000">
                <a:solidFill>
                  <a:srgbClr val="666666"/>
                </a:solidFill>
                <a:latin typeface="Courier New"/>
              </a:rPr>
              <a:t xml:space="preserve">(</a:t>
            </a:r>
            <a:r>
              <a:rPr sz="2000">
                <a:solidFill>
                  <a:srgbClr val="666666"/>
                </a:solidFill>
                <a:latin typeface="Courier New"/>
              </a:rPr>
              <a:t xml:space="preserve">)</a:t>
            </a:r>
          </a:p>
        </p:txBody>
      </p:sp>
      <p:sp>
        <p:nvSpPr>
          <p:cNvPr id="8" name="Code number 0:3"/>
          <p:cNvSpPr txBox="1"/>
          <p:nvPr/>
        </p:nvSpPr>
        <p:spPr>
          <a:xfrm>
            <a:off x="164592" y="298399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9" name="Code line 0:3"/>
          <p:cNvSpPr txBox="1"/>
          <p:nvPr/>
        </p:nvSpPr>
        <p:spPr>
          <a:xfrm>
            <a:off x="594360" y="2983992"/>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changed</a:t>
            </a:r>
            <a:r>
              <a:rPr sz="2000">
                <a:solidFill>
                  <a:srgbClr val="666666"/>
                </a:solidFill>
                <a:latin typeface="Courier New"/>
              </a:rPr>
              <a:t xml:space="preserve">)</a:t>
            </a:r>
          </a:p>
        </p:txBody>
      </p:sp>
      <p:sp>
        <p:nvSpPr>
          <p:cNvPr id="10" name="Code number 0:4"/>
          <p:cNvSpPr txBox="1"/>
          <p:nvPr/>
        </p:nvSpPr>
        <p:spPr>
          <a:xfrm>
            <a:off x="164592" y="332079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1" name="Code line 0:4"/>
          <p:cNvSpPr txBox="1"/>
          <p:nvPr/>
        </p:nvSpPr>
        <p:spPr>
          <a:xfrm>
            <a:off x="594360" y="3320796"/>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original</a:t>
            </a:r>
            <a:r>
              <a:rPr sz="2000">
                <a:solidFill>
                  <a:srgbClr val="666666"/>
                </a:solidFill>
                <a:latin typeface="Courier New"/>
              </a:rPr>
              <a:t xml:space="preserve">)</a:t>
            </a:r>
          </a:p>
        </p:txBody>
      </p:sp>
      <p:sp>
        <p:nvSpPr>
          <p:cNvPr id="12" name="Pi515 accent"/>
          <p:cNvSpPr/>
          <p:nvPr/>
        </p:nvSpPr>
        <p:spPr>
          <a:xfrm>
            <a:off x="0" y="0"/>
            <a:ext cx="12192000" cy="54864"/>
          </a:xfrm>
          <a:prstGeom prst="rect">
            <a:avLst/>
          </a:prstGeom>
          <a:solidFill>
            <a:srgbClr val="39DC78"/>
          </a:solidFill>
          <a:ln>
            <a:noFill/>
          </a:ln>
        </p:spPr>
      </p:sp>
      <p:sp>
        <p:nvSpPr>
          <p:cNvPr id="13"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WORKED ANSWER</a:t>
            </a:r>
          </a:p>
        </p:txBody>
      </p:sp>
      <p:sp>
        <p:nvSpPr>
          <p:cNvPr id="14" name="Footer rule"/>
          <p:cNvSpPr/>
          <p:nvPr/>
        </p:nvSpPr>
        <p:spPr>
          <a:xfrm>
            <a:off x="594360" y="6400800"/>
            <a:ext cx="10972800" cy="10973"/>
          </a:xfrm>
          <a:prstGeom prst="rect">
            <a:avLst/>
          </a:prstGeom>
          <a:solidFill>
            <a:srgbClr val="E6E6E6"/>
          </a:solidFill>
          <a:ln>
            <a:noFill/>
          </a:ln>
        </p:spPr>
      </p:sp>
      <p:sp>
        <p:nvSpPr>
          <p:cNvPr id="15"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9</a:t>
            </a:r>
          </a:p>
        </p:txBody>
      </p:sp>
      <p:pic>
        <p:nvPicPr>
          <p:cNvPr id="16"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Delimiters and the mystery phrase</a:t>
            </a:r>
          </a:p>
        </p:txBody>
      </p:sp>
      <p:sp>
        <p:nvSpPr>
          <p:cNvPr id="13" name="Printed output panel 0"/>
          <p:cNvSpPr/>
          <p:nvPr/>
        </p:nvSpPr>
        <p:spPr>
          <a:xfrm>
            <a:off x="8183880" y="2255520"/>
            <a:ext cx="3383280" cy="1711452"/>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Recall the original phrase challenge. What is the delimiter, and what type of result does </a:t>
            </a:r>
            <a:r>
              <a:rPr sz="2200">
                <a:solidFill>
                  <a:srgbClr val="06287E"/>
                </a:solidFill>
                <a:latin typeface="Courier New"/>
              </a:rPr>
              <a:t xml:space="preserve">split</a:t>
            </a:r>
            <a:r>
              <a:rPr sz="2200">
                <a:solidFill>
                  <a:srgbClr val="2B2B2B"/>
                </a:solidFill>
                <a:latin typeface="Arial"/>
              </a:rPr>
              <a:t> return?</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phrase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 O I C E"</a:t>
            </a:r>
          </a:p>
        </p:txBody>
      </p:sp>
      <p:sp>
        <p:nvSpPr>
          <p:cNvPr id="8"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pieces</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phrase</a:t>
            </a:r>
            <a:r>
              <a:rPr sz="2000">
                <a:solidFill>
                  <a:srgbClr val="666666"/>
                </a:solidFill>
                <a:latin typeface="Courier New"/>
              </a:rPr>
              <a:t xml:space="preserve">.</a:t>
            </a:r>
            <a:r>
              <a:rPr sz="2000">
                <a:solidFill>
                  <a:srgbClr val="06287E"/>
                </a:solidFill>
                <a:latin typeface="Courier New"/>
              </a:rPr>
              <a:t xml:space="preserve">split</a:t>
            </a:r>
            <a:r>
              <a:rPr sz="2000">
                <a:solidFill>
                  <a:srgbClr val="666666"/>
                </a:solidFill>
                <a:latin typeface="Courier New"/>
              </a:rPr>
              <a:t xml:space="preserve">(</a:t>
            </a:r>
            <a:r>
              <a:rPr sz="2000">
                <a:solidFill>
                  <a:srgbClr val="4070A0"/>
                </a:solidFill>
                <a:latin typeface="Courier New"/>
              </a:rPr>
              <a:t xml:space="preserve">" "</a:t>
            </a:r>
            <a:r>
              <a:rPr sz="2000">
                <a:solidFill>
                  <a:srgbClr val="666666"/>
                </a:solidFill>
                <a:latin typeface="Courier New"/>
              </a:rPr>
              <a:t xml:space="preserve">)</a:t>
            </a:r>
          </a:p>
        </p:txBody>
      </p:sp>
      <p:sp>
        <p:nvSpPr>
          <p:cNvPr id="10" name="Code number 0:3"/>
          <p:cNvSpPr txBox="1"/>
          <p:nvPr/>
        </p:nvSpPr>
        <p:spPr>
          <a:xfrm>
            <a:off x="164592" y="3258312"/>
            <a:ext cx="320040" cy="58064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3258312"/>
            <a:ext cx="7315200" cy="58064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pieces</a:t>
            </a:r>
            <a:r>
              <a:rPr sz="2000">
                <a:solidFill>
                  <a:srgbClr val="666666"/>
                </a:solidFill>
                <a:latin typeface="Courier New"/>
              </a:rPr>
              <a:t xml:space="preserve">)</a:t>
            </a:r>
          </a:p>
        </p:txBody>
      </p:sp>
      <p:sp>
        <p:nvSpPr>
          <p:cNvPr id="12" name="Printed output 0:3"/>
          <p:cNvSpPr txBox="1"/>
          <p:nvPr/>
        </p:nvSpPr>
        <p:spPr>
          <a:xfrm>
            <a:off x="8366760" y="3283712"/>
            <a:ext cx="3017520" cy="58064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
            </a:r>
          </a:p>
        </p:txBody>
      </p:sp>
      <p:sp>
        <p:nvSpPr>
          <p:cNvPr id="14" name="Pi515 accent"/>
          <p:cNvSpPr/>
          <p:nvPr/>
        </p:nvSpPr>
        <p:spPr>
          <a:xfrm>
            <a:off x="0" y="0"/>
            <a:ext cx="12192000" cy="54864"/>
          </a:xfrm>
          <a:prstGeom prst="rect">
            <a:avLst/>
          </a:prstGeom>
          <a:solidFill>
            <a:srgbClr val="39DC78"/>
          </a:solidFill>
          <a:ln>
            <a:noFill/>
          </a:ln>
        </p:spPr>
      </p:sp>
      <p:sp>
        <p:nvSpPr>
          <p:cNvPr id="15"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6" name="Footer rule"/>
          <p:cNvSpPr/>
          <p:nvPr/>
        </p:nvSpPr>
        <p:spPr>
          <a:xfrm>
            <a:off x="594360" y="6400800"/>
            <a:ext cx="10972800" cy="10973"/>
          </a:xfrm>
          <a:prstGeom prst="rect">
            <a:avLst/>
          </a:prstGeom>
          <a:solidFill>
            <a:srgbClr val="E6E6E6"/>
          </a:solidFill>
          <a:ln>
            <a:noFill/>
          </a:ln>
        </p:spPr>
      </p:sp>
      <p:sp>
        <p:nvSpPr>
          <p:cNvPr id="17"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10</a:t>
            </a:r>
          </a:p>
        </p:txBody>
      </p:sp>
      <p:pic>
        <p:nvPicPr>
          <p:cNvPr id="18"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Delimiters and the mystery phrase</a:t>
            </a:r>
          </a:p>
        </p:txBody>
      </p:sp>
      <p:sp>
        <p:nvSpPr>
          <p:cNvPr id="13" name="Printed output panel 0"/>
          <p:cNvSpPr/>
          <p:nvPr/>
        </p:nvSpPr>
        <p:spPr>
          <a:xfrm>
            <a:off x="8183880" y="2255520"/>
            <a:ext cx="3383280" cy="1711452"/>
          </a:xfrm>
          <a:prstGeom prst="rect">
            <a:avLst/>
          </a:prstGeom>
          <a:solidFill>
            <a:srgbClr val="EEF6F3"/>
          </a:solidFill>
          <a:ln>
            <a:noFill/>
          </a:ln>
        </p:spPr>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Recall the original phrase challenge. What is the delimiter, and what type of result does </a:t>
            </a:r>
            <a:r>
              <a:rPr sz="2200">
                <a:solidFill>
                  <a:srgbClr val="06287E"/>
                </a:solidFill>
                <a:latin typeface="Courier New"/>
              </a:rPr>
              <a:t xml:space="preserve">split</a:t>
            </a:r>
            <a:r>
              <a:rPr sz="2200">
                <a:solidFill>
                  <a:srgbClr val="2B2B2B"/>
                </a:solidFill>
                <a:latin typeface="Arial"/>
              </a:rPr>
              <a:t> return?</a:t>
            </a:r>
          </a:p>
        </p:txBody>
      </p:sp>
      <p:sp>
        <p:nvSpPr>
          <p:cNvPr id="4" name="Code column header 0"/>
          <p:cNvSpPr txBox="1"/>
          <p:nvPr/>
        </p:nvSpPr>
        <p:spPr>
          <a:xfrm>
            <a:off x="594360" y="2310384"/>
            <a:ext cx="731520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Code</a:t>
            </a:r>
          </a:p>
        </p:txBody>
      </p:sp>
      <p:sp>
        <p:nvSpPr>
          <p:cNvPr id="5" name="Printed output header 0"/>
          <p:cNvSpPr txBox="1"/>
          <p:nvPr/>
        </p:nvSpPr>
        <p:spPr>
          <a:xfrm>
            <a:off x="8366760" y="2310384"/>
            <a:ext cx="3017520" cy="164592"/>
          </a:xfrm>
          <a:prstGeom prst="rect">
            <a:avLst/>
          </a:prstGeom>
          <a:noFill/>
          <a:ln>
            <a:noFill/>
          </a:ln>
        </p:spPr>
        <p:txBody>
          <a:bodyPr wrap="square" lIns="0" rIns="0" tIns="0" bIns="0">
            <a:noAutofit/>
          </a:bodyPr>
          <a:lstStyle/>
          <a:p>
            <a:pPr marL="0" indent="0" algn="l">
              <a:lnSpc>
                <a:spcPct val="120000"/>
              </a:lnSpc>
              <a:buNone/>
            </a:pPr>
            <a:r>
              <a:rPr sz="1100">
                <a:solidFill>
                  <a:srgbClr val="17763C"/>
                </a:solidFill>
                <a:latin typeface="Arial"/>
              </a:rPr>
              <a:t xml:space="preserve">Printed output</a:t>
            </a:r>
          </a:p>
        </p:txBody>
      </p:sp>
      <p:sp>
        <p:nvSpPr>
          <p:cNvPr id="6" name="Code number 0:1"/>
          <p:cNvSpPr txBox="1"/>
          <p:nvPr/>
        </p:nvSpPr>
        <p:spPr>
          <a:xfrm>
            <a:off x="164592" y="258470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7" name="Code line 0:1"/>
          <p:cNvSpPr txBox="1"/>
          <p:nvPr/>
        </p:nvSpPr>
        <p:spPr>
          <a:xfrm>
            <a:off x="594360" y="2584704"/>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phrase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 O I C E"</a:t>
            </a:r>
          </a:p>
        </p:txBody>
      </p:sp>
      <p:sp>
        <p:nvSpPr>
          <p:cNvPr id="8" name="Code number 0:2"/>
          <p:cNvSpPr txBox="1"/>
          <p:nvPr/>
        </p:nvSpPr>
        <p:spPr>
          <a:xfrm>
            <a:off x="164592" y="292150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9" name="Code line 0:2"/>
          <p:cNvSpPr txBox="1"/>
          <p:nvPr/>
        </p:nvSpPr>
        <p:spPr>
          <a:xfrm>
            <a:off x="594360" y="2921508"/>
            <a:ext cx="73152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pieces</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phrase</a:t>
            </a:r>
            <a:r>
              <a:rPr sz="2000">
                <a:solidFill>
                  <a:srgbClr val="666666"/>
                </a:solidFill>
                <a:latin typeface="Courier New"/>
              </a:rPr>
              <a:t xml:space="preserve">.</a:t>
            </a:r>
            <a:r>
              <a:rPr sz="2000">
                <a:solidFill>
                  <a:srgbClr val="06287E"/>
                </a:solidFill>
                <a:latin typeface="Courier New"/>
              </a:rPr>
              <a:t xml:space="preserve">split</a:t>
            </a:r>
            <a:r>
              <a:rPr sz="2000">
                <a:solidFill>
                  <a:srgbClr val="666666"/>
                </a:solidFill>
                <a:latin typeface="Courier New"/>
              </a:rPr>
              <a:t xml:space="preserve">(</a:t>
            </a:r>
            <a:r>
              <a:rPr sz="2000">
                <a:solidFill>
                  <a:srgbClr val="4070A0"/>
                </a:solidFill>
                <a:latin typeface="Courier New"/>
              </a:rPr>
              <a:t xml:space="preserve">" "</a:t>
            </a:r>
            <a:r>
              <a:rPr sz="2000">
                <a:solidFill>
                  <a:srgbClr val="666666"/>
                </a:solidFill>
                <a:latin typeface="Courier New"/>
              </a:rPr>
              <a:t xml:space="preserve">)</a:t>
            </a:r>
          </a:p>
        </p:txBody>
      </p:sp>
      <p:sp>
        <p:nvSpPr>
          <p:cNvPr id="10" name="Code number 0:3"/>
          <p:cNvSpPr txBox="1"/>
          <p:nvPr/>
        </p:nvSpPr>
        <p:spPr>
          <a:xfrm>
            <a:off x="164592" y="3258312"/>
            <a:ext cx="320040" cy="58064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11" name="Code line 0:3"/>
          <p:cNvSpPr txBox="1"/>
          <p:nvPr/>
        </p:nvSpPr>
        <p:spPr>
          <a:xfrm>
            <a:off x="594360" y="3258312"/>
            <a:ext cx="7315200" cy="58064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pieces</a:t>
            </a:r>
            <a:r>
              <a:rPr sz="2000">
                <a:solidFill>
                  <a:srgbClr val="666666"/>
                </a:solidFill>
                <a:latin typeface="Courier New"/>
              </a:rPr>
              <a:t xml:space="preserve">)</a:t>
            </a:r>
          </a:p>
        </p:txBody>
      </p:sp>
      <p:sp>
        <p:nvSpPr>
          <p:cNvPr id="12" name="Printed output 0:3"/>
          <p:cNvSpPr txBox="1"/>
          <p:nvPr/>
        </p:nvSpPr>
        <p:spPr>
          <a:xfrm>
            <a:off x="8366760" y="3283712"/>
            <a:ext cx="3017520" cy="580644"/>
          </a:xfrm>
          <a:prstGeom prst="rect">
            <a:avLst/>
          </a:prstGeom>
          <a:noFill/>
          <a:ln>
            <a:noFill/>
          </a:ln>
        </p:spPr>
        <p:txBody>
          <a:bodyPr wrap="square" lIns="0" rIns="0" tIns="0" bIns="0">
            <a:noAutofit/>
          </a:bodyPr>
          <a:lstStyle/>
          <a:p>
            <a:pPr marL="0" indent="0" algn="l">
              <a:lnSpc>
                <a:spcPct val="120000"/>
              </a:lnSpc>
              <a:buNone/>
            </a:pPr>
            <a:r>
              <a:rPr sz="1800">
                <a:solidFill>
                  <a:srgbClr val="2B2B2B"/>
                </a:solidFill>
                <a:latin typeface="Courier New"/>
              </a:rPr>
              <a:t xml:space="preserve">['N', 'O', 'I', 'C', 'E']</a:t>
            </a:r>
          </a:p>
        </p:txBody>
      </p:sp>
      <p:sp>
        <p:nvSpPr>
          <p:cNvPr id="14" name="Pi515 accent"/>
          <p:cNvSpPr/>
          <p:nvPr/>
        </p:nvSpPr>
        <p:spPr>
          <a:xfrm>
            <a:off x="0" y="0"/>
            <a:ext cx="12192000" cy="54864"/>
          </a:xfrm>
          <a:prstGeom prst="rect">
            <a:avLst/>
          </a:prstGeom>
          <a:solidFill>
            <a:srgbClr val="39DC78"/>
          </a:solidFill>
          <a:ln>
            <a:noFill/>
          </a:ln>
        </p:spPr>
      </p:sp>
      <p:sp>
        <p:nvSpPr>
          <p:cNvPr id="15"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CODE EXAMPLE</a:t>
            </a:r>
          </a:p>
        </p:txBody>
      </p:sp>
      <p:sp>
        <p:nvSpPr>
          <p:cNvPr id="16" name="Footer rule"/>
          <p:cNvSpPr/>
          <p:nvPr/>
        </p:nvSpPr>
        <p:spPr>
          <a:xfrm>
            <a:off x="594360" y="6400800"/>
            <a:ext cx="10972800" cy="10973"/>
          </a:xfrm>
          <a:prstGeom prst="rect">
            <a:avLst/>
          </a:prstGeom>
          <a:solidFill>
            <a:srgbClr val="E6E6E6"/>
          </a:solidFill>
          <a:ln>
            <a:noFill/>
          </a:ln>
        </p:spPr>
      </p:sp>
      <p:sp>
        <p:nvSpPr>
          <p:cNvPr id="17"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11</a:t>
            </a:r>
          </a:p>
        </p:txBody>
      </p:sp>
      <p:pic>
        <p:nvPicPr>
          <p:cNvPr id="18"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2 — Delimiters and the mystery phrase</a:t>
            </a:r>
          </a:p>
        </p:txBody>
      </p:sp>
      <p:sp>
        <p:nvSpPr>
          <p:cNvPr id="3" name="Body paragraph 3"/>
          <p:cNvSpPr txBox="1"/>
          <p:nvPr/>
        </p:nvSpPr>
        <p:spPr>
          <a:xfrm>
            <a:off x="594360" y="1417320"/>
            <a:ext cx="10972800" cy="72542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Join the pieces with commas, then create lowercase </a:t>
            </a:r>
            <a:r>
              <a:rPr sz="2200">
                <a:solidFill>
                  <a:srgbClr val="4070A0"/>
                </a:solidFill>
                <a:latin typeface="Courier New"/>
              </a:rPr>
              <a:t xml:space="preserve">"noice"</a:t>
            </a:r>
            <a:r>
              <a:rPr sz="2200">
                <a:solidFill>
                  <a:srgbClr val="2B2B2B"/>
                </a:solidFill>
                <a:latin typeface="Arial"/>
              </a:rPr>
              <a:t> without spaces. Explain the difference between the two </a:t>
            </a:r>
            <a:r>
              <a:rPr sz="2200">
                <a:solidFill>
                  <a:srgbClr val="06287E"/>
                </a:solidFill>
                <a:latin typeface="Courier New"/>
              </a:rPr>
              <a:t xml:space="preserve">join</a:t>
            </a:r>
            <a:r>
              <a:rPr sz="2200">
                <a:solidFill>
                  <a:srgbClr val="2B2B2B"/>
                </a:solidFill>
                <a:latin typeface="Arial"/>
              </a:rPr>
              <a:t> delimiters.</a:t>
            </a:r>
          </a:p>
        </p:txBody>
      </p:sp>
      <p:sp>
        <p:nvSpPr>
          <p:cNvPr id="4" name="Code number 0:1"/>
          <p:cNvSpPr txBox="1"/>
          <p:nvPr/>
        </p:nvSpPr>
        <p:spPr>
          <a:xfrm>
            <a:off x="164592" y="23103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31038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phrase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 O I C E"</a:t>
            </a:r>
          </a:p>
        </p:txBody>
      </p:sp>
      <p:sp>
        <p:nvSpPr>
          <p:cNvPr id="6" name="Code number 0:2"/>
          <p:cNvSpPr txBox="1"/>
          <p:nvPr/>
        </p:nvSpPr>
        <p:spPr>
          <a:xfrm>
            <a:off x="164592" y="264718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647188"/>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pieces</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phrase</a:t>
            </a:r>
            <a:r>
              <a:rPr sz="2000">
                <a:solidFill>
                  <a:srgbClr val="666666"/>
                </a:solidFill>
                <a:latin typeface="Courier New"/>
              </a:rPr>
              <a:t xml:space="preserve">.</a:t>
            </a:r>
            <a:r>
              <a:rPr sz="2000">
                <a:solidFill>
                  <a:srgbClr val="06287E"/>
                </a:solidFill>
                <a:latin typeface="Courier New"/>
              </a:rPr>
              <a:t xml:space="preserve">split</a:t>
            </a:r>
            <a:r>
              <a:rPr sz="2000">
                <a:solidFill>
                  <a:srgbClr val="666666"/>
                </a:solidFill>
                <a:latin typeface="Courier New"/>
              </a:rPr>
              <a:t xml:space="preserve">(</a:t>
            </a:r>
            <a:r>
              <a:rPr sz="2000">
                <a:solidFill>
                  <a:srgbClr val="4070A0"/>
                </a:solidFill>
                <a:latin typeface="Courier New"/>
              </a:rPr>
              <a:t xml:space="preserve">" "</a:t>
            </a:r>
            <a:r>
              <a:rPr sz="2000">
                <a:solidFill>
                  <a:srgbClr val="666666"/>
                </a:solidFill>
                <a:latin typeface="Courier New"/>
              </a:rPr>
              <a:t xml:space="preserve">)</a:t>
            </a:r>
          </a:p>
        </p:txBody>
      </p:sp>
      <p:sp>
        <p:nvSpPr>
          <p:cNvPr id="8" name="Code number 0:3"/>
          <p:cNvSpPr txBox="1"/>
          <p:nvPr/>
        </p:nvSpPr>
        <p:spPr>
          <a:xfrm>
            <a:off x="164592" y="298399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9" name="Code line 0:3"/>
          <p:cNvSpPr txBox="1"/>
          <p:nvPr/>
        </p:nvSpPr>
        <p:spPr>
          <a:xfrm>
            <a:off x="594360" y="2983992"/>
            <a:ext cx="10972800" cy="336804"/>
          </a:xfrm>
          <a:prstGeom prst="rect">
            <a:avLst/>
          </a:prstGeom>
          <a:noFill/>
          <a:ln>
            <a:noFill/>
          </a:ln>
        </p:spPr>
        <p:txBody>
          <a:bodyPr wrap="square" lIns="0" rIns="0" tIns="0" bIns="0">
            <a:noAutofit/>
          </a:bodyPr>
          <a:lstStyle/>
          <a:p>
            <a:pPr marL="0" indent="0" algn="l">
              <a:lnSpc>
                <a:spcPct val="120000"/>
              </a:lnSpc>
              <a:buNone/>
            </a:pPr>
            <a:r>
              <a:rPr sz="2000" i="1">
                <a:solidFill>
                  <a:srgbClr val="555554"/>
                </a:solidFill>
                <a:latin typeface="Courier New"/>
              </a:rPr>
              <a:t xml:space="preserve"># YOUR CODE HERE: join with commas, then without spaces.</a:t>
            </a:r>
          </a:p>
        </p:txBody>
      </p:sp>
      <p:sp>
        <p:nvSpPr>
          <p:cNvPr id="10" name="Pi515 accent"/>
          <p:cNvSpPr/>
          <p:nvPr/>
        </p:nvSpPr>
        <p:spPr>
          <a:xfrm>
            <a:off x="0" y="0"/>
            <a:ext cx="12192000" cy="54864"/>
          </a:xfrm>
          <a:prstGeom prst="rect">
            <a:avLst/>
          </a:prstGeom>
          <a:solidFill>
            <a:srgbClr val="39DC78"/>
          </a:solidFill>
          <a:ln>
            <a:noFill/>
          </a:ln>
        </p:spPr>
      </p:sp>
      <p:sp>
        <p:nvSpPr>
          <p:cNvPr id="11"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EXERCISE</a:t>
            </a:r>
          </a:p>
        </p:txBody>
      </p:sp>
      <p:sp>
        <p:nvSpPr>
          <p:cNvPr id="12" name="Footer rule"/>
          <p:cNvSpPr/>
          <p:nvPr/>
        </p:nvSpPr>
        <p:spPr>
          <a:xfrm>
            <a:off x="594360" y="6400800"/>
            <a:ext cx="10972800" cy="10973"/>
          </a:xfrm>
          <a:prstGeom prst="rect">
            <a:avLst/>
          </a:prstGeom>
          <a:solidFill>
            <a:srgbClr val="E6E6E6"/>
          </a:solidFill>
          <a:ln>
            <a:noFill/>
          </a:ln>
        </p:spPr>
      </p:sp>
      <p:sp>
        <p:nvSpPr>
          <p:cNvPr id="13"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12</a:t>
            </a:r>
          </a:p>
        </p:txBody>
      </p:sp>
      <p:pic>
        <p:nvPicPr>
          <p:cNvPr id="14"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2920"/>
            <a:ext cx="10972800" cy="914400"/>
          </a:xfrm>
        </p:spPr>
        <p:txBody>
          <a:bodyPr anchor="t" lIns="0" rIns="0" tIns="0" bIns="0">
            <a:noAutofit/>
          </a:bodyPr>
          <a:lstStyle/>
          <a:p>
            <a:pPr marL="0" indent="0" algn="l">
              <a:buNone/>
            </a:pPr>
            <a:r>
              <a:rPr sz="3000" b="1">
                <a:solidFill>
                  <a:srgbClr val="17763C"/>
                </a:solidFill>
                <a:latin typeface="Arial"/>
              </a:rPr>
              <a:t>Exercise 2 — Delimiters and the mystery phrase — answer</a:t>
            </a:r>
          </a:p>
        </p:txBody>
      </p:sp>
      <p:sp>
        <p:nvSpPr>
          <p:cNvPr id="3" name="Body paragraph 3"/>
          <p:cNvSpPr txBox="1"/>
          <p:nvPr/>
        </p:nvSpPr>
        <p:spPr>
          <a:xfrm>
            <a:off x="594360" y="1417320"/>
            <a:ext cx="10972800" cy="1060704"/>
          </a:xfrm>
          <a:prstGeom prst="rect">
            <a:avLst/>
          </a:prstGeom>
          <a:noFill/>
          <a:ln>
            <a:noFill/>
          </a:ln>
        </p:spPr>
        <p:txBody>
          <a:bodyPr wrap="square" lIns="0" rIns="0" tIns="0" bIns="0">
            <a:noAutofit/>
          </a:bodyPr>
          <a:lstStyle/>
          <a:p>
            <a:pPr marL="0" indent="0">
              <a:lnSpc>
                <a:spcPct val="120000"/>
              </a:lnSpc>
              <a:buNone/>
            </a:pPr>
            <a:r>
              <a:rPr sz="2200">
                <a:solidFill>
                  <a:srgbClr val="2B2B2B"/>
                </a:solidFill>
                <a:latin typeface="Arial"/>
              </a:rPr>
              <a:t>The </a:t>
            </a:r>
            <a:r>
              <a:rPr sz="2200">
                <a:solidFill>
                  <a:srgbClr val="06287E"/>
                </a:solidFill>
                <a:latin typeface="Courier New"/>
              </a:rPr>
              <a:t xml:space="preserve">split</a:t>
            </a:r>
            <a:r>
              <a:rPr sz="2200">
                <a:solidFill>
                  <a:srgbClr val="2B2B2B"/>
                </a:solidFill>
                <a:latin typeface="Arial"/>
              </a:rPr>
              <a:t> delimiter is a space. The result is a list of five one-character strings. A comma inserts separators, while an empty string inserts nothing.</a:t>
            </a:r>
          </a:p>
        </p:txBody>
      </p:sp>
      <p:sp>
        <p:nvSpPr>
          <p:cNvPr id="4" name="Code number 0:1"/>
          <p:cNvSpPr txBox="1"/>
          <p:nvPr/>
        </p:nvSpPr>
        <p:spPr>
          <a:xfrm>
            <a:off x="164592" y="264566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1</a:t>
            </a:r>
          </a:p>
        </p:txBody>
      </p:sp>
      <p:sp>
        <p:nvSpPr>
          <p:cNvPr id="5" name="Code line 0:1"/>
          <p:cNvSpPr txBox="1"/>
          <p:nvPr/>
        </p:nvSpPr>
        <p:spPr>
          <a:xfrm>
            <a:off x="594360" y="264566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phrase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"N O I C E"</a:t>
            </a:r>
          </a:p>
        </p:txBody>
      </p:sp>
      <p:sp>
        <p:nvSpPr>
          <p:cNvPr id="6" name="Code number 0:2"/>
          <p:cNvSpPr txBox="1"/>
          <p:nvPr/>
        </p:nvSpPr>
        <p:spPr>
          <a:xfrm>
            <a:off x="164592" y="2982468"/>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2</a:t>
            </a:r>
          </a:p>
        </p:txBody>
      </p:sp>
      <p:sp>
        <p:nvSpPr>
          <p:cNvPr id="7" name="Code line 0:2"/>
          <p:cNvSpPr txBox="1"/>
          <p:nvPr/>
        </p:nvSpPr>
        <p:spPr>
          <a:xfrm>
            <a:off x="594360" y="2982468"/>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pieces</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2B2B2B"/>
                </a:solidFill>
                <a:latin typeface="Courier New"/>
              </a:rPr>
              <a:t xml:space="preserve">phrase</a:t>
            </a:r>
            <a:r>
              <a:rPr sz="2000">
                <a:solidFill>
                  <a:srgbClr val="666666"/>
                </a:solidFill>
                <a:latin typeface="Courier New"/>
              </a:rPr>
              <a:t xml:space="preserve">.</a:t>
            </a:r>
            <a:r>
              <a:rPr sz="2000">
                <a:solidFill>
                  <a:srgbClr val="06287E"/>
                </a:solidFill>
                <a:latin typeface="Courier New"/>
              </a:rPr>
              <a:t xml:space="preserve">split</a:t>
            </a:r>
            <a:r>
              <a:rPr sz="2000">
                <a:solidFill>
                  <a:srgbClr val="666666"/>
                </a:solidFill>
                <a:latin typeface="Courier New"/>
              </a:rPr>
              <a:t xml:space="preserve">(</a:t>
            </a:r>
            <a:r>
              <a:rPr sz="2000">
                <a:solidFill>
                  <a:srgbClr val="4070A0"/>
                </a:solidFill>
                <a:latin typeface="Courier New"/>
              </a:rPr>
              <a:t xml:space="preserve">" "</a:t>
            </a:r>
            <a:r>
              <a:rPr sz="2000">
                <a:solidFill>
                  <a:srgbClr val="666666"/>
                </a:solidFill>
                <a:latin typeface="Courier New"/>
              </a:rPr>
              <a:t xml:space="preserve">)</a:t>
            </a:r>
          </a:p>
        </p:txBody>
      </p:sp>
      <p:sp>
        <p:nvSpPr>
          <p:cNvPr id="8" name="Code number 0:3"/>
          <p:cNvSpPr txBox="1"/>
          <p:nvPr/>
        </p:nvSpPr>
        <p:spPr>
          <a:xfrm>
            <a:off x="164592" y="3319272"/>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3</a:t>
            </a:r>
          </a:p>
        </p:txBody>
      </p:sp>
      <p:sp>
        <p:nvSpPr>
          <p:cNvPr id="9" name="Code line 0:3"/>
          <p:cNvSpPr txBox="1"/>
          <p:nvPr/>
        </p:nvSpPr>
        <p:spPr>
          <a:xfrm>
            <a:off x="594360" y="3319272"/>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commas</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a:t>
            </a:r>
            <a:r>
              <a:rPr sz="2000">
                <a:solidFill>
                  <a:srgbClr val="666666"/>
                </a:solidFill>
                <a:latin typeface="Courier New"/>
              </a:rPr>
              <a:t xml:space="preserve">.</a:t>
            </a:r>
            <a:r>
              <a:rPr sz="2000">
                <a:solidFill>
                  <a:srgbClr val="06287E"/>
                </a:solidFill>
                <a:latin typeface="Courier New"/>
              </a:rPr>
              <a:t xml:space="preserve">join</a:t>
            </a:r>
            <a:r>
              <a:rPr sz="2000">
                <a:solidFill>
                  <a:srgbClr val="666666"/>
                </a:solidFill>
                <a:latin typeface="Courier New"/>
              </a:rPr>
              <a:t xml:space="preserve">(</a:t>
            </a:r>
            <a:r>
              <a:rPr sz="2000">
                <a:solidFill>
                  <a:srgbClr val="2B2B2B"/>
                </a:solidFill>
                <a:latin typeface="Courier New"/>
              </a:rPr>
              <a:t xml:space="preserve">pieces</a:t>
            </a:r>
            <a:r>
              <a:rPr sz="2000">
                <a:solidFill>
                  <a:srgbClr val="666666"/>
                </a:solidFill>
                <a:latin typeface="Courier New"/>
              </a:rPr>
              <a:t xml:space="preserve">)</a:t>
            </a:r>
          </a:p>
        </p:txBody>
      </p:sp>
      <p:sp>
        <p:nvSpPr>
          <p:cNvPr id="10" name="Code number 0:4"/>
          <p:cNvSpPr txBox="1"/>
          <p:nvPr/>
        </p:nvSpPr>
        <p:spPr>
          <a:xfrm>
            <a:off x="164592" y="3656076"/>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4</a:t>
            </a:r>
          </a:p>
        </p:txBody>
      </p:sp>
      <p:sp>
        <p:nvSpPr>
          <p:cNvPr id="11" name="Code line 0:4"/>
          <p:cNvSpPr txBox="1"/>
          <p:nvPr/>
        </p:nvSpPr>
        <p:spPr>
          <a:xfrm>
            <a:off x="594360" y="3656076"/>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2B2B2B"/>
                </a:solidFill>
                <a:latin typeface="Courier New"/>
              </a:rPr>
              <a:t xml:space="preserve">noice</a:t>
            </a:r>
            <a:r>
              <a:rPr sz="2000">
                <a:solidFill>
                  <a:srgbClr val="2B2B2B"/>
                </a:solidFill>
                <a:latin typeface="Courier New"/>
              </a:rPr>
              <a:t xml:space="preserve"> </a:t>
            </a:r>
            <a:r>
              <a:rPr sz="2000">
                <a:solidFill>
                  <a:srgbClr val="666666"/>
                </a:solidFill>
                <a:latin typeface="Courier New"/>
              </a:rPr>
              <a:t xml:space="preserve">=</a:t>
            </a:r>
            <a:r>
              <a:rPr sz="2000">
                <a:solidFill>
                  <a:srgbClr val="2B2B2B"/>
                </a:solidFill>
                <a:latin typeface="Courier New"/>
              </a:rPr>
              <a:t xml:space="preserve"> </a:t>
            </a:r>
            <a:r>
              <a:rPr sz="2000">
                <a:solidFill>
                  <a:srgbClr val="4070A0"/>
                </a:solidFill>
                <a:latin typeface="Courier New"/>
              </a:rPr>
              <a:t xml:space="preserve">""</a:t>
            </a:r>
            <a:r>
              <a:rPr sz="2000">
                <a:solidFill>
                  <a:srgbClr val="666666"/>
                </a:solidFill>
                <a:latin typeface="Courier New"/>
              </a:rPr>
              <a:t xml:space="preserve">.</a:t>
            </a:r>
            <a:r>
              <a:rPr sz="2000">
                <a:solidFill>
                  <a:srgbClr val="06287E"/>
                </a:solidFill>
                <a:latin typeface="Courier New"/>
              </a:rPr>
              <a:t xml:space="preserve">join</a:t>
            </a:r>
            <a:r>
              <a:rPr sz="2000">
                <a:solidFill>
                  <a:srgbClr val="666666"/>
                </a:solidFill>
                <a:latin typeface="Courier New"/>
              </a:rPr>
              <a:t xml:space="preserve">(</a:t>
            </a:r>
            <a:r>
              <a:rPr sz="2000">
                <a:solidFill>
                  <a:srgbClr val="2B2B2B"/>
                </a:solidFill>
                <a:latin typeface="Courier New"/>
              </a:rPr>
              <a:t xml:space="preserve">pieces</a:t>
            </a:r>
            <a:r>
              <a:rPr sz="2000">
                <a:solidFill>
                  <a:srgbClr val="666666"/>
                </a:solidFill>
                <a:latin typeface="Courier New"/>
              </a:rPr>
              <a:t xml:space="preserve">)</a:t>
            </a:r>
            <a:r>
              <a:rPr sz="2000">
                <a:solidFill>
                  <a:srgbClr val="666666"/>
                </a:solidFill>
                <a:latin typeface="Courier New"/>
              </a:rPr>
              <a:t xml:space="preserve">.</a:t>
            </a:r>
            <a:r>
              <a:rPr sz="2000">
                <a:solidFill>
                  <a:srgbClr val="06287E"/>
                </a:solidFill>
                <a:latin typeface="Courier New"/>
              </a:rPr>
              <a:t xml:space="preserve">lower</a:t>
            </a:r>
            <a:r>
              <a:rPr sz="2000">
                <a:solidFill>
                  <a:srgbClr val="666666"/>
                </a:solidFill>
                <a:latin typeface="Courier New"/>
              </a:rPr>
              <a:t xml:space="preserve">(</a:t>
            </a:r>
            <a:r>
              <a:rPr sz="2000">
                <a:solidFill>
                  <a:srgbClr val="666666"/>
                </a:solidFill>
                <a:latin typeface="Courier New"/>
              </a:rPr>
              <a:t xml:space="preserve">)</a:t>
            </a:r>
          </a:p>
        </p:txBody>
      </p:sp>
      <p:sp>
        <p:nvSpPr>
          <p:cNvPr id="12" name="Code number 0:5"/>
          <p:cNvSpPr txBox="1"/>
          <p:nvPr/>
        </p:nvSpPr>
        <p:spPr>
          <a:xfrm>
            <a:off x="164592" y="3992880"/>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5</a:t>
            </a:r>
          </a:p>
        </p:txBody>
      </p:sp>
      <p:sp>
        <p:nvSpPr>
          <p:cNvPr id="13" name="Code line 0:5"/>
          <p:cNvSpPr txBox="1"/>
          <p:nvPr/>
        </p:nvSpPr>
        <p:spPr>
          <a:xfrm>
            <a:off x="594360" y="3992880"/>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commas</a:t>
            </a:r>
            <a:r>
              <a:rPr sz="2000">
                <a:solidFill>
                  <a:srgbClr val="666666"/>
                </a:solidFill>
                <a:latin typeface="Courier New"/>
              </a:rPr>
              <a:t xml:space="preserve">)</a:t>
            </a:r>
          </a:p>
        </p:txBody>
      </p:sp>
      <p:sp>
        <p:nvSpPr>
          <p:cNvPr id="14" name="Code number 0:6"/>
          <p:cNvSpPr txBox="1"/>
          <p:nvPr/>
        </p:nvSpPr>
        <p:spPr>
          <a:xfrm>
            <a:off x="164592" y="4329684"/>
            <a:ext cx="320040" cy="336804"/>
          </a:xfrm>
          <a:prstGeom prst="rect">
            <a:avLst/>
          </a:prstGeom>
          <a:noFill/>
          <a:ln>
            <a:noFill/>
          </a:ln>
        </p:spPr>
        <p:txBody>
          <a:bodyPr wrap="square" lIns="0" rIns="0" tIns="0" bIns="0">
            <a:noAutofit/>
          </a:bodyPr>
          <a:lstStyle/>
          <a:p>
            <a:pPr marL="0" indent="0" algn="r">
              <a:lnSpc>
                <a:spcPct val="120000"/>
              </a:lnSpc>
              <a:buNone/>
            </a:pPr>
            <a:r>
              <a:rPr sz="2000">
                <a:solidFill>
                  <a:srgbClr val="555554"/>
                </a:solidFill>
                <a:latin typeface="Courier New"/>
              </a:rPr>
              <a:t xml:space="preserve">6</a:t>
            </a:r>
          </a:p>
        </p:txBody>
      </p:sp>
      <p:sp>
        <p:nvSpPr>
          <p:cNvPr id="15" name="Code line 0:6"/>
          <p:cNvSpPr txBox="1"/>
          <p:nvPr/>
        </p:nvSpPr>
        <p:spPr>
          <a:xfrm>
            <a:off x="594360" y="4329684"/>
            <a:ext cx="10972800" cy="336804"/>
          </a:xfrm>
          <a:prstGeom prst="rect">
            <a:avLst/>
          </a:prstGeom>
          <a:noFill/>
          <a:ln>
            <a:noFill/>
          </a:ln>
        </p:spPr>
        <p:txBody>
          <a:bodyPr wrap="square" lIns="0" rIns="0" tIns="0" bIns="0">
            <a:noAutofit/>
          </a:bodyPr>
          <a:lstStyle/>
          <a:p>
            <a:pPr marL="0" indent="0" algn="l">
              <a:lnSpc>
                <a:spcPct val="120000"/>
              </a:lnSpc>
              <a:buNone/>
            </a:pPr>
            <a:r>
              <a:rPr sz="2000">
                <a:solidFill>
                  <a:srgbClr val="008000"/>
                </a:solidFill>
                <a:latin typeface="Courier New"/>
              </a:rPr>
              <a:t xml:space="preserve">print</a:t>
            </a:r>
            <a:r>
              <a:rPr sz="2000">
                <a:solidFill>
                  <a:srgbClr val="666666"/>
                </a:solidFill>
                <a:latin typeface="Courier New"/>
              </a:rPr>
              <a:t xml:space="preserve">(</a:t>
            </a:r>
            <a:r>
              <a:rPr sz="2000">
                <a:solidFill>
                  <a:srgbClr val="2B2B2B"/>
                </a:solidFill>
                <a:latin typeface="Courier New"/>
              </a:rPr>
              <a:t xml:space="preserve">noice</a:t>
            </a:r>
            <a:r>
              <a:rPr sz="2000">
                <a:solidFill>
                  <a:srgbClr val="666666"/>
                </a:solidFill>
                <a:latin typeface="Courier New"/>
              </a:rPr>
              <a:t xml:space="preserve">)</a:t>
            </a:r>
          </a:p>
        </p:txBody>
      </p:sp>
      <p:sp>
        <p:nvSpPr>
          <p:cNvPr id="16" name="Pi515 accent"/>
          <p:cNvSpPr/>
          <p:nvPr/>
        </p:nvSpPr>
        <p:spPr>
          <a:xfrm>
            <a:off x="0" y="0"/>
            <a:ext cx="12192000" cy="54864"/>
          </a:xfrm>
          <a:prstGeom prst="rect">
            <a:avLst/>
          </a:prstGeom>
          <a:solidFill>
            <a:srgbClr val="39DC78"/>
          </a:solidFill>
          <a:ln>
            <a:noFill/>
          </a:ln>
        </p:spPr>
      </p:sp>
      <p:sp>
        <p:nvSpPr>
          <p:cNvPr id="17" name="Slide type"/>
          <p:cNvSpPr txBox="1"/>
          <p:nvPr/>
        </p:nvSpPr>
        <p:spPr>
          <a:xfrm>
            <a:off x="594360" y="256032"/>
            <a:ext cx="10515600" cy="228600"/>
          </a:xfrm>
          <a:prstGeom prst="rect">
            <a:avLst/>
          </a:prstGeom>
          <a:noFill/>
          <a:ln>
            <a:noFill/>
          </a:ln>
        </p:spPr>
        <p:txBody>
          <a:bodyPr lIns="0" rIns="0" tIns="0" bIns="0"/>
          <a:lstStyle/>
          <a:p>
            <a:r>
              <a:rPr sz="1100">
                <a:solidFill>
                  <a:srgbClr val="17763C"/>
                </a:solidFill>
                <a:latin typeface="Arial"/>
              </a:rPr>
              <a:t>WORKED ANSWER</a:t>
            </a:r>
          </a:p>
        </p:txBody>
      </p:sp>
      <p:sp>
        <p:nvSpPr>
          <p:cNvPr id="18" name="Footer rule"/>
          <p:cNvSpPr/>
          <p:nvPr/>
        </p:nvSpPr>
        <p:spPr>
          <a:xfrm>
            <a:off x="594360" y="6400800"/>
            <a:ext cx="10972800" cy="10973"/>
          </a:xfrm>
          <a:prstGeom prst="rect">
            <a:avLst/>
          </a:prstGeom>
          <a:solidFill>
            <a:srgbClr val="E6E6E6"/>
          </a:solidFill>
          <a:ln>
            <a:noFill/>
          </a:ln>
        </p:spPr>
      </p:sp>
      <p:sp>
        <p:nvSpPr>
          <p:cNvPr id="19" name="Lesson footer"/>
          <p:cNvSpPr txBox="1"/>
          <p:nvPr/>
        </p:nvSpPr>
        <p:spPr>
          <a:xfrm>
            <a:off x="594360" y="6510528"/>
            <a:ext cx="9692640" cy="210312"/>
          </a:xfrm>
          <a:prstGeom prst="rect">
            <a:avLst/>
          </a:prstGeom>
          <a:noFill/>
          <a:ln>
            <a:noFill/>
          </a:ln>
        </p:spPr>
        <p:txBody>
          <a:bodyPr lIns="0" rIns="0" tIns="0" bIns="0"/>
          <a:lstStyle/>
          <a:p>
            <a:r>
              <a:rPr sz="1100">
                <a:solidFill>
                  <a:srgbClr val="555554"/>
                </a:solidFill>
                <a:latin typeface="Arial"/>
              </a:rPr>
              <a:t>Strings - indexing, slicing, and methods  ·  13</a:t>
            </a:r>
          </a:p>
        </p:txBody>
      </p:sp>
      <p:pic>
        <p:nvPicPr>
          <p:cNvPr id="20" name="Pi515 logo" descr="Pi515"/>
          <p:cNvPicPr>
            <a:picLocks noChangeAspect="1"/>
          </p:cNvPicPr>
          <p:nvPr/>
        </p:nvPicPr>
        <p:blipFill>
          <a:blip r:embed="pi515Logo"/>
          <a:stretch>
            <a:fillRect/>
          </a:stretch>
        </p:blipFill>
        <p:spPr>
          <a:xfrm>
            <a:off x="10789920" y="6492240"/>
            <a:ext cx="777240" cy="233172"/>
          </a:xfrm>
          <a:prstGeom prst="rect">
            <a:avLst/>
          </a:prstGeom>
        </p:spPr>
      </p:pic>
    </p:spTree>
  </p:cSld>
</p:sld>
</file>

<file path=ppt/theme/theme1.xml><?xml version="1.0" encoding="utf-8"?>
<a:theme xmlns:a="http://schemas.openxmlformats.org/drawingml/2006/main" name="Office Theme">
  <a:themeElements>
    <a:clrScheme name="Office">
      <a:dk1>
        <a:srgbClr val="2B2B2B"/>
      </a:dk1>
      <a:lt1>
        <a:sysClr val="window" lastClr="FFFFFF"/>
      </a:lt1>
      <a:dk2>
        <a:srgbClr val="0D4423"/>
      </a:dk2>
      <a:lt2>
        <a:srgbClr val="EEECE1"/>
      </a:lt2>
      <a:accent1>
        <a:srgbClr val="39DC78"/>
      </a:accent1>
      <a:accent2>
        <a:srgbClr val="17763C"/>
      </a:accent2>
      <a:accent3>
        <a:srgbClr val="9BBB59"/>
      </a:accent3>
      <a:accent4>
        <a:srgbClr val="8064A2"/>
      </a:accent4>
      <a:accent5>
        <a:srgbClr val="4BACC6"/>
      </a:accent5>
      <a:accent6>
        <a:srgbClr val="F79646"/>
      </a:accent6>
      <a:hlink>
        <a:srgbClr val="17763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rgbClr val="2B2B2B"/>
      </a:dk1>
      <a:lt1>
        <a:sysClr val="window" lastClr="FFFFFF"/>
      </a:lt1>
      <a:dk2>
        <a:srgbClr val="0D4423"/>
      </a:dk2>
      <a:lt2>
        <a:srgbClr val="E7E6E6"/>
      </a:lt2>
      <a:accent1>
        <a:srgbClr val="39DC78"/>
      </a:accent1>
      <a:accent2>
        <a:srgbClr val="17763C"/>
      </a:accent2>
      <a:accent3>
        <a:srgbClr val="A5A5A5"/>
      </a:accent3>
      <a:accent4>
        <a:srgbClr val="FFC000"/>
      </a:accent4>
      <a:accent5>
        <a:srgbClr val="4472C4"/>
      </a:accent5>
      <a:accent6>
        <a:srgbClr val="70AD47"/>
      </a:accent6>
      <a:hlink>
        <a:srgbClr val="17763C"/>
      </a:hlink>
      <a:folHlink>
        <a:srgbClr val="954F72"/>
      </a:folHlink>
    </a:clrScheme>
    <a:fontScheme name="Office">
      <a:majorFont>
        <a:latin typeface="Arial"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Strings - indexing, slicing, and methods — review</dc:title>
  <dc:creator/>
  <cp:keywords/>
  <dcterms:created xsi:type="dcterms:W3CDTF">2026-10-20T18:35:27Z</dcterms:created>
  <dcterms:modified xsi:type="dcterms:W3CDTF">2026-10-20T18:35:27Z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xecute">
    <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monofont">
    <vt:lpwstr>Courier New</vt:lpwstr>
  </property>
  <property fmtid="{D5CDD505-2E9C-101B-9397-08002B2CF9AE}" pid="9" name="toc-title">
    <vt:lpwstr>Table of contents</vt:lpwstr>
  </property>
</Properties>
</file>