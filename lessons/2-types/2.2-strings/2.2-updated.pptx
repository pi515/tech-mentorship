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47"/>
  </p:notesMasterIdLst>
  <p:sldIdLst>
    <p:sldId id="303" r:id="rId3"/>
    <p:sldId id="2023" r:id="rId4"/>
    <p:sldId id="2024" r:id="rId5"/>
    <p:sldId id="1940" r:id="rId6"/>
    <p:sldId id="2025" r:id="rId7"/>
    <p:sldId id="2032" r:id="rId8"/>
    <p:sldId id="2028" r:id="rId9"/>
    <p:sldId id="2026" r:id="rId10"/>
    <p:sldId id="2027" r:id="rId11"/>
    <p:sldId id="2029" r:id="rId12"/>
    <p:sldId id="2030" r:id="rId13"/>
    <p:sldId id="1950" r:id="rId14"/>
    <p:sldId id="1948" r:id="rId15"/>
    <p:sldId id="1962" r:id="rId16"/>
    <p:sldId id="2037" r:id="rId17"/>
    <p:sldId id="1963" r:id="rId18"/>
    <p:sldId id="1955" r:id="rId19"/>
    <p:sldId id="1969" r:id="rId20"/>
    <p:sldId id="1968" r:id="rId21"/>
    <p:sldId id="1987" r:id="rId22"/>
    <p:sldId id="1966" r:id="rId23"/>
    <p:sldId id="1970" r:id="rId24"/>
    <p:sldId id="1894" r:id="rId25"/>
    <p:sldId id="1895" r:id="rId26"/>
    <p:sldId id="1984" r:id="rId27"/>
    <p:sldId id="1981" r:id="rId28"/>
    <p:sldId id="1986" r:id="rId29"/>
    <p:sldId id="1897" r:id="rId30"/>
    <p:sldId id="1907" r:id="rId31"/>
    <p:sldId id="1973" r:id="rId32"/>
    <p:sldId id="1898" r:id="rId33"/>
    <p:sldId id="1983" r:id="rId34"/>
    <p:sldId id="1991" r:id="rId35"/>
    <p:sldId id="2033" r:id="rId36"/>
    <p:sldId id="2034" r:id="rId37"/>
    <p:sldId id="2035" r:id="rId38"/>
    <p:sldId id="2036" r:id="rId39"/>
    <p:sldId id="1976" r:id="rId40"/>
    <p:sldId id="1978" r:id="rId41"/>
    <p:sldId id="1977" r:id="rId42"/>
    <p:sldId id="1980" r:id="rId43"/>
    <p:sldId id="1990" r:id="rId44"/>
    <p:sldId id="1995" r:id="rId45"/>
    <p:sldId id="199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>
      <p:cViewPr varScale="1">
        <p:scale>
          <a:sx n="115" d="100"/>
          <a:sy n="115" d="100"/>
        </p:scale>
        <p:origin x="6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F57EC-637D-1B40-A56A-E2FA33E825D2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54541-54E6-C545-8E77-F5B3D34C7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5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71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E114E2B-F0F8-449A-B0E3-8E7AA142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1B1A3280-52B3-8B75-4E20-BD8FEF9E9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BEB6A89D-74FB-FF14-6624-B3F9C7F51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570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70EDB8A1-6F74-62DF-551D-DF71FB72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3147D059-5745-AF4F-27C9-F835BB516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92E225C2-7721-9C6D-B027-E3A7FDE56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2253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022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A50B43F1-0FB0-2D9F-7ED8-042A490D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62757D38-CD87-4615-6F37-D7F820F35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CD663DA4-7DED-CA43-2F11-AD72F7F91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799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2BCF39CD-3201-4BD5-F804-D0E599E4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35AFF1D4-64A9-E920-FD0D-4327258C1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9B5123D9-71B9-82D2-6A12-7F3C511B3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3526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FEBE9DC2-865E-1D2A-C1DD-4882E149A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DCB49A7B-117B-0176-6BE5-2DDE373248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6FEC5A2C-0142-8879-A9C8-B9F378550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0812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10945300-CCF7-0352-8AB2-EC5DD31F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F87565D4-9613-E466-3EB0-71023CF1F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BDFE7677-D0AE-D916-125C-F7091BA9E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2771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5397E6E8-091E-A6EA-F750-75568E0A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784DF84D-020D-73CC-3A44-7383E8C98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958BADC6-FC06-5435-3BF9-23F88B2CC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121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6545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115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79933D7-032A-BE3F-B471-82B90691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CE5BB9B9-05F3-E228-D981-DEF2B2CBA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42A452C0-0D7B-EE78-4779-A075E962B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422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628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913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726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516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330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39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122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9547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405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4619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8792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3338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2098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B32ABCB4-11C2-C95A-4B6B-18A9F811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0375B444-1D02-BE0B-88F4-0A238D404C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D80E08B2-6E96-A191-263D-E4815CA58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583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8560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16C871EA-6838-2934-BF43-CA53B376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87E590C3-0347-E8A6-3C89-D9BCC8923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266EEA18-263C-9725-22ED-7890FE6C8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937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1AA65748-4429-F67D-E550-9D227B59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>
            <a:extLst>
              <a:ext uri="{FF2B5EF4-FFF2-40B4-BE49-F238E27FC236}">
                <a16:creationId xmlns:a16="http://schemas.microsoft.com/office/drawing/2014/main" id="{B023E346-5DE0-4400-3C0C-0E90C2D2A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>
            <a:extLst>
              <a:ext uri="{FF2B5EF4-FFF2-40B4-BE49-F238E27FC236}">
                <a16:creationId xmlns:a16="http://schemas.microsoft.com/office/drawing/2014/main" id="{6A69EC73-E450-10BA-43C0-86E667E3B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10153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5067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69833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3039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a9243e683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a9243e683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44646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943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D6B2-64CE-5CFF-BEFB-4A910A960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77447-A08F-844C-B541-79CD19D40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10D78-BAE9-66E4-ABBA-A2333C77D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F158C-B2DC-A6DC-884F-076708BF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DE94-D1D3-9740-B760-4D97D70B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1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321A-3E21-7EB7-AFDF-4C673F4C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03FE2-1341-E701-8DBC-0628626D1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B609D-3FBC-C072-EBEC-434A1DE6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3B078-788A-A490-78BC-6C948AAB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230DF-F5FF-9EF6-69E7-58C5D812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6938-30C0-F68B-CA8A-317059D7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B3750-8AB5-6C07-04B7-C1A09DA68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8A23E-0565-C96F-EA59-CF53C6B1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85664-9625-4151-96AC-E7E18FE5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714E4-B32B-7CD1-F592-AD499D18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0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0F21-9673-5380-7C8D-F167F29C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1530A-B54F-23DE-35FA-7A6EFA992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B5957-5803-B1EB-2A29-ACC99E7F8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4342D-93C4-CC3A-5FD6-5B7BDC9C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714AD-ABE5-15F6-D575-82D57935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F0199-7707-04EC-4516-18CB4ECB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9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B061-EB89-21E3-3B7B-8F89CC31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315BA-7C1E-47BB-6E1E-8AD418046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5F23D-D117-47ED-697B-3475BF84D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3FA6DE-C33D-2EAF-4E09-3E7389655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D94F4F-43B3-E374-19F4-40E754FDF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6BE044-AC48-16FC-F2B1-8D9F4338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31A9B-3D1B-0B9B-D45C-7AC9CADC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E3AA5-0577-79DA-A68A-A8DBDA87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765A-5702-D35E-BF75-5F068CA7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CE6A6-43E0-6015-003C-06E03556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256A1-64C7-1568-FAD8-1523C817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95DE1-7514-B8B3-183C-2363B7D1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2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CFBFE-1155-2768-40C4-79A7DA6D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D7EB4-0518-E3C9-C552-CCAC2247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D174-F992-89BD-E21B-1A6A25E3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2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E1A4-9217-9D52-A4B4-C958D6A38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988B8-3D18-5446-71AB-BA8607444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5D3AA-AF76-98F1-A5B5-BD0FC3803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421C8-7A66-4ED6-C097-FE86CA664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CD939-4B44-EDD3-FFF6-27988F5A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75CF-C260-49BC-95AD-DF6AC8E9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5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2044-C99F-558A-C956-87AED9A2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40325-F8BE-948C-9F7C-4AE2D1323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0329F-69C3-C4E0-D60C-B17B97708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9E599-6607-D484-B130-F8704031D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7E3F7-BA15-07D7-7FBA-2A3FAE3A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1BE93-9CA4-72C5-CDCD-6ED6C1BB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9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8A6E-9833-6037-81BE-117A253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F5EF3-F1FB-B043-C0C1-35D656EEF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0EEC6-0983-953D-B800-C9EF3A687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34689-CB44-AF5E-EFDF-C8517874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328FB-4B50-A45D-FA85-C946179E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8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9D021-D3AD-6F49-0DAF-C832459B6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5716E-94EF-2520-C97A-0E4131255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8B2F0-8D09-5870-6E47-08761BD0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3E263-9115-DAB0-E91A-8EDB73F7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AA9A1-59A4-21C1-DD69-F736A4E3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11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and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ield of grass with the sun setting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50DC41FE-3AED-9205-268D-A4EA09564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8008059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140126" y="916354"/>
            <a:ext cx="7663269" cy="455247"/>
          </a:xfrm>
        </p:spPr>
        <p:txBody>
          <a:bodyPr/>
          <a:lstStyle>
            <a:lvl1pPr>
              <a:lnSpc>
                <a:spcPts val="1799"/>
              </a:lnSpc>
              <a:spcBef>
                <a:spcPts val="0"/>
              </a:spcBef>
              <a:defRPr sz="1799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1140126" y="463551"/>
            <a:ext cx="7663269" cy="431801"/>
          </a:xfrm>
        </p:spPr>
        <p:txBody>
          <a:bodyPr>
            <a:normAutofit/>
          </a:bodyPr>
          <a:lstStyle>
            <a:lvl1pPr algn="l">
              <a:lnSpc>
                <a:spcPts val="2600"/>
              </a:lnSpc>
              <a:defRPr sz="2600" spc="4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9275" y="6078780"/>
            <a:ext cx="831711" cy="4744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4702" y="254889"/>
            <a:ext cx="2877300" cy="115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58520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0" y="3766000"/>
            <a:ext cx="9827200" cy="30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11" name="Google Shape;11;p2"/>
          <p:cNvSpPr/>
          <p:nvPr/>
        </p:nvSpPr>
        <p:spPr>
          <a:xfrm flipH="1">
            <a:off x="4776800" y="2067600"/>
            <a:ext cx="7415201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12" name="Google Shape;12;p2"/>
          <p:cNvSpPr/>
          <p:nvPr/>
        </p:nvSpPr>
        <p:spPr>
          <a:xfrm rot="10800000">
            <a:off x="6745208" y="0"/>
            <a:ext cx="5446800" cy="2736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13" name="Google Shape;13;p2"/>
          <p:cNvSpPr/>
          <p:nvPr/>
        </p:nvSpPr>
        <p:spPr>
          <a:xfrm>
            <a:off x="271033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grpSp>
        <p:nvGrpSpPr>
          <p:cNvPr id="14" name="Google Shape;14;p2"/>
          <p:cNvGrpSpPr/>
          <p:nvPr/>
        </p:nvGrpSpPr>
        <p:grpSpPr>
          <a:xfrm>
            <a:off x="340269" y="791"/>
            <a:ext cx="3000484" cy="13924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1207195" y="791"/>
            <a:ext cx="3000484" cy="13924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9409957" y="6784"/>
            <a:ext cx="2468376" cy="1002811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8737376" y="5623805"/>
            <a:ext cx="3185424" cy="1234316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265534" y="5407536"/>
            <a:ext cx="3727217" cy="1444411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2478273" y="2430444"/>
            <a:ext cx="7148400" cy="19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>
                <a:latin typeface="Nunito" pitchFamily="2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8"/>
            </a:lvl9pPr>
          </a:lstStyle>
          <a:p>
            <a:endParaRPr dirty="0"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2478268" y="4550877"/>
            <a:ext cx="7148400" cy="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  <a:latin typeface="Calibri" panose="020F0502020204030204" pitchFamily="34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893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4776800" y="2067600"/>
            <a:ext cx="7415201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51" name="Google Shape;51;p4"/>
          <p:cNvSpPr/>
          <p:nvPr/>
        </p:nvSpPr>
        <p:spPr>
          <a:xfrm>
            <a:off x="40" y="3766000"/>
            <a:ext cx="9827200" cy="3092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52" name="Google Shape;52;p4"/>
          <p:cNvSpPr/>
          <p:nvPr/>
        </p:nvSpPr>
        <p:spPr>
          <a:xfrm>
            <a:off x="270967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1092200" y="1127467"/>
            <a:ext cx="10007600" cy="1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1">
                <a:latin typeface="Nunito" pitchFamily="2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9pPr>
          </a:lstStyle>
          <a:p>
            <a:endParaRPr dirty="0"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1092200" y="2654300"/>
            <a:ext cx="10007600" cy="32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93" lvl="0" indent="-457194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1">
                <a:latin typeface="Calibri" panose="020F0502020204030204" pitchFamily="34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marL="1219184" lvl="1" indent="-457194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1"/>
            </a:lvl2pPr>
            <a:lvl3pPr marL="1828777" lvl="2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70" lvl="3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62" lvl="4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54" lvl="5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147" lvl="6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739" lvl="7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331" lvl="8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4907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4776800" y="2067600"/>
            <a:ext cx="7415201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58" name="Google Shape;58;p5"/>
          <p:cNvSpPr/>
          <p:nvPr/>
        </p:nvSpPr>
        <p:spPr>
          <a:xfrm>
            <a:off x="40" y="3766000"/>
            <a:ext cx="9827200" cy="3092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59" name="Google Shape;59;p5"/>
          <p:cNvSpPr/>
          <p:nvPr/>
        </p:nvSpPr>
        <p:spPr>
          <a:xfrm>
            <a:off x="270967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1092200" y="1127467"/>
            <a:ext cx="10007600" cy="1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1">
                <a:latin typeface="Nunito" pitchFamily="2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9pPr>
          </a:lstStyle>
          <a:p>
            <a:endParaRPr dirty="0"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1092201" y="2654300"/>
            <a:ext cx="4914800" cy="32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93" lvl="0" indent="-457194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marL="1219184" lvl="1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77" lvl="2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70" lvl="3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62" lvl="4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54" lvl="5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147" lvl="6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739" lvl="7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331" lvl="8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6184901" y="2654300"/>
            <a:ext cx="4914800" cy="32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93" lvl="0" indent="-457194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marL="1219184" lvl="1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77" lvl="2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70" lvl="3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62" lvl="4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54" lvl="5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147" lvl="6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739" lvl="7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331" lvl="8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29660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4776800" y="2067600"/>
            <a:ext cx="7415201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66" name="Google Shape;66;p6"/>
          <p:cNvSpPr/>
          <p:nvPr/>
        </p:nvSpPr>
        <p:spPr>
          <a:xfrm>
            <a:off x="40" y="3766000"/>
            <a:ext cx="9827200" cy="3092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67" name="Google Shape;67;p6"/>
          <p:cNvSpPr/>
          <p:nvPr/>
        </p:nvSpPr>
        <p:spPr>
          <a:xfrm>
            <a:off x="270967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1092200" y="1127467"/>
            <a:ext cx="10007600" cy="1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1">
                <a:latin typeface="Nunito" pitchFamily="2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9pPr>
          </a:lstStyle>
          <a:p>
            <a:endParaRPr dirty="0"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2872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4776800" y="2067600"/>
            <a:ext cx="7415201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72" name="Google Shape;72;p7"/>
          <p:cNvSpPr/>
          <p:nvPr/>
        </p:nvSpPr>
        <p:spPr>
          <a:xfrm>
            <a:off x="40" y="3766000"/>
            <a:ext cx="9827200" cy="3092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73" name="Google Shape;73;p7"/>
          <p:cNvSpPr/>
          <p:nvPr/>
        </p:nvSpPr>
        <p:spPr>
          <a:xfrm>
            <a:off x="270967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1092201" y="1127467"/>
            <a:ext cx="4240835" cy="18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1">
                <a:latin typeface="Nunito" pitchFamily="2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9pPr>
          </a:lstStyle>
          <a:p>
            <a:endParaRPr dirty="0"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1107601" y="3092067"/>
            <a:ext cx="4225435" cy="28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93" lvl="0" indent="-457194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marL="1219184" lvl="1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77" lvl="2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70" lvl="3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62" lvl="4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54" lvl="5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147" lvl="6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739" lvl="7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331" lvl="8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Google Shape;75;p7">
            <a:extLst>
              <a:ext uri="{FF2B5EF4-FFF2-40B4-BE49-F238E27FC236}">
                <a16:creationId xmlns:a16="http://schemas.microsoft.com/office/drawing/2014/main" id="{DEC34814-F62D-2FEE-BD34-82DE64B2F1C4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5446577" y="1127466"/>
            <a:ext cx="5653224" cy="4790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152399" lvl="0" indent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marL="1219184" lvl="1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77" lvl="2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70" lvl="3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62" lvl="4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54" lvl="5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147" lvl="6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739" lvl="7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331" lvl="8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3417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1" y="3764192"/>
            <a:ext cx="9825600" cy="30892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79" name="Google Shape;79;p8"/>
          <p:cNvSpPr/>
          <p:nvPr/>
        </p:nvSpPr>
        <p:spPr>
          <a:xfrm flipH="1">
            <a:off x="4777615" y="2072151"/>
            <a:ext cx="7414000" cy="4786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grpSp>
        <p:nvGrpSpPr>
          <p:cNvPr id="80" name="Google Shape;80;p8"/>
          <p:cNvGrpSpPr/>
          <p:nvPr/>
        </p:nvGrpSpPr>
        <p:grpSpPr>
          <a:xfrm>
            <a:off x="341323" y="-157"/>
            <a:ext cx="3001797" cy="1391211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70967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grpSp>
        <p:nvGrpSpPr>
          <p:cNvPr id="85" name="Google Shape;85;p8"/>
          <p:cNvGrpSpPr/>
          <p:nvPr/>
        </p:nvGrpSpPr>
        <p:grpSpPr>
          <a:xfrm>
            <a:off x="46580" y="6029500"/>
            <a:ext cx="2124409" cy="822763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7848472" y="1657"/>
            <a:ext cx="4343272" cy="1682019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858573" y="1734863"/>
            <a:ext cx="8489200" cy="33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>
                <a:latin typeface="Nunito" pitchFamily="2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9pPr>
          </a:lstStyle>
          <a:p>
            <a:endParaRPr dirty="0"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7663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4776800" y="2067600"/>
            <a:ext cx="7415201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97" name="Google Shape;97;p9"/>
          <p:cNvSpPr/>
          <p:nvPr/>
        </p:nvSpPr>
        <p:spPr>
          <a:xfrm>
            <a:off x="40" y="3766000"/>
            <a:ext cx="9827200" cy="3092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98" name="Google Shape;98;p9"/>
          <p:cNvSpPr/>
          <p:nvPr/>
        </p:nvSpPr>
        <p:spPr>
          <a:xfrm>
            <a:off x="270967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1092202" y="1127467"/>
            <a:ext cx="8565601" cy="9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1">
                <a:latin typeface="Nunito" pitchFamily="2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1"/>
            </a:lvl9pPr>
          </a:lstStyle>
          <a:p>
            <a:endParaRPr dirty="0"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  <a:latin typeface="Calibri" panose="020F0502020204030204" pitchFamily="34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1092200" y="3289400"/>
            <a:ext cx="7813200" cy="2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93" lvl="0" indent="-45719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84" lvl="1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77" lvl="2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70" lvl="3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62" lvl="4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54" lvl="5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147" lvl="6" indent="-397929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739" lvl="7" indent="-397929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331" lvl="8" indent="-397929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2526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40" y="3766000"/>
            <a:ext cx="9827200" cy="3092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105" name="Google Shape;105;p10"/>
          <p:cNvSpPr/>
          <p:nvPr/>
        </p:nvSpPr>
        <p:spPr>
          <a:xfrm flipH="1">
            <a:off x="4776800" y="2067600"/>
            <a:ext cx="7415201" cy="479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106" name="Google Shape;106;p10"/>
          <p:cNvSpPr/>
          <p:nvPr/>
        </p:nvSpPr>
        <p:spPr>
          <a:xfrm>
            <a:off x="270967" y="275001"/>
            <a:ext cx="11650000" cy="630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437367" y="5551333"/>
            <a:ext cx="9886800" cy="8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609593" lvl="0" indent="-30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</a:lstStyle>
          <a:p>
            <a:endParaRPr dirty="0"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07975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7425601" y="3778767"/>
            <a:ext cx="4766400" cy="3079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1" tIns="121901" rIns="121901" bIns="12190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8"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7945629" y="5492769"/>
            <a:ext cx="3361271" cy="1365553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265534" y="4"/>
            <a:ext cx="3727217" cy="1444411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8"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847803" y="1845133"/>
            <a:ext cx="8496400" cy="18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  <a:latin typeface="Nunito" pitchFamily="2" charset="0"/>
                <a:ea typeface="Cascadia Mono" panose="020B0609020000020004" pitchFamily="49" charset="0"/>
                <a:cs typeface="Cascadia Mono" panose="020B0609020000020004" pitchFamily="49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11468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847803" y="3818467"/>
            <a:ext cx="84964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93" lvl="0" indent="-457194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ea typeface="Cascadia Mono" panose="020B0609020000020004" pitchFamily="49" charset="0"/>
                <a:cs typeface="Calibri" panose="020F0502020204030204" pitchFamily="34" charset="0"/>
              </a:defRPr>
            </a:lvl1pPr>
            <a:lvl2pPr marL="1219184" lvl="1" indent="-397929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77" lvl="2" indent="-397929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70" lvl="3" indent="-397929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62" lvl="4" indent="-397929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54" lvl="5" indent="-397929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147" lvl="6" indent="-397929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739" lvl="7" indent="-397929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331" lvl="8" indent="-397929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83162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757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DBD54C-B710-23D6-DF6A-209E0FC8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9F84-8B72-61AF-9C17-379A1DE15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4C073-40A3-F8B7-1C4B-E9E4D19F5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7FE69-65C5-B644-9658-FF544FD7C617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C87CF-3654-8271-2F51-84BC8370B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309D2-A0F7-8DDD-55ED-7130F4CF4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C2988-FF2C-1C49-A2D4-8E97766E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4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1" y="593367"/>
            <a:ext cx="11360801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11360801" cy="4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335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6AD62C-6A52-6C7A-B3EE-828C7EF74CA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694585" y="6570134"/>
            <a:ext cx="450849" cy="20512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33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764382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Cascadia Mono" panose="020B0609020000020004" pitchFamily="49" charset="0"/>
          <a:ea typeface="Cascadia Mono" panose="020B0609020000020004" pitchFamily="49" charset="0"/>
          <a:cs typeface="Cascadia Mono" panose="020B0609020000020004" pitchFamily="49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Cascadia Mono" panose="020B0609020000020004" pitchFamily="49" charset="0"/>
          <a:ea typeface="Cascadia Mono" panose="020B0609020000020004" pitchFamily="49" charset="0"/>
          <a:cs typeface="Cascadia Mono" panose="020B0609020000020004" pitchFamily="49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2090E7B8-DC79-93D6-1AA0-03CB4CD4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635" y="3"/>
            <a:ext cx="7541623" cy="296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20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F55273E6-B8EF-A53C-EE37-35EB9959D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String word and object - isolated over white">
            <a:extLst>
              <a:ext uri="{FF2B5EF4-FFF2-40B4-BE49-F238E27FC236}">
                <a16:creationId xmlns:a16="http://schemas.microsoft.com/office/drawing/2014/main" id="{1785D818-63E7-5C1C-26DB-CCD5B5D421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82893" y="1610321"/>
            <a:ext cx="4232737" cy="328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2640E484-FB65-5E2C-11B6-D8233270CF4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78273" y="2430443"/>
            <a:ext cx="7148400" cy="1930800"/>
          </a:xfrm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str</a:t>
            </a:r>
            <a:r>
              <a:rPr lang="en" dirty="0"/>
              <a:t> = “Strings”</a:t>
            </a:r>
            <a:endParaRPr dirty="0"/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C7495F0B-05E2-80F0-7A92-D8BCE5D0CD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78268" y="4550880"/>
            <a:ext cx="7148400" cy="696801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/>
            <a:r>
              <a:rPr lang="en" dirty="0"/>
              <a:t>index, slice, methods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617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381E621A-ECEE-4047-3F57-E0811D50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AE74EE-AC47-355C-922F-BA7B3F06C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289" y="2842973"/>
            <a:ext cx="2676888" cy="2404708"/>
          </a:xfrm>
          <a:prstGeom prst="rect">
            <a:avLst/>
          </a:prstGeom>
        </p:spPr>
      </p:pic>
      <p:pic>
        <p:nvPicPr>
          <p:cNvPr id="6" name="Picture 6" descr="String word and object - isolated over white">
            <a:extLst>
              <a:ext uri="{FF2B5EF4-FFF2-40B4-BE49-F238E27FC236}">
                <a16:creationId xmlns:a16="http://schemas.microsoft.com/office/drawing/2014/main" id="{3C374164-37AF-80A9-6CA0-38486C5AC8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82893" y="1610321"/>
            <a:ext cx="4232737" cy="328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5685A063-ABE9-FF65-54EB-018BAE65F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78273" y="2430443"/>
            <a:ext cx="7148400" cy="1930800"/>
          </a:xfrm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str</a:t>
            </a:r>
            <a:r>
              <a:rPr lang="en" dirty="0"/>
              <a:t> = “Strings”</a:t>
            </a:r>
            <a:endParaRPr dirty="0"/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55E1C726-E474-C3F2-364F-3E849B1EC0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78268" y="4550880"/>
            <a:ext cx="7148400" cy="696801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/>
            <a:r>
              <a:rPr lang="en" dirty="0"/>
              <a:t>index, slice, methods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29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7F56DBD-E2D6-2ABB-D126-EF3A254CA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String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2"/>
          </p:nvPr>
        </p:nvSpPr>
        <p:spPr>
          <a:xfrm>
            <a:off x="1092200" y="3289400"/>
            <a:ext cx="8028981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An ordered series of characters or symbols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Strings are the basis for computer science challenges like natural language processing (NLP) and computational genetics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ex. Siri, ChatGPT, </a:t>
            </a:r>
            <a:r>
              <a:rPr lang="en-US" dirty="0" err="1"/>
              <a:t>DigitizeMyDocs</a:t>
            </a:r>
            <a:r>
              <a:rPr lang="en-US" dirty="0"/>
              <a:t> (Ryan’s old team)</a:t>
            </a:r>
          </a:p>
        </p:txBody>
      </p:sp>
      <p:pic>
        <p:nvPicPr>
          <p:cNvPr id="37890" name="Picture 2" descr="Hey Siri, read me the news - iPhone J.D.">
            <a:extLst>
              <a:ext uri="{FF2B5EF4-FFF2-40B4-BE49-F238E27FC236}">
                <a16:creationId xmlns:a16="http://schemas.microsoft.com/office/drawing/2014/main" id="{3F6E2AA7-086E-3718-5E80-DA9ED1041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21182" y="820302"/>
            <a:ext cx="2621581" cy="521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162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F5EABF9E-17CB-4488-F805-FFE1C930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4D56DF22-D266-E7B2-1531-AE1EEF2816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97A3E2D-AC28-13B5-6045-D88315A8F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Index</a:t>
            </a:r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8C1476F4-8F13-8955-32FC-E3E4434934F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2199" y="3289400"/>
            <a:ext cx="6594628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A number (key), which provides access to a value within a string (lock).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Indices</a:t>
            </a:r>
            <a:r>
              <a:rPr lang="en-US" dirty="0"/>
              <a:t> (plural)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computing, indices usually start at 0. </a:t>
            </a:r>
            <a:r>
              <a:rPr lang="en-US" b="1" dirty="0"/>
              <a:t>‘0</a:t>
            </a:r>
            <a:r>
              <a:rPr lang="en-US" b="1" baseline="30000" dirty="0"/>
              <a:t>th</a:t>
            </a:r>
            <a:r>
              <a:rPr lang="en-US" b="1" dirty="0"/>
              <a:t> index’</a:t>
            </a:r>
          </a:p>
        </p:txBody>
      </p:sp>
      <p:pic>
        <p:nvPicPr>
          <p:cNvPr id="27650" name="Picture 2" descr="Racine's Lock &amp; Key">
            <a:extLst>
              <a:ext uri="{FF2B5EF4-FFF2-40B4-BE49-F238E27FC236}">
                <a16:creationId xmlns:a16="http://schemas.microsoft.com/office/drawing/2014/main" id="{8B45E078-DC49-9D5D-3385-CEBF80D33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86840" y="2292805"/>
            <a:ext cx="3514984" cy="234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608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57D8FEAD-D08C-6592-CE2F-995EA842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C7A101CE-2D01-20C7-B5C6-9994726CF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201" y="1127467"/>
            <a:ext cx="2910947" cy="1844000"/>
          </a:xfrm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Real Life Indices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5663A6-4899-C778-33F0-9360436236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83770" y="1127466"/>
            <a:ext cx="7716033" cy="5020693"/>
          </a:xfrm>
        </p:spPr>
        <p:txBody>
          <a:bodyPr>
            <a:normAutofit/>
          </a:bodyPr>
          <a:lstStyle/>
          <a:p>
            <a:r>
              <a:rPr lang="en-US" i="1" dirty="0">
                <a:latin typeface="+mj-lt"/>
              </a:rPr>
              <a:t>Addresses</a:t>
            </a:r>
            <a:r>
              <a:rPr lang="en-US" dirty="0">
                <a:latin typeface="+mj-lt"/>
              </a:rPr>
              <a:t>[</a:t>
            </a:r>
            <a:r>
              <a:rPr lang="en-US" b="1" dirty="0">
                <a:latin typeface="+mj-lt"/>
              </a:rPr>
              <a:t>123 Street St</a:t>
            </a:r>
            <a:r>
              <a:rPr lang="en-US" dirty="0">
                <a:latin typeface="+mj-lt"/>
              </a:rPr>
              <a:t>] =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i="1" dirty="0">
                <a:latin typeface="+mj-lt"/>
              </a:rPr>
              <a:t>Library</a:t>
            </a:r>
            <a:r>
              <a:rPr lang="en-US" dirty="0">
                <a:latin typeface="+mj-lt"/>
              </a:rPr>
              <a:t>[</a:t>
            </a:r>
            <a:r>
              <a:rPr lang="en-US" b="1" dirty="0">
                <a:latin typeface="+mj-lt"/>
              </a:rPr>
              <a:t>123-4-56-789012-3</a:t>
            </a:r>
            <a:r>
              <a:rPr lang="en-US" dirty="0">
                <a:latin typeface="+mj-lt"/>
              </a:rPr>
              <a:t>] =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i="1" dirty="0">
                <a:latin typeface="+mj-lt"/>
              </a:rPr>
              <a:t>Phones</a:t>
            </a:r>
            <a:r>
              <a:rPr lang="en-US" dirty="0">
                <a:latin typeface="+mj-lt"/>
              </a:rPr>
              <a:t>[</a:t>
            </a:r>
            <a:r>
              <a:rPr lang="en-US" b="1" dirty="0">
                <a:latin typeface="+mj-lt"/>
              </a:rPr>
              <a:t>515-123-4567</a:t>
            </a:r>
            <a:r>
              <a:rPr lang="en-US" dirty="0">
                <a:latin typeface="+mj-lt"/>
              </a:rPr>
              <a:t>] =</a:t>
            </a:r>
          </a:p>
        </p:txBody>
      </p:sp>
      <p:pic>
        <p:nvPicPr>
          <p:cNvPr id="6146" name="Picture 2" descr="How to See a Real Time Street View of My House | Techwalla">
            <a:extLst>
              <a:ext uri="{FF2B5EF4-FFF2-40B4-BE49-F238E27FC236}">
                <a16:creationId xmlns:a16="http://schemas.microsoft.com/office/drawing/2014/main" id="{72C873FD-D2F6-C83E-7F47-3F16CA625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0464" y="538066"/>
            <a:ext cx="2060120" cy="137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orld History Textbook for High School: Amazon.com">
            <a:extLst>
              <a:ext uri="{FF2B5EF4-FFF2-40B4-BE49-F238E27FC236}">
                <a16:creationId xmlns:a16="http://schemas.microsoft.com/office/drawing/2014/main" id="{1D296F3E-66E9-360A-0FBF-4539E973B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6355" y="2180448"/>
            <a:ext cx="1674229" cy="213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Virtual Visits - Saint Francis Healthcare System Southeast Missouri ...">
            <a:extLst>
              <a:ext uri="{FF2B5EF4-FFF2-40B4-BE49-F238E27FC236}">
                <a16:creationId xmlns:a16="http://schemas.microsoft.com/office/drawing/2014/main" id="{A0DE6605-7090-E64B-705F-2D65287D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15999" y="3920885"/>
            <a:ext cx="1067093" cy="214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78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E7F6-AF50-47EA-2C3D-77194BC1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95207C-74CC-5709-18E1-D9ABFF95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string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[ index ]</a:t>
            </a:r>
          </a:p>
        </p:txBody>
      </p:sp>
    </p:spTree>
    <p:extLst>
      <p:ext uri="{BB962C8B-B14F-4D97-AF65-F5344CB8AC3E}">
        <p14:creationId xmlns:p14="http://schemas.microsoft.com/office/powerpoint/2010/main" val="352149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0856733-8B0D-DBD5-3F72-D472C478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20F41ABB-69A1-47AA-5D86-AF9832A960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Individual String Facts</a:t>
            </a:r>
            <a:endParaRPr dirty="0"/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C80E470A-FE01-FB5E-D05D-30039DAED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2200" y="2654300"/>
            <a:ext cx="4914800" cy="326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len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</a:t>
            </a:r>
            <a:r>
              <a:rPr lang="en-US" dirty="0"/>
              <a:t> function tells us the number of characters in a 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 </a:t>
            </a:r>
            <a:r>
              <a:rPr lang="en-US" dirty="0"/>
              <a:t>keyword tells us if one string can fit inside the other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2959BF-14F7-B8AC-708F-9F7EFBDDC26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4901" y="2654300"/>
            <a:ext cx="4914800" cy="3715531"/>
          </a:xfrm>
        </p:spPr>
        <p:txBody>
          <a:bodyPr/>
          <a:lstStyle/>
          <a:p>
            <a:pPr marL="152399" indent="0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len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(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‘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  <a:latin typeface="+mj-lt"/>
              </a:rPr>
              <a:t>MyString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’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)</a:t>
            </a:r>
          </a:p>
          <a:p>
            <a:pPr marL="152399" indent="0">
              <a:buNone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=&gt; 8</a:t>
            </a:r>
          </a:p>
          <a:p>
            <a:pPr marL="152399" indent="0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  <a:p>
            <a:pPr marL="152399" indent="0">
              <a:buNone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‘s’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rPr>
              <a:t>in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‘string’</a:t>
            </a:r>
          </a:p>
          <a:p>
            <a:pPr marL="152399" indent="0">
              <a:buNone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=&gt; True</a:t>
            </a:r>
          </a:p>
          <a:p>
            <a:pPr marL="152399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j-lt"/>
            </a:endParaRPr>
          </a:p>
          <a:p>
            <a:pPr marL="152399" indent="0">
              <a:buNone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‘z’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rPr>
              <a:t>in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‘string’</a:t>
            </a:r>
          </a:p>
          <a:p>
            <a:pPr marL="152399" indent="0">
              <a:buNone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=&gt; False</a:t>
            </a:r>
          </a:p>
          <a:p>
            <a:pPr marL="152399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882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94118EBD-9861-8233-1B3F-832FFC33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53048EEA-84BE-CFA0-E0E9-DB4FCD4A4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449C5AE-69DD-385F-4CD8-081BC2AC2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Keyword</a:t>
            </a:r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C0478086-A220-5B96-590F-8DF460B08E9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2200" y="3289400"/>
            <a:ext cx="6535949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Words that are reserved solely for the purpose of special programming syntax within a certain language.  Keywords cannot be used as identifiers like variable names.</a:t>
            </a:r>
          </a:p>
          <a:p>
            <a:pPr marL="0" indent="0">
              <a:buNone/>
            </a:pPr>
            <a:r>
              <a:rPr lang="en-US" dirty="0"/>
              <a:t>ex.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=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‘not allowed’</a:t>
            </a:r>
            <a:endParaRPr lang="en-US" dirty="0"/>
          </a:p>
        </p:txBody>
      </p:sp>
      <p:pic>
        <p:nvPicPr>
          <p:cNvPr id="28674" name="Picture 2" descr="Reserved Table Stock Photo - Download Image Now - iStock">
            <a:extLst>
              <a:ext uri="{FF2B5EF4-FFF2-40B4-BE49-F238E27FC236}">
                <a16:creationId xmlns:a16="http://schemas.microsoft.com/office/drawing/2014/main" id="{C49E9FEF-4EDD-3AD8-667C-81D4901AE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71381" y="2090116"/>
            <a:ext cx="3572844" cy="267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450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C80FE325-6B4C-6D8F-C5D2-2C8C1980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E96B53E8-D2C4-40AF-3F8B-94126BC99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 err="1">
                <a:solidFill>
                  <a:schemeClr val="tx2">
                    <a:lumMod val="10000"/>
                  </a:schemeClr>
                </a:solidFill>
                <a:latin typeface="+mj-lt"/>
              </a:rPr>
              <a:t>secretString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Exercise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8925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AAB2-8E1F-C0FF-FC09-EC2D887C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AA6B12-431B-A9A8-1A6E-EC872E30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O I C E</a:t>
            </a:r>
            <a:br>
              <a:rPr lang="en-US" dirty="0"/>
            </a:br>
            <a:r>
              <a:rPr lang="en-US" dirty="0"/>
              <a:t>job</a:t>
            </a:r>
          </a:p>
        </p:txBody>
      </p:sp>
      <p:pic>
        <p:nvPicPr>
          <p:cNvPr id="79874" name="Picture 2">
            <a:extLst>
              <a:ext uri="{FF2B5EF4-FFF2-40B4-BE49-F238E27FC236}">
                <a16:creationId xmlns:a16="http://schemas.microsoft.com/office/drawing/2014/main" id="{BC0D1590-BA30-DDF1-F73D-8FEA8992D2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738640" y="467307"/>
            <a:ext cx="2728081" cy="240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221E5D0-843E-FE7B-8FE7-1B85D63EE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3999" y="631481"/>
            <a:ext cx="2525747" cy="448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9DF4FF1F-5520-C1E4-C30B-359A2B8D2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780387" y="3051943"/>
            <a:ext cx="2106136" cy="317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477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3A770-1988-7317-9C18-0801F0E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only want a certain part of a string?</a:t>
            </a:r>
          </a:p>
        </p:txBody>
      </p:sp>
    </p:spTree>
    <p:extLst>
      <p:ext uri="{BB962C8B-B14F-4D97-AF65-F5344CB8AC3E}">
        <p14:creationId xmlns:p14="http://schemas.microsoft.com/office/powerpoint/2010/main" val="141709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7F56DBD-E2D6-2ABB-D126-EF3A254CA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Substring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2"/>
          </p:nvPr>
        </p:nvSpPr>
        <p:spPr>
          <a:xfrm>
            <a:off x="1092200" y="3289400"/>
            <a:ext cx="6535949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A string that exists within another 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ex. ‘Sand’ - ‘and’</a:t>
            </a:r>
          </a:p>
          <a:p>
            <a:pPr marL="0" indent="0">
              <a:buNone/>
            </a:pPr>
            <a:r>
              <a:rPr lang="en-US" dirty="0"/>
              <a:t>ex. ‘Something’ - ‘some’, ‘thing’</a:t>
            </a:r>
          </a:p>
          <a:p>
            <a:pPr marL="0" indent="0">
              <a:buNone/>
            </a:pPr>
            <a:r>
              <a:rPr lang="en-US" dirty="0"/>
              <a:t>ex. ‘Noice’ - ‘no’, ‘ice’</a:t>
            </a:r>
          </a:p>
        </p:txBody>
      </p:sp>
    </p:spTree>
    <p:extLst>
      <p:ext uri="{BB962C8B-B14F-4D97-AF65-F5344CB8AC3E}">
        <p14:creationId xmlns:p14="http://schemas.microsoft.com/office/powerpoint/2010/main" val="3286889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Exercise 3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1092201" y="2654300"/>
            <a:ext cx="10007599" cy="326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Use index accessors to print out the substring “Some” from the larger string “Something”</a:t>
            </a:r>
          </a:p>
        </p:txBody>
      </p:sp>
    </p:spTree>
    <p:extLst>
      <p:ext uri="{BB962C8B-B14F-4D97-AF65-F5344CB8AC3E}">
        <p14:creationId xmlns:p14="http://schemas.microsoft.com/office/powerpoint/2010/main" val="3834658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AB996339-9FAA-5273-51EA-482AFECB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68BDF549-D8B5-0846-6790-3270F5E045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N O I C E Job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9A1919-2CCD-0817-0EDE-1CCF4ECFE3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92102" y="3755900"/>
            <a:ext cx="5908617" cy="2162400"/>
          </a:xfrm>
        </p:spPr>
        <p:txBody>
          <a:bodyPr>
            <a:normAutofit/>
          </a:bodyPr>
          <a:lstStyle/>
          <a:p>
            <a:pPr marL="152399" indent="0">
              <a:buNone/>
            </a:pPr>
            <a:endParaRPr lang="en-US" dirty="0"/>
          </a:p>
          <a:p>
            <a:pPr marL="152399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3521EE-FDC4-FDC8-91C9-72ECB64B5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68836" y="2400267"/>
            <a:ext cx="393700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856EA4CE-F2E3-7FDD-8166-67D872B1E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00719" y="2321029"/>
            <a:ext cx="2796981" cy="340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532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1EB37F-158F-9272-12A8-08FEB370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there’s an easier way?</a:t>
            </a:r>
          </a:p>
        </p:txBody>
      </p:sp>
    </p:spTree>
    <p:extLst>
      <p:ext uri="{BB962C8B-B14F-4D97-AF65-F5344CB8AC3E}">
        <p14:creationId xmlns:p14="http://schemas.microsoft.com/office/powerpoint/2010/main" val="912701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Introducing Slices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1092200" y="2654300"/>
            <a:ext cx="9887120" cy="326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Remember math class?  Domains?  Ranges?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x is defined on domain [0,3]…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 kind of has its own version of this called slices.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20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73FC29-C52D-B5C0-CA89-F22EF95C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string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[ start : stop ]</a:t>
            </a:r>
          </a:p>
        </p:txBody>
      </p:sp>
    </p:spTree>
    <p:extLst>
      <p:ext uri="{BB962C8B-B14F-4D97-AF65-F5344CB8AC3E}">
        <p14:creationId xmlns:p14="http://schemas.microsoft.com/office/powerpoint/2010/main" val="4144198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Exercise 3b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1092200" y="2654300"/>
            <a:ext cx="10304387" cy="326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Use slices to print out the substring “Some” from the larger string “Something”</a:t>
            </a:r>
          </a:p>
        </p:txBody>
      </p:sp>
    </p:spTree>
    <p:extLst>
      <p:ext uri="{BB962C8B-B14F-4D97-AF65-F5344CB8AC3E}">
        <p14:creationId xmlns:p14="http://schemas.microsoft.com/office/powerpoint/2010/main" val="3280018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3A770-1988-7317-9C18-0801F0E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O I C E</a:t>
            </a:r>
            <a:br>
              <a:rPr lang="en-US" dirty="0"/>
            </a:br>
            <a:r>
              <a:rPr lang="en-US" dirty="0"/>
              <a:t>job</a:t>
            </a:r>
          </a:p>
        </p:txBody>
      </p:sp>
      <p:pic>
        <p:nvPicPr>
          <p:cNvPr id="84994" name="Picture 2">
            <a:extLst>
              <a:ext uri="{FF2B5EF4-FFF2-40B4-BE49-F238E27FC236}">
                <a16:creationId xmlns:a16="http://schemas.microsoft.com/office/drawing/2014/main" id="{A6A63B92-1FA5-7C98-7AB5-6B97C04A3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39127" y="1968500"/>
            <a:ext cx="3124200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9C140E6-96DC-1012-DD2D-F052B0B6B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6544" y="1883317"/>
            <a:ext cx="3798251" cy="293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108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Translating Slice Syntax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“Everything from 0 to 4 except 4”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61B1CF-EC59-69A5-9C23-10C4625E931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[</a:t>
            </a:r>
            <a:r>
              <a:rPr lang="en-US" dirty="0">
                <a:latin typeface="+mj-lt"/>
              </a:rPr>
              <a:t>0:4]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‘Some’</a:t>
            </a:r>
          </a:p>
        </p:txBody>
      </p:sp>
    </p:spTree>
    <p:extLst>
      <p:ext uri="{BB962C8B-B14F-4D97-AF65-F5344CB8AC3E}">
        <p14:creationId xmlns:p14="http://schemas.microsoft.com/office/powerpoint/2010/main" val="3098263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Slices Save Time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1092201" y="2654300"/>
            <a:ext cx="4580012" cy="326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Imagine writing this except with a string from 0 to 100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61B1CF-EC59-69A5-9C23-10C4625E931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a</a:t>
            </a:r>
            <a:r>
              <a:rPr lang="en-US" dirty="0">
                <a:latin typeface="+mj-lt"/>
              </a:rPr>
              <a:t> =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[0] # ‘S’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b</a:t>
            </a:r>
            <a:r>
              <a:rPr lang="en-US" dirty="0">
                <a:latin typeface="+mj-lt"/>
              </a:rPr>
              <a:t> =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[1] # ‘o’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c</a:t>
            </a:r>
            <a:r>
              <a:rPr lang="en-US" dirty="0">
                <a:latin typeface="+mj-lt"/>
              </a:rPr>
              <a:t> =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[2] # ‘m’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d</a:t>
            </a:r>
            <a:r>
              <a:rPr lang="en-US" dirty="0">
                <a:latin typeface="+mj-lt"/>
              </a:rPr>
              <a:t> =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[3] # ‘e’</a:t>
            </a:r>
          </a:p>
        </p:txBody>
      </p:sp>
    </p:spTree>
    <p:extLst>
      <p:ext uri="{BB962C8B-B14F-4D97-AF65-F5344CB8AC3E}">
        <p14:creationId xmlns:p14="http://schemas.microsoft.com/office/powerpoint/2010/main" val="2665163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More Slice Stuff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What happens if we leave out parts of the domain?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happens if we use negative numbers?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F852B-A940-BC53-5D75-EE7B6C824EF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52399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[:4]</a:t>
            </a:r>
          </a:p>
          <a:p>
            <a:pPr marL="152399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[0:]</a:t>
            </a:r>
          </a:p>
          <a:p>
            <a:pPr marL="152399" indent="0">
              <a:buNone/>
            </a:pPr>
            <a:endParaRPr lang="en-US" dirty="0">
              <a:latin typeface="+mj-lt"/>
            </a:endParaRPr>
          </a:p>
          <a:p>
            <a:pPr marL="152399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[0:-1]</a:t>
            </a:r>
          </a:p>
          <a:p>
            <a:pPr marL="152399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‘Something’</a:t>
            </a:r>
            <a:r>
              <a:rPr lang="en-US" dirty="0">
                <a:latin typeface="+mj-lt"/>
              </a:rPr>
              <a:t>[-1:-4]</a:t>
            </a:r>
          </a:p>
        </p:txBody>
      </p:sp>
    </p:spTree>
    <p:extLst>
      <p:ext uri="{BB962C8B-B14F-4D97-AF65-F5344CB8AC3E}">
        <p14:creationId xmlns:p14="http://schemas.microsoft.com/office/powerpoint/2010/main" val="2428495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Negative Indices Explained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Negative indices are really just regular indices with an implied length expression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F852B-A940-BC53-5D75-EE7B6C824EF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4901" y="2654300"/>
            <a:ext cx="5459436" cy="326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 = “NoIce”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[0:-1]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[0: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len</a:t>
            </a:r>
            <a:r>
              <a:rPr lang="en-US" dirty="0">
                <a:latin typeface="+mj-lt"/>
              </a:rPr>
              <a:t>(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) – 1]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[0:5 – 1]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[0:4]</a:t>
            </a:r>
          </a:p>
        </p:txBody>
      </p:sp>
    </p:spTree>
    <p:extLst>
      <p:ext uri="{BB962C8B-B14F-4D97-AF65-F5344CB8AC3E}">
        <p14:creationId xmlns:p14="http://schemas.microsoft.com/office/powerpoint/2010/main" val="991466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Negative Indices Explained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Negative indices are really just regular indices with an implied expression with the string length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F852B-A940-BC53-5D75-EE7B6C824EF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4901" y="2654300"/>
            <a:ext cx="5459436" cy="326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 = “NoIce”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[-3:]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len</a:t>
            </a:r>
            <a:r>
              <a:rPr lang="en-US" dirty="0">
                <a:latin typeface="+mj-lt"/>
              </a:rPr>
              <a:t>(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) – 3:]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[5 - 3:]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ex</a:t>
            </a:r>
            <a:r>
              <a:rPr lang="en-US" dirty="0">
                <a:latin typeface="+mj-lt"/>
              </a:rPr>
              <a:t>[2:]</a:t>
            </a:r>
          </a:p>
        </p:txBody>
      </p:sp>
    </p:spTree>
    <p:extLst>
      <p:ext uri="{BB962C8B-B14F-4D97-AF65-F5344CB8AC3E}">
        <p14:creationId xmlns:p14="http://schemas.microsoft.com/office/powerpoint/2010/main" val="615682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Programming 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7F56DBD-E2D6-2ABB-D126-EF3A254CA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Expression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2"/>
          </p:nvPr>
        </p:nvSpPr>
        <p:spPr>
          <a:xfrm>
            <a:off x="1092201" y="3289400"/>
            <a:ext cx="9750204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Code that can go on the right side of the assignment operator (‘=‘)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Sometimes you can </a:t>
            </a:r>
            <a:r>
              <a:rPr lang="en-US" i="1" dirty="0"/>
              <a:t>inline</a:t>
            </a:r>
            <a:r>
              <a:rPr lang="en-US" dirty="0"/>
              <a:t> an </a:t>
            </a:r>
            <a:r>
              <a:rPr lang="en-US" i="1" dirty="0"/>
              <a:t>expression</a:t>
            </a:r>
            <a:r>
              <a:rPr lang="en-US" dirty="0"/>
              <a:t> into other syntax, which can remove the need for an extra variable</a:t>
            </a:r>
          </a:p>
          <a:p>
            <a:pPr marL="0" indent="0">
              <a:buNone/>
            </a:pPr>
            <a:endParaRPr lang="en-US" dirty="0"/>
          </a:p>
          <a:p>
            <a:pPr marL="0" indent="0" defTabSz="1219170">
              <a:buClr>
                <a:srgbClr val="233A44"/>
              </a:buClr>
              <a:buNone/>
              <a:defRPr/>
            </a:pP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example</a:t>
            </a:r>
            <a:r>
              <a:rPr lang="en-US" sz="2400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[0: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len</a:t>
            </a:r>
            <a:r>
              <a:rPr lang="en-US" sz="2400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example</a:t>
            </a:r>
            <a:r>
              <a:rPr lang="en-US" sz="2400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) – 1]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963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3A770-1988-7317-9C18-0801F0E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O I C E</a:t>
            </a:r>
            <a:br>
              <a:rPr lang="en-US" dirty="0"/>
            </a:br>
            <a:r>
              <a:rPr lang="en-US" dirty="0"/>
              <a:t>job</a:t>
            </a:r>
          </a:p>
        </p:txBody>
      </p:sp>
      <p:pic>
        <p:nvPicPr>
          <p:cNvPr id="87044" name="Picture 4">
            <a:extLst>
              <a:ext uri="{FF2B5EF4-FFF2-40B4-BE49-F238E27FC236}">
                <a16:creationId xmlns:a16="http://schemas.microsoft.com/office/drawing/2014/main" id="{ED54A941-A972-2A99-4FAD-7245E33A4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89521" y="2174241"/>
            <a:ext cx="4139800" cy="364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6D08BAB-BD5F-ACBA-81E6-3B8F7A260D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6625" y="763238"/>
            <a:ext cx="3133484" cy="472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295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String Methods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3837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String Methods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1092202" y="2654300"/>
            <a:ext cx="8687477" cy="326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All strings have functions called </a:t>
            </a:r>
            <a:r>
              <a:rPr lang="en-US" i="1" dirty="0"/>
              <a:t>methods </a:t>
            </a:r>
            <a:r>
              <a:rPr lang="en-US" dirty="0"/>
              <a:t>that can be accessed by using the </a:t>
            </a:r>
            <a:r>
              <a:rPr lang="en-US" i="1" dirty="0"/>
              <a:t>dot operator</a:t>
            </a:r>
            <a:r>
              <a:rPr lang="en-US" dirty="0"/>
              <a:t> (‘.’).  These </a:t>
            </a:r>
            <a:r>
              <a:rPr lang="en-US" i="1" dirty="0"/>
              <a:t>methods </a:t>
            </a:r>
            <a:r>
              <a:rPr lang="en-US" dirty="0"/>
              <a:t>allow us to handle strings in complex ways.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00537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7F56DBD-E2D6-2ABB-D126-EF3A254CA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Method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2"/>
          </p:nvPr>
        </p:nvSpPr>
        <p:spPr>
          <a:xfrm>
            <a:off x="1092200" y="3289400"/>
            <a:ext cx="8400608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Methods are functions that exist as properties on certain variables, data, or objects in a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2976946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xfrm>
            <a:off x="984488" y="1734863"/>
            <a:ext cx="10477296" cy="3385600"/>
          </a:xfrm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String.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method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parameters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379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Exercise 5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F852B-A940-BC53-5D75-EE7B6C82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199" y="2654300"/>
            <a:ext cx="5649260" cy="326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Capitalize your </a:t>
            </a:r>
            <a:r>
              <a:rPr lang="en-US" b="1" dirty="0" err="1">
                <a:latin typeface="+mj-lt"/>
                <a:cs typeface="Cascadia Mono" panose="020B0609020000020004" pitchFamily="49" charset="0"/>
              </a:rPr>
              <a:t>firstName</a:t>
            </a:r>
            <a:endParaRPr lang="en-US" b="1" dirty="0">
              <a:latin typeface="+mj-lt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Make your </a:t>
            </a:r>
            <a:r>
              <a:rPr lang="en-US" b="1" dirty="0" err="1">
                <a:latin typeface="+mj-lt"/>
                <a:cs typeface="Cascadia Mono" panose="020B0609020000020004" pitchFamily="49" charset="0"/>
              </a:rPr>
              <a:t>firstName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all uppercase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Make your </a:t>
            </a:r>
            <a:r>
              <a:rPr lang="en-US" b="1" dirty="0" err="1">
                <a:latin typeface="+mj-lt"/>
                <a:cs typeface="Cascadia Mono" panose="020B0609020000020004" pitchFamily="49" charset="0"/>
              </a:rPr>
              <a:t>firstName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all lowercase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+mj-lt"/>
                <a:cs typeface="Cascadia Mono" panose="020B0609020000020004" pitchFamily="49" charset="0"/>
              </a:rPr>
              <a:t>‘</a:t>
            </a:r>
            <a:r>
              <a:rPr lang="en-US" dirty="0" err="1">
                <a:latin typeface="+mj-lt"/>
                <a:cs typeface="Cascadia Mono" panose="020B0609020000020004" pitchFamily="49" charset="0"/>
              </a:rPr>
              <a:t>No</a:t>
            </a:r>
            <a:r>
              <a:rPr lang="en-US" b="1" dirty="0" err="1">
                <a:latin typeface="+mj-lt"/>
                <a:cs typeface="Cascadia Mono" panose="020B0609020000020004" pitchFamily="49" charset="0"/>
              </a:rPr>
              <a:t>Ice</a:t>
            </a:r>
            <a:r>
              <a:rPr lang="en-US" dirty="0">
                <a:latin typeface="+mj-lt"/>
                <a:cs typeface="Cascadia Mono" panose="020B0609020000020004" pitchFamily="49" charset="0"/>
              </a:rPr>
              <a:t>’ </a:t>
            </a:r>
            <a:r>
              <a:rPr lang="en-US" dirty="0">
                <a:latin typeface="+mj-lt"/>
              </a:rPr>
              <a:t>to </a:t>
            </a:r>
            <a:r>
              <a:rPr lang="en-US" dirty="0">
                <a:latin typeface="+mj-lt"/>
                <a:cs typeface="Cascadia Mono" panose="020B0609020000020004" pitchFamily="49" charset="0"/>
              </a:rPr>
              <a:t>‘</a:t>
            </a:r>
            <a:r>
              <a:rPr lang="en-US" b="1" dirty="0" err="1">
                <a:latin typeface="+mj-lt"/>
                <a:cs typeface="Cascadia Mono" panose="020B0609020000020004" pitchFamily="49" charset="0"/>
              </a:rPr>
              <a:t>Noice</a:t>
            </a:r>
            <a:r>
              <a:rPr lang="en-US" dirty="0">
                <a:latin typeface="+mj-lt"/>
                <a:cs typeface="Cascadia Mono" panose="020B0609020000020004" pitchFamily="49" charset="0"/>
              </a:rPr>
              <a:t>’ </a:t>
            </a:r>
            <a:r>
              <a:rPr lang="en-US" dirty="0"/>
              <a:t>in one line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7A64D1-53DC-FE57-E3A0-A98A00C7F56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4901" y="2654299"/>
            <a:ext cx="5505075" cy="3611215"/>
          </a:xfrm>
        </p:spPr>
        <p:txBody>
          <a:bodyPr/>
          <a:lstStyle/>
          <a:p>
            <a:pPr marL="152399" indent="0">
              <a:buNone/>
            </a:pPr>
            <a:r>
              <a:rPr lang="en-US" dirty="0" err="1">
                <a:latin typeface="+mj-lt"/>
              </a:rPr>
              <a:t>firstName.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capitalize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()</a:t>
            </a:r>
          </a:p>
          <a:p>
            <a:pPr marL="152399" indent="0">
              <a:buNone/>
            </a:pPr>
            <a:endParaRPr lang="en-US" dirty="0">
              <a:latin typeface="+mj-lt"/>
            </a:endParaRPr>
          </a:p>
          <a:p>
            <a:pPr marL="152399" indent="0">
              <a:buNone/>
            </a:pPr>
            <a:r>
              <a:rPr lang="en-US" dirty="0" err="1">
                <a:latin typeface="+mj-lt"/>
              </a:rPr>
              <a:t>firstName.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upper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()</a:t>
            </a:r>
          </a:p>
          <a:p>
            <a:pPr marL="152399" indent="0">
              <a:buNone/>
            </a:pPr>
            <a:endParaRPr lang="en-US" dirty="0">
              <a:latin typeface="+mj-lt"/>
            </a:endParaRPr>
          </a:p>
          <a:p>
            <a:pPr marL="152399" indent="0">
              <a:buNone/>
            </a:pPr>
            <a:r>
              <a:rPr lang="en-US" dirty="0" err="1">
                <a:latin typeface="+mj-lt"/>
              </a:rPr>
              <a:t>firstName.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lower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()</a:t>
            </a:r>
          </a:p>
          <a:p>
            <a:pPr marL="152399" indent="0">
              <a:buNone/>
            </a:pPr>
            <a:endParaRPr lang="en-US" dirty="0">
              <a:latin typeface="+mj-lt"/>
            </a:endParaRPr>
          </a:p>
          <a:p>
            <a:pPr marL="152399" indent="0">
              <a:buNone/>
            </a:pPr>
            <a:r>
              <a:rPr lang="en-US" dirty="0">
                <a:latin typeface="+mj-lt"/>
              </a:rPr>
              <a:t>‘</a:t>
            </a:r>
            <a:r>
              <a:rPr lang="en-US" dirty="0" err="1">
                <a:latin typeface="+mj-lt"/>
              </a:rPr>
              <a:t>NoIce</a:t>
            </a:r>
            <a:r>
              <a:rPr lang="en-US" dirty="0">
                <a:latin typeface="+mj-lt"/>
              </a:rPr>
              <a:t>’.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lower()</a:t>
            </a:r>
            <a:r>
              <a:rPr lang="en-US" dirty="0">
                <a:latin typeface="+mj-lt"/>
              </a:rPr>
              <a:t>.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capitalize()</a:t>
            </a:r>
          </a:p>
        </p:txBody>
      </p:sp>
    </p:spTree>
    <p:extLst>
      <p:ext uri="{BB962C8B-B14F-4D97-AF65-F5344CB8AC3E}">
        <p14:creationId xmlns:p14="http://schemas.microsoft.com/office/powerpoint/2010/main" val="650530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3A770-1988-7317-9C18-0801F0E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O I C E</a:t>
            </a:r>
            <a:br>
              <a:rPr lang="en-US" dirty="0"/>
            </a:br>
            <a:r>
              <a:rPr lang="en-US" dirty="0"/>
              <a:t>job</a:t>
            </a:r>
          </a:p>
        </p:txBody>
      </p:sp>
      <p:pic>
        <p:nvPicPr>
          <p:cNvPr id="88066" name="Picture 2">
            <a:extLst>
              <a:ext uri="{FF2B5EF4-FFF2-40B4-BE49-F238E27FC236}">
                <a16:creationId xmlns:a16="http://schemas.microsoft.com/office/drawing/2014/main" id="{AB87408D-F999-6B00-AD26-0C114036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2713" y="543625"/>
            <a:ext cx="2984796" cy="530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76220A2-3D42-E9D1-0093-FD78B21C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4495" y="439495"/>
            <a:ext cx="3246832" cy="432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B682352-C577-E8BF-BC2A-AC59F184C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67852" y="3756460"/>
            <a:ext cx="4363475" cy="27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341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7C1B6E5A-5951-9D1A-A616-AD265A56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BEFBCF3E-2452-1ACE-AC2E-E71CC437B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6D06E4BA-0B23-020F-6335-1DAAEEA0386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2201" y="3289400"/>
            <a:ext cx="7631273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Sequential access of properties or methods originating from the same variable, data, or object.  This programming pattern can be more readable sometimes.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myVariable</a:t>
            </a:r>
          </a:p>
          <a:p>
            <a:pPr marL="0" indent="0">
              <a:buNone/>
            </a:pPr>
            <a:r>
              <a:rPr lang="en-US" dirty="0"/>
              <a:t>  .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filter(</a:t>
            </a:r>
            <a:r>
              <a:rPr lang="en-US" dirty="0"/>
              <a:t>unwanted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.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sum()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83A84-EC1A-DDC9-C154-A5CBBF9446B2}"/>
              </a:ext>
            </a:extLst>
          </p:cNvPr>
          <p:cNvSpPr txBox="1"/>
          <p:nvPr/>
        </p:nvSpPr>
        <p:spPr>
          <a:xfrm>
            <a:off x="3889706" y="4313384"/>
            <a:ext cx="6192093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399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‘NoIce’</a:t>
            </a:r>
          </a:p>
          <a:p>
            <a:pPr marL="152399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.</a:t>
            </a:r>
            <a:r>
              <a:rPr lang="en-US" sz="1867" kern="0" dirty="0">
                <a:solidFill>
                  <a:srgbClr val="D9563F">
                    <a:lumMod val="60000"/>
                    <a:lumOff val="40000"/>
                  </a:srgbClr>
                </a:solidFill>
                <a:latin typeface="Arial"/>
                <a:cs typeface="Arial"/>
                <a:sym typeface="Arial"/>
              </a:rPr>
              <a:t>lower()</a:t>
            </a:r>
          </a:p>
          <a:p>
            <a:pPr marL="152399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D9563F">
                    <a:lumMod val="60000"/>
                    <a:lumOff val="40000"/>
                  </a:srgbClr>
                </a:solidFill>
                <a:latin typeface="Arial"/>
                <a:cs typeface="Arial"/>
                <a:sym typeface="Arial"/>
              </a:rPr>
              <a:t>  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</a:t>
            </a:r>
            <a:r>
              <a:rPr lang="en-US" sz="1867" kern="0" dirty="0">
                <a:solidFill>
                  <a:srgbClr val="D9563F">
                    <a:lumMod val="60000"/>
                    <a:lumOff val="40000"/>
                  </a:srgbClr>
                </a:solidFill>
                <a:latin typeface="Arial"/>
                <a:cs typeface="Arial"/>
                <a:sym typeface="Arial"/>
              </a:rPr>
              <a:t>capitalize()</a:t>
            </a:r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B3349180-B439-1134-8F5D-A527439AAE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Cascadia Mono" panose="020B0609020000020004" pitchFamily="49" charset="0"/>
                <a:cs typeface="Calibri" panose="020F0502020204030204" pitchFamily="34" charset="0"/>
                <a:sym typeface="Calibri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Chaining</a:t>
            </a:r>
          </a:p>
        </p:txBody>
      </p:sp>
    </p:spTree>
    <p:extLst>
      <p:ext uri="{BB962C8B-B14F-4D97-AF65-F5344CB8AC3E}">
        <p14:creationId xmlns:p14="http://schemas.microsoft.com/office/powerpoint/2010/main" val="1170479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7F56DBD-E2D6-2ABB-D126-EF3A254CA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Immutable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2"/>
          </p:nvPr>
        </p:nvSpPr>
        <p:spPr>
          <a:xfrm>
            <a:off x="1092200" y="3289400"/>
            <a:ext cx="8993909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Once a string is initialized or returned from a method, the string is considered constant and </a:t>
            </a:r>
            <a:r>
              <a:rPr lang="en-US" i="1" dirty="0"/>
              <a:t>immutable</a:t>
            </a:r>
            <a:r>
              <a:rPr lang="en-US" dirty="0"/>
              <a:t>. Directly changing strings is forbidden in Python.</a:t>
            </a:r>
          </a:p>
          <a:p>
            <a:pPr marL="0" indent="0">
              <a:buNone/>
            </a:pPr>
            <a:endParaRPr lang="en-US" dirty="0">
              <a:solidFill>
                <a:srgbClr val="233A44"/>
              </a:solidFill>
              <a:latin typeface="+mj-lt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noIce</a:t>
            </a:r>
            <a:r>
              <a:rPr lang="en-US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‘</a:t>
            </a:r>
            <a:r>
              <a:rPr lang="en-US" sz="2400" dirty="0" err="1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NoIce</a:t>
            </a:r>
            <a:r>
              <a:rPr lang="en-US" sz="2400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’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noIce</a:t>
            </a:r>
            <a:r>
              <a:rPr lang="en-US" sz="2400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[2] = ‘</a:t>
            </a:r>
            <a:r>
              <a:rPr lang="en-US" sz="2400" dirty="0" err="1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233A44"/>
                </a:solidFill>
                <a:latin typeface="+mj-lt"/>
                <a:ea typeface="Cascadia Mono" panose="020B0609020000020004" pitchFamily="49" charset="0"/>
                <a:cs typeface="Cascadia Mono" panose="020B0609020000020004" pitchFamily="49" charset="0"/>
              </a:rPr>
              <a:t>’    # …??? </a:t>
            </a:r>
            <a:endParaRPr 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A9849-5118-2210-E5C0-E0B97EA7300C}"/>
              </a:ext>
            </a:extLst>
          </p:cNvPr>
          <p:cNvSpPr txBox="1"/>
          <p:nvPr/>
        </p:nvSpPr>
        <p:spPr>
          <a:xfrm>
            <a:off x="5111470" y="4351978"/>
            <a:ext cx="6192093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399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‘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NoIce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’            	# memory – ‘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NoIce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’ </a:t>
            </a:r>
          </a:p>
          <a:p>
            <a:pPr marL="152399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.</a:t>
            </a:r>
            <a:r>
              <a:rPr lang="en-US" sz="1867" kern="0" dirty="0">
                <a:solidFill>
                  <a:srgbClr val="D9563F">
                    <a:lumMod val="60000"/>
                    <a:lumOff val="40000"/>
                  </a:srgbClr>
                </a:solidFill>
                <a:latin typeface="Arial"/>
                <a:cs typeface="Arial"/>
                <a:sym typeface="Arial"/>
              </a:rPr>
              <a:t>lower()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		# ‘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noice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’</a:t>
            </a:r>
            <a:endParaRPr lang="en-US" sz="1867" kern="0" dirty="0">
              <a:solidFill>
                <a:srgbClr val="D9563F">
                  <a:lumMod val="60000"/>
                  <a:lumOff val="40000"/>
                </a:srgbClr>
              </a:solidFill>
              <a:latin typeface="Arial"/>
              <a:cs typeface="Arial"/>
              <a:sym typeface="Arial"/>
            </a:endParaRPr>
          </a:p>
          <a:p>
            <a:pPr marL="152399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D9563F">
                    <a:lumMod val="60000"/>
                    <a:lumOff val="40000"/>
                  </a:srgbClr>
                </a:solidFill>
                <a:latin typeface="Arial"/>
                <a:cs typeface="Arial"/>
                <a:sym typeface="Arial"/>
              </a:rPr>
              <a:t>  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</a:t>
            </a:r>
            <a:r>
              <a:rPr lang="en-US" sz="1867" kern="0" dirty="0">
                <a:solidFill>
                  <a:srgbClr val="D9563F">
                    <a:lumMod val="60000"/>
                    <a:lumOff val="40000"/>
                  </a:srgbClr>
                </a:solidFill>
                <a:latin typeface="Arial"/>
                <a:cs typeface="Arial"/>
                <a:sym typeface="Arial"/>
              </a:rPr>
              <a:t>capitalize()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	# ‘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Noice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’</a:t>
            </a:r>
            <a:endParaRPr lang="en-US" sz="1867" kern="0" dirty="0">
              <a:solidFill>
                <a:srgbClr val="D9563F">
                  <a:lumMod val="60000"/>
                  <a:lumOff val="40000"/>
                </a:srgbClr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" name="Picture 2" descr="Egyptian pyramids - Wikipedia">
            <a:extLst>
              <a:ext uri="{FF2B5EF4-FFF2-40B4-BE49-F238E27FC236}">
                <a16:creationId xmlns:a16="http://schemas.microsoft.com/office/drawing/2014/main" id="{04B8B1B2-575C-2ED0-14FB-E6B44702D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5169" y="1089571"/>
            <a:ext cx="2942136" cy="195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113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5B6F9A18-C079-5A14-CD05-1423969C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97F6F585-786D-3D5D-CCBA-32CCDEEEB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D255837-0F0F-A4F0-CFEB-C7FB30FAB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Idempotent</a:t>
            </a:r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23F1F846-81C2-C3C5-4250-5537CCA082F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2199" y="3754312"/>
            <a:ext cx="10049108" cy="2329088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no matter how many times you execute 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something</a:t>
            </a:r>
            <a:r>
              <a:rPr lang="en-US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, you always get the same result for the same input</a:t>
            </a:r>
          </a:p>
          <a:p>
            <a:pPr marL="0" indent="0">
              <a:buNone/>
            </a:pPr>
            <a:endParaRPr lang="en-US" dirty="0">
              <a:solidFill>
                <a:srgbClr val="040C28"/>
              </a:solidFill>
              <a:latin typeface="Google San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40C28"/>
                </a:solidFill>
                <a:latin typeface="Google Sans"/>
              </a:rPr>
              <a:t>This concept will become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very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important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 in mathematics, computer science, and especially in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software engineering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(i.e. API development).</a:t>
            </a:r>
            <a:endParaRPr lang="en-US" b="1" dirty="0">
              <a:latin typeface="+mj-lt"/>
            </a:endParaRPr>
          </a:p>
        </p:txBody>
      </p:sp>
      <p:pic>
        <p:nvPicPr>
          <p:cNvPr id="2050" name="Picture 2" descr="We are Crazy but not Insane. Albert Einstein (a creative… | by Femi Longe |  Medium">
            <a:extLst>
              <a:ext uri="{FF2B5EF4-FFF2-40B4-BE49-F238E27FC236}">
                <a16:creationId xmlns:a16="http://schemas.microsoft.com/office/drawing/2014/main" id="{34BAF5B7-6176-A661-BB1C-4BE645EE7C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64" t="7975"/>
          <a:stretch/>
        </p:blipFill>
        <p:spPr bwMode="auto">
          <a:xfrm>
            <a:off x="5944562" y="246023"/>
            <a:ext cx="5976457" cy="328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035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D9FE8C80-56BE-8F2C-4AD0-E750C2B14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>
            <a:extLst>
              <a:ext uri="{FF2B5EF4-FFF2-40B4-BE49-F238E27FC236}">
                <a16:creationId xmlns:a16="http://schemas.microsoft.com/office/drawing/2014/main" id="{55D7277A-8549-14C3-4D0E-28F438DBD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207F433-EDF3-98CE-DDA1-C4F7B9D2B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Idempotent</a:t>
            </a:r>
          </a:p>
        </p:txBody>
      </p:sp>
      <p:sp>
        <p:nvSpPr>
          <p:cNvPr id="254" name="Google Shape;254;p36">
            <a:extLst>
              <a:ext uri="{FF2B5EF4-FFF2-40B4-BE49-F238E27FC236}">
                <a16:creationId xmlns:a16="http://schemas.microsoft.com/office/drawing/2014/main" id="{D6620A05-5F2C-B604-CA6B-17707EEC67D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2199" y="3754312"/>
            <a:ext cx="10049108" cy="2329088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no matter how many times you execute 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something</a:t>
            </a:r>
            <a:r>
              <a:rPr lang="en-US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, you always get the same result for the same input</a:t>
            </a:r>
          </a:p>
          <a:p>
            <a:pPr marL="0" indent="0">
              <a:buNone/>
            </a:pPr>
            <a:endParaRPr lang="en-US" dirty="0">
              <a:solidFill>
                <a:srgbClr val="040C28"/>
              </a:solidFill>
              <a:latin typeface="Google San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40C28"/>
                </a:solidFill>
                <a:latin typeface="Google Sans"/>
              </a:rPr>
              <a:t>This concept will become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very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important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 in mathematics, computer science, and especially in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software engineering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(i.e. API development).</a:t>
            </a:r>
            <a:endParaRPr lang="en-US" b="1" dirty="0">
              <a:latin typeface="+mj-lt"/>
            </a:endParaRPr>
          </a:p>
        </p:txBody>
      </p:sp>
      <p:pic>
        <p:nvPicPr>
          <p:cNvPr id="2050" name="Picture 2" descr="We are Crazy but not Insane. Albert Einstein (a creative… | by Femi Longe |  Medium">
            <a:extLst>
              <a:ext uri="{FF2B5EF4-FFF2-40B4-BE49-F238E27FC236}">
                <a16:creationId xmlns:a16="http://schemas.microsoft.com/office/drawing/2014/main" id="{607085D0-163A-E912-FDF1-39F6AAF53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64" t="7975"/>
          <a:stretch/>
        </p:blipFill>
        <p:spPr bwMode="auto">
          <a:xfrm>
            <a:off x="5944562" y="246023"/>
            <a:ext cx="5976457" cy="328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AD9F88-03F2-6B01-978E-15652614860C}"/>
              </a:ext>
            </a:extLst>
          </p:cNvPr>
          <p:cNvSpPr/>
          <p:nvPr/>
        </p:nvSpPr>
        <p:spPr>
          <a:xfrm>
            <a:off x="6214948" y="969882"/>
            <a:ext cx="287453" cy="346927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39DC78"/>
              </a:solidFill>
              <a:latin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646B3-AB5C-86EC-BB78-C7415D5C4271}"/>
              </a:ext>
            </a:extLst>
          </p:cNvPr>
          <p:cNvSpPr/>
          <p:nvPr/>
        </p:nvSpPr>
        <p:spPr>
          <a:xfrm>
            <a:off x="6013945" y="1894003"/>
            <a:ext cx="1431504" cy="346927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39DC78"/>
                </a:solidFill>
                <a:latin typeface="Arial"/>
                <a:sym typeface="Arial"/>
              </a:rPr>
              <a:t>the same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F14497-BD89-8BD5-DF8B-F57A7D12BB69}"/>
              </a:ext>
            </a:extLst>
          </p:cNvPr>
          <p:cNvSpPr/>
          <p:nvPr/>
        </p:nvSpPr>
        <p:spPr>
          <a:xfrm>
            <a:off x="6013945" y="2285887"/>
            <a:ext cx="5642796" cy="346927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39DC78"/>
                </a:solidFill>
                <a:latin typeface="Arial"/>
                <a:sym typeface="Arial"/>
              </a:rPr>
              <a:t>- Literally everyone maintaining production software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29FCA3-65B3-4D58-0FC6-70D50811AD83}"/>
              </a:ext>
            </a:extLst>
          </p:cNvPr>
          <p:cNvSpPr/>
          <p:nvPr/>
        </p:nvSpPr>
        <p:spPr>
          <a:xfrm>
            <a:off x="8114087" y="1575370"/>
            <a:ext cx="1857584" cy="346927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39DC78"/>
                </a:solidFill>
                <a:latin typeface="Arial"/>
                <a:sym typeface="Arial"/>
              </a:rPr>
              <a:t>always getting</a:t>
            </a:r>
          </a:p>
        </p:txBody>
      </p:sp>
    </p:spTree>
    <p:extLst>
      <p:ext uri="{BB962C8B-B14F-4D97-AF65-F5344CB8AC3E}">
        <p14:creationId xmlns:p14="http://schemas.microsoft.com/office/powerpoint/2010/main" val="3172231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Split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F852B-A940-BC53-5D75-EE7B6C82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201" y="2654300"/>
            <a:ext cx="4860364" cy="326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j-lt"/>
                <a:cs typeface="Cascadia Mono" panose="020B0609020000020004" pitchFamily="49" charset="0"/>
              </a:rPr>
              <a:t>string.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split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(</a:t>
            </a:r>
            <a:r>
              <a:rPr lang="en-US" dirty="0">
                <a:latin typeface="+mj-lt"/>
                <a:cs typeface="Cascadia Mono" panose="020B0609020000020004" pitchFamily="49" charset="0"/>
              </a:rPr>
              <a:t>delimiter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)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method breaks apart the string anywhere that the </a:t>
            </a:r>
            <a:r>
              <a:rPr lang="en-US" i="1" dirty="0"/>
              <a:t>delimiter</a:t>
            </a:r>
            <a:r>
              <a:rPr lang="en-US" dirty="0"/>
              <a:t> is present and returns the resulting substrings in a list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7A64D1-53DC-FE57-E3A0-A98A00C7F56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205792" y="2654299"/>
            <a:ext cx="6484185" cy="3611215"/>
          </a:xfrm>
        </p:spPr>
        <p:txBody>
          <a:bodyPr/>
          <a:lstStyle/>
          <a:p>
            <a:pPr marL="152399" indent="0">
              <a:buNone/>
            </a:pPr>
            <a:r>
              <a:rPr lang="en-US" dirty="0">
                <a:latin typeface="+mj-lt"/>
              </a:rPr>
              <a:t>‘Make like a banana and </a:t>
            </a:r>
            <a:r>
              <a:rPr lang="en-US" dirty="0" err="1">
                <a:latin typeface="+mj-lt"/>
              </a:rPr>
              <a:t>split!’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.split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(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‘</a:t>
            </a:r>
            <a:r>
              <a:rPr lang="en-US" dirty="0">
                <a:latin typeface="+mj-lt"/>
              </a:rPr>
              <a:t>banana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j-lt"/>
              </a:rPr>
              <a:t>’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)</a:t>
            </a:r>
          </a:p>
          <a:p>
            <a:pPr marL="152399" indent="0">
              <a:buNone/>
            </a:pPr>
            <a:endParaRPr lang="en-US" dirty="0">
              <a:latin typeface="+mj-lt"/>
            </a:endParaRPr>
          </a:p>
          <a:p>
            <a:pPr marL="152399" indent="0">
              <a:buNone/>
            </a:pPr>
            <a:r>
              <a:rPr lang="en-US" dirty="0">
                <a:latin typeface="+mj-lt"/>
              </a:rPr>
              <a:t>=&gt; [‘Make like a ’, ‘ and split!’]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2937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Terminology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7F56DBD-E2D6-2ABB-D126-EF3A254CA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2067600"/>
            <a:ext cx="7813200" cy="1221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10000"/>
                  </a:schemeClr>
                </a:solidFill>
              </a:rPr>
              <a:t>Delimiter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2"/>
          </p:nvPr>
        </p:nvSpPr>
        <p:spPr>
          <a:xfrm>
            <a:off x="1092200" y="3289400"/>
            <a:ext cx="8993909" cy="2794000"/>
          </a:xfrm>
          <a:prstGeom prst="rect">
            <a:avLst/>
          </a:prstGeom>
        </p:spPr>
        <p:txBody>
          <a:bodyPr spcFirstLastPara="1" wrap="square" lIns="121901" tIns="121901" rIns="121901" bIns="121901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A character, symbol, or </a:t>
            </a:r>
            <a:r>
              <a:rPr lang="en-US" i="1" dirty="0"/>
              <a:t>substring</a:t>
            </a:r>
            <a:r>
              <a:rPr lang="en-US" dirty="0"/>
              <a:t> that indicates the beginning or end of data units within a larger sequence.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Important to understand for data manipulation with formats like </a:t>
            </a:r>
            <a:r>
              <a:rPr lang="en-US" i="1" dirty="0"/>
              <a:t>.csv</a:t>
            </a:r>
            <a:r>
              <a:rPr lang="en-US" dirty="0"/>
              <a:t> files.</a:t>
            </a:r>
          </a:p>
        </p:txBody>
      </p:sp>
    </p:spTree>
    <p:extLst>
      <p:ext uri="{BB962C8B-B14F-4D97-AF65-F5344CB8AC3E}">
        <p14:creationId xmlns:p14="http://schemas.microsoft.com/office/powerpoint/2010/main" val="1059177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Join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F852B-A940-BC53-5D75-EE7B6C82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805" y="2654300"/>
            <a:ext cx="5096096" cy="326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j-lt"/>
                <a:cs typeface="Cascadia Mono" panose="020B0609020000020004" pitchFamily="49" charset="0"/>
              </a:rPr>
              <a:t>delimiter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.join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(</a:t>
            </a:r>
            <a:r>
              <a:rPr lang="en-US" dirty="0" err="1">
                <a:latin typeface="+mj-lt"/>
                <a:cs typeface="Cascadia Mono" panose="020B0609020000020004" pitchFamily="49" charset="0"/>
              </a:rPr>
              <a:t>subStrings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)</a:t>
            </a:r>
            <a:r>
              <a:rPr lang="en-US" dirty="0">
                <a:latin typeface="+mj-lt"/>
                <a:cs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takes a list of substrings and glues them together using a </a:t>
            </a:r>
            <a:r>
              <a:rPr lang="en-US" i="1" dirty="0"/>
              <a:t>delimiter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7A64D1-53DC-FE57-E3A0-A98A00C7F56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12192" y="2654299"/>
            <a:ext cx="6077785" cy="3611215"/>
          </a:xfrm>
        </p:spPr>
        <p:txBody>
          <a:bodyPr/>
          <a:lstStyle/>
          <a:p>
            <a:pPr marL="152399" indent="0">
              <a:buNone/>
            </a:pPr>
            <a:r>
              <a:rPr lang="en-US" dirty="0">
                <a:latin typeface="+mj-lt"/>
              </a:rPr>
              <a:t>‘</a:t>
            </a:r>
            <a:r>
              <a:rPr lang="en-US" dirty="0" err="1">
                <a:latin typeface="+mj-lt"/>
              </a:rPr>
              <a:t>banana’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.join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(</a:t>
            </a:r>
            <a:r>
              <a:rPr lang="en-US" dirty="0">
                <a:latin typeface="+mj-lt"/>
              </a:rPr>
              <a:t>[‘Make like a ’, ‘ and split!’]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)</a:t>
            </a:r>
          </a:p>
          <a:p>
            <a:pPr marL="152399" indent="0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  <a:p>
            <a:pPr marL="152399" indent="0">
              <a:buNone/>
            </a:pPr>
            <a:r>
              <a:rPr lang="en-US" dirty="0">
                <a:latin typeface="+mj-lt"/>
              </a:rPr>
              <a:t>=&gt; ‘Make like a banana and split!’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  <a:p>
            <a:pPr marL="152399" indent="0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119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1" tIns="121901" rIns="121901" bIns="121901" anchor="ctr" anchorCtr="0">
            <a:normAutofit/>
          </a:bodyPr>
          <a:lstStyle/>
          <a:p>
            <a:r>
              <a:rPr lang="en-US" dirty="0"/>
              <a:t>Replace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F852B-A940-BC53-5D75-EE7B6C82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202" y="2654300"/>
            <a:ext cx="7957261" cy="326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j-lt"/>
                <a:cs typeface="Cascadia Mono" panose="020B0609020000020004" pitchFamily="49" charset="0"/>
              </a:rPr>
              <a:t>string.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replace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(</a:t>
            </a:r>
            <a:r>
              <a:rPr lang="en-US" dirty="0">
                <a:latin typeface="+mj-lt"/>
                <a:cs typeface="Cascadia Mono" panose="020B0609020000020004" pitchFamily="49" charset="0"/>
              </a:rPr>
              <a:t>search, replacement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Cascadia Mono" panose="020B0609020000020004" pitchFamily="49" charset="0"/>
              </a:rPr>
              <a:t>) 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/>
              <a:t>replaces all instances of  </a:t>
            </a:r>
          </a:p>
          <a:p>
            <a:pPr marL="0" indent="0">
              <a:buNone/>
            </a:pPr>
            <a:r>
              <a:rPr lang="en-US" dirty="0"/>
              <a:t>&lt;search&gt; with &lt;replacement&gt; </a:t>
            </a:r>
          </a:p>
          <a:p>
            <a:pPr marL="0" indent="0">
              <a:buNone/>
            </a:pPr>
            <a:r>
              <a:rPr lang="en-US" dirty="0"/>
              <a:t>in the original string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7A64D1-53DC-FE57-E3A0-A98A00C7F56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202791" y="3481566"/>
            <a:ext cx="6487187" cy="2783948"/>
          </a:xfrm>
        </p:spPr>
        <p:txBody>
          <a:bodyPr/>
          <a:lstStyle/>
          <a:p>
            <a:pPr marL="152399" indent="0">
              <a:buNone/>
            </a:pPr>
            <a:r>
              <a:rPr lang="en-US" dirty="0">
                <a:latin typeface="+mj-lt"/>
              </a:rPr>
              <a:t>‘Make like a banana and split!’</a:t>
            </a:r>
          </a:p>
          <a:p>
            <a:pPr marL="152399" indent="0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	.replace(</a:t>
            </a:r>
            <a:r>
              <a:rPr lang="en-US" dirty="0">
                <a:latin typeface="+mj-lt"/>
              </a:rPr>
              <a:t>’banana’, ‘pear’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)</a:t>
            </a:r>
          </a:p>
          <a:p>
            <a:pPr marL="152399" indent="0">
              <a:buNone/>
            </a:pPr>
            <a:r>
              <a:rPr lang="en-US" dirty="0">
                <a:latin typeface="+mj-lt"/>
              </a:rPr>
              <a:t>=&gt; ‘Make like a pear and split!’</a:t>
            </a:r>
          </a:p>
          <a:p>
            <a:pPr marL="152399" indent="0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245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3A770-1988-7317-9C18-0801F0EB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 O I C E</a:t>
            </a:r>
            <a:br>
              <a:rPr lang="en-US" dirty="0"/>
            </a:br>
            <a:r>
              <a:rPr lang="en-US" dirty="0"/>
              <a:t>job</a:t>
            </a:r>
          </a:p>
        </p:txBody>
      </p:sp>
      <p:pic>
        <p:nvPicPr>
          <p:cNvPr id="89090" name="Picture 2">
            <a:extLst>
              <a:ext uri="{FF2B5EF4-FFF2-40B4-BE49-F238E27FC236}">
                <a16:creationId xmlns:a16="http://schemas.microsoft.com/office/drawing/2014/main" id="{834EA9DA-9FD9-731E-81B9-46D7286FE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3457" y="725128"/>
            <a:ext cx="4248144" cy="430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092" name="Picture 4">
            <a:extLst>
              <a:ext uri="{FF2B5EF4-FFF2-40B4-BE49-F238E27FC236}">
                <a16:creationId xmlns:a16="http://schemas.microsoft.com/office/drawing/2014/main" id="{5E6A881E-3EBD-2F49-D375-AE30DBD82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701971" y="1867943"/>
            <a:ext cx="412473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AA2234B4-5B77-42E8-E699-CC19A7D5B7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01754" y="425938"/>
            <a:ext cx="1988492" cy="223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05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2922777B-351C-118A-6069-16E78A26D9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9162" y="568705"/>
            <a:ext cx="2458821" cy="338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FD5815F-FDBF-EBE1-1DCD-D7A13D2D8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78695" y="1986306"/>
            <a:ext cx="2384144" cy="4237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EB93EF66-A18D-7624-C7DA-267626A05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41298" y="997374"/>
            <a:ext cx="5109404" cy="383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DF08C3-7BB8-8C35-6C6E-03F8212C2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119"/>
          <a:stretch/>
        </p:blipFill>
        <p:spPr bwMode="auto">
          <a:xfrm>
            <a:off x="1476205" y="4000940"/>
            <a:ext cx="3493828" cy="228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6278FA-46E4-9116-0990-92C8753CF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57702" y="5264403"/>
            <a:ext cx="1272709" cy="119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338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F454A62-04A1-D6B7-04D9-B5C14C94B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58363" y="538254"/>
            <a:ext cx="4336120" cy="578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AEE8DFED-EAA2-3781-2012-C53951C62C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12877" y="538254"/>
            <a:ext cx="4913737" cy="5854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3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39DC78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39DC78"/>
      </a:accent3>
      <a:accent4>
        <a:srgbClr val="14F597"/>
      </a:accent4>
      <a:accent5>
        <a:srgbClr val="3D4594"/>
      </a:accent5>
      <a:accent6>
        <a:srgbClr val="999999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1156</Words>
  <Application>Microsoft Macintosh PowerPoint</Application>
  <PresentationFormat>Widescreen</PresentationFormat>
  <Paragraphs>199</Paragraphs>
  <Slides>44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Cascadia Mono</vt:lpstr>
      <vt:lpstr>Google Sans</vt:lpstr>
      <vt:lpstr>Nunito</vt:lpstr>
      <vt:lpstr>Office Theme</vt:lpstr>
      <vt:lpstr>Shift</vt:lpstr>
      <vt:lpstr>PowerPoint Presentation</vt:lpstr>
      <vt:lpstr>str = “Strings”</vt:lpstr>
      <vt:lpstr>str = “Strings”</vt:lpstr>
      <vt:lpstr>Terminology</vt:lpstr>
      <vt:lpstr>Terminology</vt:lpstr>
      <vt:lpstr>Real Life Indices</vt:lpstr>
      <vt:lpstr>string[ index ]</vt:lpstr>
      <vt:lpstr>Individual String Facts</vt:lpstr>
      <vt:lpstr>Terminology</vt:lpstr>
      <vt:lpstr>secretString Exercise</vt:lpstr>
      <vt:lpstr>N O I C E job</vt:lpstr>
      <vt:lpstr>What if I only want a certain part of a string?</vt:lpstr>
      <vt:lpstr>Terminology</vt:lpstr>
      <vt:lpstr>Exercise 3</vt:lpstr>
      <vt:lpstr>N O I C E Job</vt:lpstr>
      <vt:lpstr>What if there’s an easier way?</vt:lpstr>
      <vt:lpstr>Introducing Slices</vt:lpstr>
      <vt:lpstr>string[ start : stop ]</vt:lpstr>
      <vt:lpstr>Exercise 3b</vt:lpstr>
      <vt:lpstr>N O I C E job</vt:lpstr>
      <vt:lpstr>Translating Slice Syntax</vt:lpstr>
      <vt:lpstr>Slices Save Time</vt:lpstr>
      <vt:lpstr>More Slice Stuff</vt:lpstr>
      <vt:lpstr>Negative Indices Explained</vt:lpstr>
      <vt:lpstr>Negative Indices Explained</vt:lpstr>
      <vt:lpstr>Programming Terminology</vt:lpstr>
      <vt:lpstr>N O I C E job</vt:lpstr>
      <vt:lpstr>String Methods</vt:lpstr>
      <vt:lpstr>String Methods</vt:lpstr>
      <vt:lpstr>Terminology</vt:lpstr>
      <vt:lpstr>String.method(parameters)</vt:lpstr>
      <vt:lpstr>Exercise 5</vt:lpstr>
      <vt:lpstr>N O I C E job</vt:lpstr>
      <vt:lpstr>Terminology</vt:lpstr>
      <vt:lpstr>Terminology</vt:lpstr>
      <vt:lpstr>Terminology</vt:lpstr>
      <vt:lpstr>Terminology</vt:lpstr>
      <vt:lpstr>Split</vt:lpstr>
      <vt:lpstr>Terminology</vt:lpstr>
      <vt:lpstr>Join</vt:lpstr>
      <vt:lpstr>Replace</vt:lpstr>
      <vt:lpstr>N O I C E job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McDaniel, Ryan E</dc:creator>
  <cp:lastModifiedBy>McDaniel, Ryan E</cp:lastModifiedBy>
  <cp:revision>1</cp:revision>
  <dcterms:created xsi:type="dcterms:W3CDTF">2025-10-21T04:48:28Z</dcterms:created>
  <dcterms:modified xsi:type="dcterms:W3CDTF">2025-10-21T05:17:22Z</dcterms:modified>
</cp:coreProperties>
</file>