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Default Extension="png" ContentType="image/png"/>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6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sldSz cx="12192000" cy="68580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notesMaster" Target="notesMasters/notesMaster1.xml" /><Relationship Id="rId70" Type="http://schemas.openxmlformats.org/officeDocument/2006/relationships/viewProps" Target="viewProps.xml" /><Relationship Id="rId69" Type="http://schemas.openxmlformats.org/officeDocument/2006/relationships/presProps" Target="presProps.xml" /><Relationship Id="rId1" Type="http://schemas.openxmlformats.org/officeDocument/2006/relationships/slideMaster" Target="slideMasters/slideMaster1.xml" /><Relationship Id="rId72" Type="http://schemas.openxmlformats.org/officeDocument/2006/relationships/tableStyles" Target="tableStyles.xml" /><Relationship Id="rId7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1. Use the prepared cell for students who need typing support. The sample solution is one possible name, not an expected student identity. Spend five minutes total on this slide through String facts, with student attempts during the exercise blocks if needed.</a:t>
            </a:r>
          </a:p>
          <a:p>
            <a:pPr lvl="0" indent="0" marL="0">
              <a:buNone/>
            </a:pPr>
          </a:p>
          <a:p>
            <a:pPr lvl="0" indent="0" marL="0">
              <a:buNone/>
            </a:pPr>
            <a:r>
              <a:rPr/>
              <a:t>Activity ID: strings-and-names</a:t>
            </a:r>
          </a:p>
          <a:p>
            <a:pPr lvl="0" indent="0" marL="0">
              <a:buNone/>
            </a:pPr>
          </a:p>
          <a:p>
            <a:pPr lvl="0" indent="0" marL="0">
              <a:buNone/>
            </a:pPr>
            <a:r>
              <a:rPr/>
              <a:t>Slide template: terminology</a:t>
            </a:r>
          </a:p>
          <a:p>
            <a:pPr lvl="0" indent="0" marL="0">
              <a:buNone/>
            </a:pPr>
          </a:p>
          <a:p>
            <a:pPr lvl="0" indent="0" marL="0">
              <a:buNone/>
            </a:pPr>
            <a:r>
              <a:rPr/>
              <a:t>Term: string Example ID: strings-and-names-term-string Example scope: isolated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1. Use the prepared cell for students who need typing support. The sample solution is one possible name, not an expected student identity. Spend five minutes total on this slide through String facts, with student attempts during the exercise blocks if needed.</a:t>
            </a:r>
          </a:p>
          <a:p>
            <a:pPr lvl="0" indent="0" marL="0">
              <a:buNone/>
            </a:pPr>
          </a:p>
          <a:p>
            <a:pPr lvl="0" indent="0" marL="0">
              <a:buNone/>
            </a:pPr>
            <a:r>
              <a:rPr/>
              <a:t>Activity ID: strings-and-names</a:t>
            </a:r>
          </a:p>
          <a:p>
            <a:pPr lvl="0" indent="0" marL="0">
              <a:buNone/>
            </a:pPr>
          </a:p>
          <a:p>
            <a:pPr lvl="0" indent="0" marL="0">
              <a:buNone/>
            </a:pPr>
            <a:r>
              <a:rPr/>
              <a:t>Slide template: terminology</a:t>
            </a:r>
          </a:p>
          <a:p>
            <a:pPr lvl="0" indent="0" marL="0">
              <a:buNone/>
            </a:pPr>
          </a:p>
          <a:p>
            <a:pPr lvl="0" indent="0" marL="0">
              <a:buNone/>
            </a:pPr>
            <a:r>
              <a:rPr/>
              <a:t>Term: string Example ID: strings-and-names-term-string Example scope: isolated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1. Use the prepared cell for students who need typing support. The sample solution is one possible name, not an expected student identity. Spend five minutes total on this slide through String facts, with student attempts during the exercise blocks if needed.</a:t>
            </a:r>
          </a:p>
          <a:p>
            <a:pPr lvl="0" indent="0" marL="0">
              <a:buNone/>
            </a:pPr>
          </a:p>
          <a:p>
            <a:pPr lvl="0" indent="0" marL="0">
              <a:buNone/>
            </a:pPr>
            <a:r>
              <a:rPr/>
              <a:t>Activity ID: strings-and-names</a:t>
            </a:r>
          </a:p>
          <a:p>
            <a:pPr lvl="0" indent="0" marL="0">
              <a:buNone/>
            </a:pPr>
          </a:p>
          <a:p>
            <a:pPr lvl="0" indent="0" marL="0">
              <a:buNone/>
            </a:pPr>
            <a:r>
              <a:rPr/>
              <a:t>Slide template: terminology</a:t>
            </a:r>
          </a:p>
          <a:p>
            <a:pPr lvl="0" indent="0" marL="0">
              <a:buNone/>
            </a:pPr>
          </a:p>
          <a:p>
            <a:pPr lvl="0" indent="0" marL="0">
              <a:buNone/>
            </a:pPr>
            <a:r>
              <a:rPr/>
              <a:t>Term: character Example ID: strings-and-names-term-character Example scope: isolated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1. Use the prepared cell for students who need typing support. The sample solution is one possible name, not an expected student identity. Spend five minutes total on this slide through String facts, with student attempts during the exercise blocks if needed.</a:t>
            </a:r>
          </a:p>
          <a:p>
            <a:pPr lvl="0" indent="0" marL="0">
              <a:buNone/>
            </a:pPr>
          </a:p>
          <a:p>
            <a:pPr lvl="0" indent="0" marL="0">
              <a:buNone/>
            </a:pPr>
            <a:r>
              <a:rPr/>
              <a:t>Activity ID: strings-and-names</a:t>
            </a:r>
          </a:p>
          <a:p>
            <a:pPr lvl="0" indent="0" marL="0">
              <a:buNone/>
            </a:pPr>
          </a:p>
          <a:p>
            <a:pPr lvl="0" indent="0" marL="0">
              <a:buNone/>
            </a:pPr>
            <a:r>
              <a:rPr/>
              <a:t>Slide template: terminology</a:t>
            </a:r>
          </a:p>
          <a:p>
            <a:pPr lvl="0" indent="0" marL="0">
              <a:buNone/>
            </a:pPr>
          </a:p>
          <a:p>
            <a:pPr lvl="0" indent="0" marL="0">
              <a:buNone/>
            </a:pPr>
            <a:r>
              <a:rPr/>
              <a:t>Term: character Example ID: strings-and-names-term-character Example scope: isolated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1. Use the prepared cell for students who need typing support. The sample solution is one possible name, not an expected student identity. Spend five minutes total on this slide through String facts, with student attempts during the exercise blocks if needed.</a:t>
            </a:r>
          </a:p>
          <a:p>
            <a:pPr lvl="0" indent="0" marL="0">
              <a:buNone/>
            </a:pPr>
          </a:p>
          <a:p>
            <a:pPr lvl="0" indent="0" marL="0">
              <a:buNone/>
            </a:pPr>
            <a:r>
              <a:rPr/>
              <a:t>Activity ID: strings-and-names</a:t>
            </a:r>
          </a:p>
          <a:p>
            <a:pPr lvl="0" indent="0" marL="0">
              <a:buNone/>
            </a:pPr>
          </a:p>
          <a:p>
            <a:pPr lvl="0" indent="0" marL="0">
              <a:buNone/>
            </a:pPr>
            <a:r>
              <a:rPr/>
              <a:t>Slide template: terminology</a:t>
            </a:r>
          </a:p>
          <a:p>
            <a:pPr lvl="0" indent="0" marL="0">
              <a:buNone/>
            </a:pPr>
          </a:p>
          <a:p>
            <a:pPr lvl="0" indent="0" marL="0">
              <a:buNone/>
            </a:pPr>
            <a:r>
              <a:rPr/>
              <a:t>Term: string literal Example ID: strings-and-names-term-string-literal Example scope: isolated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1. Use the prepared cell for students who need typing support. The sample solution is one possible name, not an expected student identity. Spend five minutes total on this slide through String facts, with student attempts during the exercise blocks if needed.</a:t>
            </a:r>
          </a:p>
          <a:p>
            <a:pPr lvl="0" indent="0" marL="0">
              <a:buNone/>
            </a:pPr>
          </a:p>
          <a:p>
            <a:pPr lvl="0" indent="0" marL="0">
              <a:buNone/>
            </a:pPr>
            <a:r>
              <a:rPr/>
              <a:t>Activity ID: strings-and-names</a:t>
            </a:r>
          </a:p>
          <a:p>
            <a:pPr lvl="0" indent="0" marL="0">
              <a:buNone/>
            </a:pPr>
          </a:p>
          <a:p>
            <a:pPr lvl="0" indent="0" marL="0">
              <a:buNone/>
            </a:pPr>
            <a:r>
              <a:rPr/>
              <a:t>Slide template: terminology</a:t>
            </a:r>
          </a:p>
          <a:p>
            <a:pPr lvl="0" indent="0" marL="0">
              <a:buNone/>
            </a:pPr>
          </a:p>
          <a:p>
            <a:pPr lvl="0" indent="0" marL="0">
              <a:buNone/>
            </a:pPr>
            <a:r>
              <a:rPr/>
              <a:t>Term: string literal Example ID: strings-and-names-term-string-literal Example scope: isolated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1. Use the prepared cell for students who need typing support. The sample solution is one possible name, not an expected student identity. Spend five minutes total on this slide through String facts, with student attempts during the exercise blocks if needed.</a:t>
            </a:r>
          </a:p>
          <a:p>
            <a:pPr lvl="0" indent="0" marL="0">
              <a:buNone/>
            </a:pPr>
          </a:p>
          <a:p>
            <a:pPr lvl="0" indent="0" marL="0">
              <a:buNone/>
            </a:pPr>
            <a:r>
              <a:rPr/>
              <a:t>Activity ID: strings-and-names</a:t>
            </a:r>
          </a:p>
          <a:p>
            <a:pPr lvl="0" indent="0" marL="0">
              <a:buNone/>
            </a:pPr>
          </a:p>
          <a:p>
            <a:pPr lvl="0" indent="0" marL="0">
              <a:buNone/>
            </a:pPr>
            <a:r>
              <a:rPr/>
              <a:t>Slide template: code</a:t>
            </a:r>
          </a:p>
          <a:p>
            <a:pPr lvl="0" indent="0" marL="0">
              <a:buNone/>
            </a:pPr>
          </a:p>
          <a:p>
            <a:pPr lvl="0" indent="0" marL="0">
              <a:buNone/>
            </a:pPr>
            <a:r>
              <a:rPr/>
              <a:t>Example ID: strings-and-names Example scope: lesson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1. Use the prepared cell for students who need typing support. The sample solution is one possible name, not an expected student identity. Spend five minutes total on this slide through String facts, with student attempts during the exercise blocks if needed.</a:t>
            </a:r>
          </a:p>
          <a:p>
            <a:pPr lvl="0" indent="0" marL="0">
              <a:buNone/>
            </a:pPr>
          </a:p>
          <a:p>
            <a:pPr lvl="0" indent="0" marL="0">
              <a:buNone/>
            </a:pPr>
            <a:r>
              <a:rPr/>
              <a:t>Activity ID: strings-and-names</a:t>
            </a:r>
          </a:p>
          <a:p>
            <a:pPr lvl="0" indent="0" marL="0">
              <a:buNone/>
            </a:pPr>
          </a:p>
          <a:p>
            <a:pPr lvl="0" indent="0" marL="0">
              <a:buNone/>
            </a:pPr>
            <a:r>
              <a:rPr/>
              <a:t>Slide template: code</a:t>
            </a:r>
          </a:p>
          <a:p>
            <a:pPr lvl="0" indent="0" marL="0">
              <a:buNone/>
            </a:pPr>
          </a:p>
          <a:p>
            <a:pPr lvl="0" indent="0" marL="0">
              <a:buNone/>
            </a:pPr>
            <a:r>
              <a:rPr/>
              <a:t>Example ID: strings-and-names Example scope: lesson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1. Use the prepared cell for students who need typing support. The sample solution is one possible name, not an expected student identity. Spend five minutes total on this slide through String facts, with student attempts during the exercise blocks if needed.</a:t>
            </a:r>
          </a:p>
          <a:p>
            <a:pPr lvl="0" indent="0" marL="0">
              <a:buNone/>
            </a:pPr>
          </a:p>
          <a:p>
            <a:pPr lvl="0" indent="0" marL="0">
              <a:buNone/>
            </a:pPr>
            <a:r>
              <a:rPr/>
              <a:t>Activity ID: strings-and-names</a:t>
            </a:r>
          </a:p>
          <a:p>
            <a:pPr lvl="0" indent="0" marL="0">
              <a:buNone/>
            </a:pPr>
          </a:p>
          <a:p>
            <a:pPr lvl="0" indent="0" marL="0">
              <a:buNone/>
            </a:pPr>
            <a:r>
              <a:rPr/>
              <a:t>Slide template: exercise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Outputs S and e. Ask for predictions. Use a whiteboard index row as in the original lesson. Do not imply that all index analogies obey Python’s numbering.</a:t>
            </a:r>
          </a:p>
          <a:p>
            <a:pPr lvl="0" indent="0" marL="0">
              <a:buNone/>
            </a:pPr>
          </a:p>
          <a:p>
            <a:pPr lvl="0" indent="0" marL="0">
              <a:buNone/>
            </a:pPr>
            <a:r>
              <a:rPr/>
              <a:t>Activity ID: indexing</a:t>
            </a:r>
          </a:p>
          <a:p>
            <a:pPr lvl="0" indent="0" marL="0">
              <a:buNone/>
            </a:pPr>
          </a:p>
          <a:p>
            <a:pPr lvl="0" indent="0" marL="0">
              <a:buNone/>
            </a:pPr>
            <a:r>
              <a:rPr/>
              <a:t>Slide template: terminology</a:t>
            </a:r>
          </a:p>
          <a:p>
            <a:pPr lvl="0" indent="0" marL="0">
              <a:buNone/>
            </a:pPr>
          </a:p>
          <a:p>
            <a:pPr lvl="0" indent="0" marL="0">
              <a:buNone/>
            </a:pPr>
            <a:r>
              <a:rPr/>
              <a:t>Term: index Example ID: indexing-term-index Example scope: isolated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Outputs S and e. Ask for predictions. Use a whiteboard index row as in the original lesson. Do not imply that all index analogies obey Python’s numbering.</a:t>
            </a:r>
          </a:p>
          <a:p>
            <a:pPr lvl="0" indent="0" marL="0">
              <a:buNone/>
            </a:pPr>
          </a:p>
          <a:p>
            <a:pPr lvl="0" indent="0" marL="0">
              <a:buNone/>
            </a:pPr>
            <a:r>
              <a:rPr/>
              <a:t>Activity ID: indexing</a:t>
            </a:r>
          </a:p>
          <a:p>
            <a:pPr lvl="0" indent="0" marL="0">
              <a:buNone/>
            </a:pPr>
          </a:p>
          <a:p>
            <a:pPr lvl="0" indent="0" marL="0">
              <a:buNone/>
            </a:pPr>
            <a:r>
              <a:rPr/>
              <a:t>Slide template: terminology</a:t>
            </a:r>
          </a:p>
          <a:p>
            <a:pPr lvl="0" indent="0" marL="0">
              <a:buNone/>
            </a:pPr>
          </a:p>
          <a:p>
            <a:pPr lvl="0" indent="0" marL="0">
              <a:buNone/>
            </a:pPr>
            <a:r>
              <a:rPr/>
              <a:t>Term: index Example ID: indexing-term-index Example scope: isolated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Outputs S and e. Ask for predictions. Use a whiteboard index row as in the original lesson. Do not imply that all index analogies obey Python’s numbering.</a:t>
            </a:r>
          </a:p>
          <a:p>
            <a:pPr lvl="0" indent="0" marL="0">
              <a:buNone/>
            </a:pPr>
          </a:p>
          <a:p>
            <a:pPr lvl="0" indent="0" marL="0">
              <a:buNone/>
            </a:pPr>
            <a:r>
              <a:rPr/>
              <a:t>Activity ID: indexing</a:t>
            </a:r>
          </a:p>
          <a:p>
            <a:pPr lvl="0" indent="0" marL="0">
              <a:buNone/>
            </a:pPr>
          </a:p>
          <a:p>
            <a:pPr lvl="0" indent="0" marL="0">
              <a:buNone/>
            </a:pPr>
            <a:r>
              <a:rPr/>
              <a:t>Slide template: code</a:t>
            </a:r>
          </a:p>
          <a:p>
            <a:pPr lvl="0" indent="0" marL="0">
              <a:buNone/>
            </a:pPr>
          </a:p>
          <a:p>
            <a:pPr lvl="0" indent="0" marL="0">
              <a:buNone/>
            </a:pPr>
            <a:r>
              <a:rPr/>
              <a:t>Example ID: indexing Example scope: lesson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Outputs S and e. Ask for predictions. Use a whiteboard index row as in the original lesson. Do not imply that all index analogies obey Python’s numbering.</a:t>
            </a:r>
          </a:p>
          <a:p>
            <a:pPr lvl="0" indent="0" marL="0">
              <a:buNone/>
            </a:pPr>
          </a:p>
          <a:p>
            <a:pPr lvl="0" indent="0" marL="0">
              <a:buNone/>
            </a:pPr>
            <a:r>
              <a:rPr/>
              <a:t>Activity ID: indexing</a:t>
            </a:r>
          </a:p>
          <a:p>
            <a:pPr lvl="0" indent="0" marL="0">
              <a:buNone/>
            </a:pPr>
          </a:p>
          <a:p>
            <a:pPr lvl="0" indent="0" marL="0">
              <a:buNone/>
            </a:pPr>
            <a:r>
              <a:rPr/>
              <a:t>Slide template: code</a:t>
            </a:r>
          </a:p>
          <a:p>
            <a:pPr lvl="0" indent="0" marL="0">
              <a:buNone/>
            </a:pPr>
          </a:p>
          <a:p>
            <a:pPr lvl="0" indent="0" marL="0">
              <a:buNone/>
            </a:pPr>
            <a:r>
              <a:rPr/>
              <a:t>Example ID: indexing Example scope: lesson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2. Shared outputs are 8, </a:t>
            </a:r>
            <a:r>
              <a:rPr>
                <a:latin typeface="Courier New"/>
              </a:rPr>
              <a:t>True</a:t>
            </a:r>
            <a:r>
              <a:rPr/>
              <a:t>, </a:t>
            </a:r>
            <a:r>
              <a:rPr>
                <a:latin typeface="Courier New"/>
              </a:rPr>
              <a:t>False</a:t>
            </a:r>
            <a:r>
              <a:rPr/>
              <a:t>. Name-dependent results vary. Whitespace contributes to length. The final nonnegative index is length minus one for a nonempty string.</a:t>
            </a:r>
          </a:p>
          <a:p>
            <a:pPr lvl="0" indent="0" marL="0">
              <a:buNone/>
            </a:pPr>
          </a:p>
          <a:p>
            <a:pPr lvl="0" indent="0" marL="0">
              <a:buNone/>
            </a:pPr>
            <a:r>
              <a:rPr/>
              <a:t>Activity ID: length-and-membership</a:t>
            </a:r>
          </a:p>
          <a:p>
            <a:pPr lvl="0" indent="0" marL="0">
              <a:buNone/>
            </a:pPr>
          </a:p>
          <a:p>
            <a:pPr lvl="0" indent="0" marL="0">
              <a:buNone/>
            </a:pPr>
            <a:r>
              <a:rPr/>
              <a:t>Slide template: terminology</a:t>
            </a:r>
          </a:p>
          <a:p>
            <a:pPr lvl="0" indent="0" marL="0">
              <a:buNone/>
            </a:pPr>
          </a:p>
          <a:p>
            <a:pPr lvl="0" indent="0" marL="0">
              <a:buNone/>
            </a:pPr>
            <a:r>
              <a:rPr/>
              <a:t>Term: length Example ID: length-and-membership-term-length Example scope: isolated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2. Shared outputs are 8, </a:t>
            </a:r>
            <a:r>
              <a:rPr>
                <a:latin typeface="Courier New"/>
              </a:rPr>
              <a:t>True</a:t>
            </a:r>
            <a:r>
              <a:rPr/>
              <a:t>, </a:t>
            </a:r>
            <a:r>
              <a:rPr>
                <a:latin typeface="Courier New"/>
              </a:rPr>
              <a:t>False</a:t>
            </a:r>
            <a:r>
              <a:rPr/>
              <a:t>. Name-dependent results vary. Whitespace contributes to length. The final nonnegative index is length minus one for a nonempty string.</a:t>
            </a:r>
          </a:p>
          <a:p>
            <a:pPr lvl="0" indent="0" marL="0">
              <a:buNone/>
            </a:pPr>
          </a:p>
          <a:p>
            <a:pPr lvl="0" indent="0" marL="0">
              <a:buNone/>
            </a:pPr>
            <a:r>
              <a:rPr/>
              <a:t>Activity ID: length-and-membership</a:t>
            </a:r>
          </a:p>
          <a:p>
            <a:pPr lvl="0" indent="0" marL="0">
              <a:buNone/>
            </a:pPr>
          </a:p>
          <a:p>
            <a:pPr lvl="0" indent="0" marL="0">
              <a:buNone/>
            </a:pPr>
            <a:r>
              <a:rPr/>
              <a:t>Slide template: terminology</a:t>
            </a:r>
          </a:p>
          <a:p>
            <a:pPr lvl="0" indent="0" marL="0">
              <a:buNone/>
            </a:pPr>
          </a:p>
          <a:p>
            <a:pPr lvl="0" indent="0" marL="0">
              <a:buNone/>
            </a:pPr>
            <a:r>
              <a:rPr/>
              <a:t>Term: length Example ID: length-and-membership-term-length Example scope: isolated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2. Shared outputs are 8, </a:t>
            </a:r>
            <a:r>
              <a:rPr>
                <a:latin typeface="Courier New"/>
              </a:rPr>
              <a:t>True</a:t>
            </a:r>
            <a:r>
              <a:rPr/>
              <a:t>, </a:t>
            </a:r>
            <a:r>
              <a:rPr>
                <a:latin typeface="Courier New"/>
              </a:rPr>
              <a:t>False</a:t>
            </a:r>
            <a:r>
              <a:rPr/>
              <a:t>. Name-dependent results vary. Whitespace contributes to length. The final nonnegative index is length minus one for a nonempty string.</a:t>
            </a:r>
          </a:p>
          <a:p>
            <a:pPr lvl="0" indent="0" marL="0">
              <a:buNone/>
            </a:pPr>
          </a:p>
          <a:p>
            <a:pPr lvl="0" indent="0" marL="0">
              <a:buNone/>
            </a:pPr>
            <a:r>
              <a:rPr/>
              <a:t>Activity ID: length-and-membership</a:t>
            </a:r>
          </a:p>
          <a:p>
            <a:pPr lvl="0" indent="0" marL="0">
              <a:buNone/>
            </a:pPr>
          </a:p>
          <a:p>
            <a:pPr lvl="0" indent="0" marL="0">
              <a:buNone/>
            </a:pPr>
            <a:r>
              <a:rPr/>
              <a:t>Slide template: terminology</a:t>
            </a:r>
          </a:p>
          <a:p>
            <a:pPr lvl="0" indent="0" marL="0">
              <a:buNone/>
            </a:pPr>
          </a:p>
          <a:p>
            <a:pPr lvl="0" indent="0" marL="0">
              <a:buNone/>
            </a:pPr>
            <a:r>
              <a:rPr/>
              <a:t>Term: membership Example ID: length-and-membership-term-membership Example scope: isolated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2. Shared outputs are 8, </a:t>
            </a:r>
            <a:r>
              <a:rPr>
                <a:latin typeface="Courier New"/>
              </a:rPr>
              <a:t>True</a:t>
            </a:r>
            <a:r>
              <a:rPr/>
              <a:t>, </a:t>
            </a:r>
            <a:r>
              <a:rPr>
                <a:latin typeface="Courier New"/>
              </a:rPr>
              <a:t>False</a:t>
            </a:r>
            <a:r>
              <a:rPr/>
              <a:t>. Name-dependent results vary. Whitespace contributes to length. The final nonnegative index is length minus one for a nonempty string.</a:t>
            </a:r>
          </a:p>
          <a:p>
            <a:pPr lvl="0" indent="0" marL="0">
              <a:buNone/>
            </a:pPr>
          </a:p>
          <a:p>
            <a:pPr lvl="0" indent="0" marL="0">
              <a:buNone/>
            </a:pPr>
            <a:r>
              <a:rPr/>
              <a:t>Activity ID: length-and-membership</a:t>
            </a:r>
          </a:p>
          <a:p>
            <a:pPr lvl="0" indent="0" marL="0">
              <a:buNone/>
            </a:pPr>
          </a:p>
          <a:p>
            <a:pPr lvl="0" indent="0" marL="0">
              <a:buNone/>
            </a:pPr>
            <a:r>
              <a:rPr/>
              <a:t>Slide template: terminology</a:t>
            </a:r>
          </a:p>
          <a:p>
            <a:pPr lvl="0" indent="0" marL="0">
              <a:buNone/>
            </a:pPr>
          </a:p>
          <a:p>
            <a:pPr lvl="0" indent="0" marL="0">
              <a:buNone/>
            </a:pPr>
            <a:r>
              <a:rPr/>
              <a:t>Term: membership Example ID: length-and-membership-term-membership Example scope: isolated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2. Shared outputs are 8, </a:t>
            </a:r>
            <a:r>
              <a:rPr>
                <a:latin typeface="Courier New"/>
              </a:rPr>
              <a:t>True</a:t>
            </a:r>
            <a:r>
              <a:rPr/>
              <a:t>, </a:t>
            </a:r>
            <a:r>
              <a:rPr>
                <a:latin typeface="Courier New"/>
              </a:rPr>
              <a:t>False</a:t>
            </a:r>
            <a:r>
              <a:rPr/>
              <a:t>. Name-dependent results vary. Whitespace contributes to length. The final nonnegative index is length minus one for a nonempty string.</a:t>
            </a:r>
          </a:p>
          <a:p>
            <a:pPr lvl="0" indent="0" marL="0">
              <a:buNone/>
            </a:pPr>
          </a:p>
          <a:p>
            <a:pPr lvl="0" indent="0" marL="0">
              <a:buNone/>
            </a:pPr>
            <a:r>
              <a:rPr/>
              <a:t>Activity ID: length-and-membership</a:t>
            </a:r>
          </a:p>
          <a:p>
            <a:pPr lvl="0" indent="0" marL="0">
              <a:buNone/>
            </a:pPr>
          </a:p>
          <a:p>
            <a:pPr lvl="0" indent="0" marL="0">
              <a:buNone/>
            </a:pPr>
            <a:r>
              <a:rPr/>
              <a:t>Slide template: terminology</a:t>
            </a:r>
          </a:p>
          <a:p>
            <a:pPr lvl="0" indent="0" marL="0">
              <a:buNone/>
            </a:pPr>
          </a:p>
          <a:p>
            <a:pPr lvl="0" indent="0" marL="0">
              <a:buNone/>
            </a:pPr>
            <a:r>
              <a:rPr/>
              <a:t>Term: keyword Example ID: length-and-membership-term-keyword Example scope: isolated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2. Shared outputs are 8, </a:t>
            </a:r>
            <a:r>
              <a:rPr>
                <a:latin typeface="Courier New"/>
              </a:rPr>
              <a:t>True</a:t>
            </a:r>
            <a:r>
              <a:rPr/>
              <a:t>, </a:t>
            </a:r>
            <a:r>
              <a:rPr>
                <a:latin typeface="Courier New"/>
              </a:rPr>
              <a:t>False</a:t>
            </a:r>
            <a:r>
              <a:rPr/>
              <a:t>. Name-dependent results vary. Whitespace contributes to length. The final nonnegative index is length minus one for a nonempty string.</a:t>
            </a:r>
          </a:p>
          <a:p>
            <a:pPr lvl="0" indent="0" marL="0">
              <a:buNone/>
            </a:pPr>
          </a:p>
          <a:p>
            <a:pPr lvl="0" indent="0" marL="0">
              <a:buNone/>
            </a:pPr>
            <a:r>
              <a:rPr/>
              <a:t>Activity ID: length-and-membership</a:t>
            </a:r>
          </a:p>
          <a:p>
            <a:pPr lvl="0" indent="0" marL="0">
              <a:buNone/>
            </a:pPr>
          </a:p>
          <a:p>
            <a:pPr lvl="0" indent="0" marL="0">
              <a:buNone/>
            </a:pPr>
            <a:r>
              <a:rPr/>
              <a:t>Slide template: terminology</a:t>
            </a:r>
          </a:p>
          <a:p>
            <a:pPr lvl="0" indent="0" marL="0">
              <a:buNone/>
            </a:pPr>
          </a:p>
          <a:p>
            <a:pPr lvl="0" indent="0" marL="0">
              <a:buNone/>
            </a:pPr>
            <a:r>
              <a:rPr/>
              <a:t>Term: keyword Example ID: length-and-membership-term-keyword Example scope: isolated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2. Shared outputs are 8, </a:t>
            </a:r>
            <a:r>
              <a:rPr>
                <a:latin typeface="Courier New"/>
              </a:rPr>
              <a:t>True</a:t>
            </a:r>
            <a:r>
              <a:rPr/>
              <a:t>, </a:t>
            </a:r>
            <a:r>
              <a:rPr>
                <a:latin typeface="Courier New"/>
              </a:rPr>
              <a:t>False</a:t>
            </a:r>
            <a:r>
              <a:rPr/>
              <a:t>. Name-dependent results vary. Whitespace contributes to length. The final nonnegative index is length minus one for a nonempty string.</a:t>
            </a:r>
          </a:p>
          <a:p>
            <a:pPr lvl="0" indent="0" marL="0">
              <a:buNone/>
            </a:pPr>
          </a:p>
          <a:p>
            <a:pPr lvl="0" indent="0" marL="0">
              <a:buNone/>
            </a:pPr>
            <a:r>
              <a:rPr/>
              <a:t>Activity ID: length-and-membership</a:t>
            </a:r>
          </a:p>
          <a:p>
            <a:pPr lvl="0" indent="0" marL="0">
              <a:buNone/>
            </a:pPr>
          </a:p>
          <a:p>
            <a:pPr lvl="0" indent="0" marL="0">
              <a:buNone/>
            </a:pPr>
            <a:r>
              <a:rPr/>
              <a:t>Slide template: code</a:t>
            </a:r>
          </a:p>
          <a:p>
            <a:pPr lvl="0" indent="0" marL="0">
              <a:buNone/>
            </a:pPr>
          </a:p>
          <a:p>
            <a:pPr lvl="0" indent="0" marL="0">
              <a:buNone/>
            </a:pPr>
            <a:r>
              <a:rPr/>
              <a:t>Example ID: length-and-membership Example scope: lesson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2. Shared outputs are 8, </a:t>
            </a:r>
            <a:r>
              <a:rPr>
                <a:latin typeface="Courier New"/>
              </a:rPr>
              <a:t>True</a:t>
            </a:r>
            <a:r>
              <a:rPr/>
              <a:t>, </a:t>
            </a:r>
            <a:r>
              <a:rPr>
                <a:latin typeface="Courier New"/>
              </a:rPr>
              <a:t>False</a:t>
            </a:r>
            <a:r>
              <a:rPr/>
              <a:t>. Name-dependent results vary. Whitespace contributes to length. The final nonnegative index is length minus one for a nonempty string.</a:t>
            </a:r>
          </a:p>
          <a:p>
            <a:pPr lvl="0" indent="0" marL="0">
              <a:buNone/>
            </a:pPr>
          </a:p>
          <a:p>
            <a:pPr lvl="0" indent="0" marL="0">
              <a:buNone/>
            </a:pPr>
            <a:r>
              <a:rPr/>
              <a:t>Activity ID: length-and-membership</a:t>
            </a:r>
          </a:p>
          <a:p>
            <a:pPr lvl="0" indent="0" marL="0">
              <a:buNone/>
            </a:pPr>
          </a:p>
          <a:p>
            <a:pPr lvl="0" indent="0" marL="0">
              <a:buNone/>
            </a:pPr>
            <a:r>
              <a:rPr/>
              <a:t>Slide template: code</a:t>
            </a:r>
          </a:p>
          <a:p>
            <a:pPr lvl="0" indent="0" marL="0">
              <a:buNone/>
            </a:pPr>
          </a:p>
          <a:p>
            <a:pPr lvl="0" indent="0" marL="0">
              <a:buNone/>
            </a:pPr>
            <a:r>
              <a:rPr/>
              <a:t>Example ID: length-and-membership Example scope: lesson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2. Shared outputs are 8, </a:t>
            </a:r>
            <a:r>
              <a:rPr>
                <a:latin typeface="Courier New"/>
              </a:rPr>
              <a:t>True</a:t>
            </a:r>
            <a:r>
              <a:rPr/>
              <a:t>, </a:t>
            </a:r>
            <a:r>
              <a:rPr>
                <a:latin typeface="Courier New"/>
              </a:rPr>
              <a:t>False</a:t>
            </a:r>
            <a:r>
              <a:rPr/>
              <a:t>. Name-dependent results vary. Whitespace contributes to length. The final nonnegative index is length minus one for a nonempty string.</a:t>
            </a:r>
          </a:p>
          <a:p>
            <a:pPr lvl="0" indent="0" marL="0">
              <a:buNone/>
            </a:pPr>
          </a:p>
          <a:p>
            <a:pPr lvl="0" indent="0" marL="0">
              <a:buNone/>
            </a:pPr>
            <a:r>
              <a:rPr/>
              <a:t>Activity ID: length-and-membership</a:t>
            </a:r>
          </a:p>
          <a:p>
            <a:pPr lvl="0" indent="0" marL="0">
              <a:buNone/>
            </a:pPr>
          </a:p>
          <a:p>
            <a:pPr lvl="0" indent="0" marL="0">
              <a:buNone/>
            </a:pPr>
            <a:r>
              <a:rPr/>
              <a:t>Slide template: exercise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deck secretString activity (original slide 17. Updated slide 10). Run </a:t>
            </a:r>
            <a:r>
              <a:rPr>
                <a:latin typeface="Courier New"/>
              </a:rPr>
              <a:t>python3 assets/guess_the_word.py</a:t>
            </a:r>
            <a:r>
              <a:rPr/>
              <a:t> privately, choose a short lowercase word without showing the entry, then project the game. The unchanged script uses the terminal’s </a:t>
            </a:r>
            <a:r>
              <a:rPr>
                <a:latin typeface="Courier New"/>
              </a:rPr>
              <a:t>clear</a:t>
            </a:r>
            <a:r>
              <a:rPr/>
              <a:t> command. It accepts the three query forms shown, reveals matching letters and tracks lives. Request length to show placeholders and indices. Repeat guesses can cost lives. Students propose whole-word answers aloud because the script has no whole-word input mode. Rotate questioners and ask for their reasoning. Ten-minute exercise block. Do not teach the implementation. The notebook displays the game queries without executing them.</a:t>
            </a:r>
          </a:p>
          <a:p>
            <a:pPr lvl="0" indent="0" marL="0">
              <a:buNone/>
            </a:pPr>
          </a:p>
          <a:p>
            <a:pPr lvl="0" indent="0" marL="0">
              <a:buNone/>
            </a:pPr>
            <a:r>
              <a:rPr/>
              <a:t>Activity ID: guess-the-word</a:t>
            </a:r>
          </a:p>
          <a:p>
            <a:pPr lvl="0" indent="0" marL="0">
              <a:buNone/>
            </a:pPr>
          </a:p>
          <a:p>
            <a:pPr lvl="0" indent="0" marL="0">
              <a:buNone/>
            </a:pPr>
            <a:r>
              <a:rPr/>
              <a:t>Slide template: exercise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3a. Accept </a:t>
            </a:r>
            <a:r>
              <a:rPr>
                <a:latin typeface="Courier New"/>
              </a:rPr>
              <a:t>print</a:t>
            </a:r>
            <a:r>
              <a:rPr/>
              <a:t> with sep=</a:t>
            </a:r>
            <a:r>
              <a:rPr>
                <a:latin typeface="Courier New"/>
              </a:rPr>
              <a:t>""</a:t>
            </a:r>
            <a:r>
              <a:rPr/>
              <a:t> as another approach. A </a:t>
            </a:r>
            <a:r>
              <a:rPr>
                <a:latin typeface="Courier New"/>
              </a:rPr>
              <a:t>print</a:t>
            </a:r>
            <a:r>
              <a:rPr/>
              <a:t> call with four default-separated arguments adds spaces and does not produce Some. This and the next slide share the ten-minute slicing block. Students keep working during practice.</a:t>
            </a:r>
          </a:p>
          <a:p>
            <a:pPr lvl="0" indent="0" marL="0">
              <a:buNone/>
            </a:pPr>
          </a:p>
          <a:p>
            <a:pPr lvl="0" indent="0" marL="0">
              <a:buNone/>
            </a:pPr>
            <a:r>
              <a:rPr/>
              <a:t>Activity ID: substrings-with-indices</a:t>
            </a:r>
          </a:p>
          <a:p>
            <a:pPr lvl="0" indent="0" marL="0">
              <a:buNone/>
            </a:pPr>
          </a:p>
          <a:p>
            <a:pPr lvl="0" indent="0" marL="0">
              <a:buNone/>
            </a:pPr>
            <a:r>
              <a:rPr/>
              <a:t>Slide template: terminology</a:t>
            </a:r>
          </a:p>
          <a:p>
            <a:pPr lvl="0" indent="0" marL="0">
              <a:buNone/>
            </a:pPr>
          </a:p>
          <a:p>
            <a:pPr lvl="0" indent="0" marL="0">
              <a:buNone/>
            </a:pPr>
            <a:r>
              <a:rPr/>
              <a:t>Term: substring Example ID: substrings-with-indices-term-substring Example scope: isolated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3a. Accept </a:t>
            </a:r>
            <a:r>
              <a:rPr>
                <a:latin typeface="Courier New"/>
              </a:rPr>
              <a:t>print</a:t>
            </a:r>
            <a:r>
              <a:rPr/>
              <a:t> with sep=</a:t>
            </a:r>
            <a:r>
              <a:rPr>
                <a:latin typeface="Courier New"/>
              </a:rPr>
              <a:t>""</a:t>
            </a:r>
            <a:r>
              <a:rPr/>
              <a:t> as another approach. A </a:t>
            </a:r>
            <a:r>
              <a:rPr>
                <a:latin typeface="Courier New"/>
              </a:rPr>
              <a:t>print</a:t>
            </a:r>
            <a:r>
              <a:rPr/>
              <a:t> call with four default-separated arguments adds spaces and does not produce Some. This and the next slide share the ten-minute slicing block. Students keep working during practice.</a:t>
            </a:r>
          </a:p>
          <a:p>
            <a:pPr lvl="0" indent="0" marL="0">
              <a:buNone/>
            </a:pPr>
          </a:p>
          <a:p>
            <a:pPr lvl="0" indent="0" marL="0">
              <a:buNone/>
            </a:pPr>
            <a:r>
              <a:rPr/>
              <a:t>Activity ID: substrings-with-indices</a:t>
            </a:r>
          </a:p>
          <a:p>
            <a:pPr lvl="0" indent="0" marL="0">
              <a:buNone/>
            </a:pPr>
          </a:p>
          <a:p>
            <a:pPr lvl="0" indent="0" marL="0">
              <a:buNone/>
            </a:pPr>
            <a:r>
              <a:rPr/>
              <a:t>Slide template: terminology</a:t>
            </a:r>
          </a:p>
          <a:p>
            <a:pPr lvl="0" indent="0" marL="0">
              <a:buNone/>
            </a:pPr>
          </a:p>
          <a:p>
            <a:pPr lvl="0" indent="0" marL="0">
              <a:buNone/>
            </a:pPr>
            <a:r>
              <a:rPr/>
              <a:t>Term: substring Example ID: substrings-with-indices-term-substring Example scope: isolated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3a. Accept </a:t>
            </a:r>
            <a:r>
              <a:rPr>
                <a:latin typeface="Courier New"/>
              </a:rPr>
              <a:t>print</a:t>
            </a:r>
            <a:r>
              <a:rPr/>
              <a:t> with sep=</a:t>
            </a:r>
            <a:r>
              <a:rPr>
                <a:latin typeface="Courier New"/>
              </a:rPr>
              <a:t>""</a:t>
            </a:r>
            <a:r>
              <a:rPr/>
              <a:t> as another approach. A </a:t>
            </a:r>
            <a:r>
              <a:rPr>
                <a:latin typeface="Courier New"/>
              </a:rPr>
              <a:t>print</a:t>
            </a:r>
            <a:r>
              <a:rPr/>
              <a:t> call with four default-separated arguments adds spaces and does not produce Some. This and the next slide share the ten-minute slicing block. Students keep working during practice.</a:t>
            </a:r>
          </a:p>
          <a:p>
            <a:pPr lvl="0" indent="0" marL="0">
              <a:buNone/>
            </a:pPr>
          </a:p>
          <a:p>
            <a:pPr lvl="0" indent="0" marL="0">
              <a:buNone/>
            </a:pPr>
            <a:r>
              <a:rPr/>
              <a:t>Activity ID: substrings-with-indices</a:t>
            </a:r>
          </a:p>
          <a:p>
            <a:pPr lvl="0" indent="0" marL="0">
              <a:buNone/>
            </a:pPr>
          </a:p>
          <a:p>
            <a:pPr lvl="0" indent="0" marL="0">
              <a:buNone/>
            </a:pPr>
            <a:r>
              <a:rPr/>
              <a:t>Slide template: terminology</a:t>
            </a:r>
          </a:p>
          <a:p>
            <a:pPr lvl="0" indent="0" marL="0">
              <a:buNone/>
            </a:pPr>
          </a:p>
          <a:p>
            <a:pPr lvl="0" indent="0" marL="0">
              <a:buNone/>
            </a:pPr>
            <a:r>
              <a:rPr/>
              <a:t>Term: concatenation Example ID: substrings-with-indices-term-concatenation Example scope: isolated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3a. Accept </a:t>
            </a:r>
            <a:r>
              <a:rPr>
                <a:latin typeface="Courier New"/>
              </a:rPr>
              <a:t>print</a:t>
            </a:r>
            <a:r>
              <a:rPr/>
              <a:t> with sep=</a:t>
            </a:r>
            <a:r>
              <a:rPr>
                <a:latin typeface="Courier New"/>
              </a:rPr>
              <a:t>""</a:t>
            </a:r>
            <a:r>
              <a:rPr/>
              <a:t> as another approach. A </a:t>
            </a:r>
            <a:r>
              <a:rPr>
                <a:latin typeface="Courier New"/>
              </a:rPr>
              <a:t>print</a:t>
            </a:r>
            <a:r>
              <a:rPr/>
              <a:t> call with four default-separated arguments adds spaces and does not produce Some. This and the next slide share the ten-minute slicing block. Students keep working during practice.</a:t>
            </a:r>
          </a:p>
          <a:p>
            <a:pPr lvl="0" indent="0" marL="0">
              <a:buNone/>
            </a:pPr>
          </a:p>
          <a:p>
            <a:pPr lvl="0" indent="0" marL="0">
              <a:buNone/>
            </a:pPr>
            <a:r>
              <a:rPr/>
              <a:t>Activity ID: substrings-with-indices</a:t>
            </a:r>
          </a:p>
          <a:p>
            <a:pPr lvl="0" indent="0" marL="0">
              <a:buNone/>
            </a:pPr>
          </a:p>
          <a:p>
            <a:pPr lvl="0" indent="0" marL="0">
              <a:buNone/>
            </a:pPr>
            <a:r>
              <a:rPr/>
              <a:t>Slide template: terminology</a:t>
            </a:r>
          </a:p>
          <a:p>
            <a:pPr lvl="0" indent="0" marL="0">
              <a:buNone/>
            </a:pPr>
          </a:p>
          <a:p>
            <a:pPr lvl="0" indent="0" marL="0">
              <a:buNone/>
            </a:pPr>
            <a:r>
              <a:rPr/>
              <a:t>Term: concatenation Example ID: substrings-with-indices-term-concatenation Example scope: isolated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3a. Accept </a:t>
            </a:r>
            <a:r>
              <a:rPr>
                <a:latin typeface="Courier New"/>
              </a:rPr>
              <a:t>print</a:t>
            </a:r>
            <a:r>
              <a:rPr/>
              <a:t> with sep=</a:t>
            </a:r>
            <a:r>
              <a:rPr>
                <a:latin typeface="Courier New"/>
              </a:rPr>
              <a:t>""</a:t>
            </a:r>
            <a:r>
              <a:rPr/>
              <a:t> as another approach. A </a:t>
            </a:r>
            <a:r>
              <a:rPr>
                <a:latin typeface="Courier New"/>
              </a:rPr>
              <a:t>print</a:t>
            </a:r>
            <a:r>
              <a:rPr/>
              <a:t> call with four default-separated arguments adds spaces and does not produce Some. This and the next slide share the ten-minute slicing block. Students keep working during practice.</a:t>
            </a:r>
          </a:p>
          <a:p>
            <a:pPr lvl="0" indent="0" marL="0">
              <a:buNone/>
            </a:pPr>
          </a:p>
          <a:p>
            <a:pPr lvl="0" indent="0" marL="0">
              <a:buNone/>
            </a:pPr>
            <a:r>
              <a:rPr/>
              <a:t>Activity ID: substrings-with-indices</a:t>
            </a:r>
          </a:p>
          <a:p>
            <a:pPr lvl="0" indent="0" marL="0">
              <a:buNone/>
            </a:pPr>
          </a:p>
          <a:p>
            <a:pPr lvl="0" indent="0" marL="0">
              <a:buNone/>
            </a:pPr>
            <a:r>
              <a:rPr/>
              <a:t>Slide template: code</a:t>
            </a:r>
          </a:p>
          <a:p>
            <a:pPr lvl="0" indent="0" marL="0">
              <a:buNone/>
            </a:pPr>
          </a:p>
          <a:p>
            <a:pPr lvl="0" indent="0" marL="0">
              <a:buNone/>
            </a:pPr>
            <a:r>
              <a:rPr/>
              <a:t>Example ID: substrings-with-indices Example scope: lesson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3a. Accept </a:t>
            </a:r>
            <a:r>
              <a:rPr>
                <a:latin typeface="Courier New"/>
              </a:rPr>
              <a:t>print</a:t>
            </a:r>
            <a:r>
              <a:rPr/>
              <a:t> with sep=</a:t>
            </a:r>
            <a:r>
              <a:rPr>
                <a:latin typeface="Courier New"/>
              </a:rPr>
              <a:t>""</a:t>
            </a:r>
            <a:r>
              <a:rPr/>
              <a:t> as another approach. A </a:t>
            </a:r>
            <a:r>
              <a:rPr>
                <a:latin typeface="Courier New"/>
              </a:rPr>
              <a:t>print</a:t>
            </a:r>
            <a:r>
              <a:rPr/>
              <a:t> call with four default-separated arguments adds spaces and does not produce Some. This and the next slide share the ten-minute slicing block. Students keep working during practice.</a:t>
            </a:r>
          </a:p>
          <a:p>
            <a:pPr lvl="0" indent="0" marL="0">
              <a:buNone/>
            </a:pPr>
          </a:p>
          <a:p>
            <a:pPr lvl="0" indent="0" marL="0">
              <a:buNone/>
            </a:pPr>
            <a:r>
              <a:rPr/>
              <a:t>Activity ID: substrings-with-indices</a:t>
            </a:r>
          </a:p>
          <a:p>
            <a:pPr lvl="0" indent="0" marL="0">
              <a:buNone/>
            </a:pPr>
          </a:p>
          <a:p>
            <a:pPr lvl="0" indent="0" marL="0">
              <a:buNone/>
            </a:pPr>
            <a:r>
              <a:rPr/>
              <a:t>Slide template: code</a:t>
            </a:r>
          </a:p>
          <a:p>
            <a:pPr lvl="0" indent="0" marL="0">
              <a:buNone/>
            </a:pPr>
          </a:p>
          <a:p>
            <a:pPr lvl="0" indent="0" marL="0">
              <a:buNone/>
            </a:pPr>
            <a:r>
              <a:rPr/>
              <a:t>Example ID: substrings-with-indices Example scope: lesson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3a. Accept </a:t>
            </a:r>
            <a:r>
              <a:rPr>
                <a:latin typeface="Courier New"/>
              </a:rPr>
              <a:t>print</a:t>
            </a:r>
            <a:r>
              <a:rPr/>
              <a:t> with sep=</a:t>
            </a:r>
            <a:r>
              <a:rPr>
                <a:latin typeface="Courier New"/>
              </a:rPr>
              <a:t>""</a:t>
            </a:r>
            <a:r>
              <a:rPr/>
              <a:t> as another approach. A </a:t>
            </a:r>
            <a:r>
              <a:rPr>
                <a:latin typeface="Courier New"/>
              </a:rPr>
              <a:t>print</a:t>
            </a:r>
            <a:r>
              <a:rPr/>
              <a:t> call with four default-separated arguments adds spaces and does not produce Some. This and the next slide share the ten-minute slicing block. Students keep working during practice.</a:t>
            </a:r>
          </a:p>
          <a:p>
            <a:pPr lvl="0" indent="0" marL="0">
              <a:buNone/>
            </a:pPr>
          </a:p>
          <a:p>
            <a:pPr lvl="0" indent="0" marL="0">
              <a:buNone/>
            </a:pPr>
            <a:r>
              <a:rPr/>
              <a:t>Activity ID: substrings-with-indices</a:t>
            </a:r>
          </a:p>
          <a:p>
            <a:pPr lvl="0" indent="0" marL="0">
              <a:buNone/>
            </a:pPr>
          </a:p>
          <a:p>
            <a:pPr lvl="0" indent="0" marL="0">
              <a:buNone/>
            </a:pPr>
            <a:r>
              <a:rPr/>
              <a:t>Slide template: exercise</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3b, with thing added as a boundary check. Core on both regular and guest days. Do not make slicing optional. For learners needing support, draw a boundary before index 0 and before index 4.</a:t>
            </a:r>
          </a:p>
          <a:p>
            <a:pPr lvl="0" indent="0" marL="0">
              <a:buNone/>
            </a:pPr>
          </a:p>
          <a:p>
            <a:pPr lvl="0" indent="0" marL="0">
              <a:buNone/>
            </a:pPr>
            <a:r>
              <a:rPr/>
              <a:t>Activity ID: slicing</a:t>
            </a:r>
          </a:p>
          <a:p>
            <a:pPr lvl="0" indent="0" marL="0">
              <a:buNone/>
            </a:pPr>
          </a:p>
          <a:p>
            <a:pPr lvl="0" indent="0" marL="0">
              <a:buNone/>
            </a:pPr>
            <a:r>
              <a:rPr/>
              <a:t>Slide template: terminology</a:t>
            </a:r>
          </a:p>
          <a:p>
            <a:pPr lvl="0" indent="0" marL="0">
              <a:buNone/>
            </a:pPr>
          </a:p>
          <a:p>
            <a:pPr lvl="0" indent="0" marL="0">
              <a:buNone/>
            </a:pPr>
            <a:r>
              <a:rPr/>
              <a:t>Term: slice Example ID: slicing-term-slice Example scope: isolated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3b, with thing added as a boundary check. Core on both regular and guest days. Do not make slicing optional. For learners needing support, draw a boundary before index 0 and before index 4.</a:t>
            </a:r>
          </a:p>
          <a:p>
            <a:pPr lvl="0" indent="0" marL="0">
              <a:buNone/>
            </a:pPr>
          </a:p>
          <a:p>
            <a:pPr lvl="0" indent="0" marL="0">
              <a:buNone/>
            </a:pPr>
            <a:r>
              <a:rPr/>
              <a:t>Activity ID: slicing</a:t>
            </a:r>
          </a:p>
          <a:p>
            <a:pPr lvl="0" indent="0" marL="0">
              <a:buNone/>
            </a:pPr>
          </a:p>
          <a:p>
            <a:pPr lvl="0" indent="0" marL="0">
              <a:buNone/>
            </a:pPr>
            <a:r>
              <a:rPr/>
              <a:t>Slide template: terminology</a:t>
            </a:r>
          </a:p>
          <a:p>
            <a:pPr lvl="0" indent="0" marL="0">
              <a:buNone/>
            </a:pPr>
          </a:p>
          <a:p>
            <a:pPr lvl="0" indent="0" marL="0">
              <a:buNone/>
            </a:pPr>
            <a:r>
              <a:rPr/>
              <a:t>Term: slice Example ID: slicing-term-slice Example scope: isolated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3b, with thing added as a boundary check. Core on both regular and guest days. Do not make slicing optional. For learners needing support, draw a boundary before index 0 and before index 4.</a:t>
            </a:r>
          </a:p>
          <a:p>
            <a:pPr lvl="0" indent="0" marL="0">
              <a:buNone/>
            </a:pPr>
          </a:p>
          <a:p>
            <a:pPr lvl="0" indent="0" marL="0">
              <a:buNone/>
            </a:pPr>
            <a:r>
              <a:rPr/>
              <a:t>Activity ID: slicing</a:t>
            </a:r>
          </a:p>
          <a:p>
            <a:pPr lvl="0" indent="0" marL="0">
              <a:buNone/>
            </a:pPr>
          </a:p>
          <a:p>
            <a:pPr lvl="0" indent="0" marL="0">
              <a:buNone/>
            </a:pPr>
            <a:r>
              <a:rPr/>
              <a:t>Slide template: terminology</a:t>
            </a:r>
          </a:p>
          <a:p>
            <a:pPr lvl="0" indent="0" marL="0">
              <a:buNone/>
            </a:pPr>
          </a:p>
          <a:p>
            <a:pPr lvl="0" indent="0" marL="0">
              <a:buNone/>
            </a:pPr>
            <a:r>
              <a:rPr/>
              <a:t>Term: expression Example ID: slicing-term-expression Example scope: isolated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3b, with thing added as a boundary check. Core on both regular and guest days. Do not make slicing optional. For learners needing support, draw a boundary before index 0 and before index 4.</a:t>
            </a:r>
          </a:p>
          <a:p>
            <a:pPr lvl="0" indent="0" marL="0">
              <a:buNone/>
            </a:pPr>
          </a:p>
          <a:p>
            <a:pPr lvl="0" indent="0" marL="0">
              <a:buNone/>
            </a:pPr>
            <a:r>
              <a:rPr/>
              <a:t>Activity ID: slicing</a:t>
            </a:r>
          </a:p>
          <a:p>
            <a:pPr lvl="0" indent="0" marL="0">
              <a:buNone/>
            </a:pPr>
          </a:p>
          <a:p>
            <a:pPr lvl="0" indent="0" marL="0">
              <a:buNone/>
            </a:pPr>
            <a:r>
              <a:rPr/>
              <a:t>Slide template: terminology</a:t>
            </a:r>
          </a:p>
          <a:p>
            <a:pPr lvl="0" indent="0" marL="0">
              <a:buNone/>
            </a:pPr>
          </a:p>
          <a:p>
            <a:pPr lvl="0" indent="0" marL="0">
              <a:buNone/>
            </a:pPr>
            <a:r>
              <a:rPr/>
              <a:t>Term: expression Example ID: slicing-term-expression Example scope: isolated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3b, with thing added as a boundary check. Core on both regular and guest days. Do not make slicing optional. For learners needing support, draw a boundary before index 0 and before index 4.</a:t>
            </a:r>
          </a:p>
          <a:p>
            <a:pPr lvl="0" indent="0" marL="0">
              <a:buNone/>
            </a:pPr>
          </a:p>
          <a:p>
            <a:pPr lvl="0" indent="0" marL="0">
              <a:buNone/>
            </a:pPr>
            <a:r>
              <a:rPr/>
              <a:t>Activity ID: slicing</a:t>
            </a:r>
          </a:p>
          <a:p>
            <a:pPr lvl="0" indent="0" marL="0">
              <a:buNone/>
            </a:pPr>
          </a:p>
          <a:p>
            <a:pPr lvl="0" indent="0" marL="0">
              <a:buNone/>
            </a:pPr>
            <a:r>
              <a:rPr/>
              <a:t>Slide template: code</a:t>
            </a:r>
          </a:p>
          <a:p>
            <a:pPr lvl="0" indent="0" marL="0">
              <a:buNone/>
            </a:pPr>
          </a:p>
          <a:p>
            <a:pPr lvl="0" indent="0" marL="0">
              <a:buNone/>
            </a:pPr>
            <a:r>
              <a:rPr/>
              <a:t>Example ID: slicing Example scope: lesson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3b, with thing added as a boundary check. Core on both regular and guest days. Do not make slicing optional. For learners needing support, draw a boundary before index 0 and before index 4.</a:t>
            </a:r>
          </a:p>
          <a:p>
            <a:pPr lvl="0" indent="0" marL="0">
              <a:buNone/>
            </a:pPr>
          </a:p>
          <a:p>
            <a:pPr lvl="0" indent="0" marL="0">
              <a:buNone/>
            </a:pPr>
            <a:r>
              <a:rPr/>
              <a:t>Activity ID: slicing</a:t>
            </a:r>
          </a:p>
          <a:p>
            <a:pPr lvl="0" indent="0" marL="0">
              <a:buNone/>
            </a:pPr>
          </a:p>
          <a:p>
            <a:pPr lvl="0" indent="0" marL="0">
              <a:buNone/>
            </a:pPr>
            <a:r>
              <a:rPr/>
              <a:t>Slide template: code</a:t>
            </a:r>
          </a:p>
          <a:p>
            <a:pPr lvl="0" indent="0" marL="0">
              <a:buNone/>
            </a:pPr>
          </a:p>
          <a:p>
            <a:pPr lvl="0" indent="0" marL="0">
              <a:buNone/>
            </a:pPr>
            <a:r>
              <a:rPr/>
              <a:t>Example ID: slicing Example scope: lesson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3b, with thing added as a boundary check. Core on both regular and guest days. Do not make slicing optional. For learners needing support, draw a boundary before index 0 and before index 4.</a:t>
            </a:r>
          </a:p>
          <a:p>
            <a:pPr lvl="0" indent="0" marL="0">
              <a:buNone/>
            </a:pPr>
          </a:p>
          <a:p>
            <a:pPr lvl="0" indent="0" marL="0">
              <a:buNone/>
            </a:pPr>
            <a:r>
              <a:rPr/>
              <a:t>Activity ID: slicing</a:t>
            </a:r>
          </a:p>
          <a:p>
            <a:pPr lvl="0" indent="0" marL="0">
              <a:buNone/>
            </a:pPr>
          </a:p>
          <a:p>
            <a:pPr lvl="0" indent="0" marL="0">
              <a:buNone/>
            </a:pPr>
            <a:r>
              <a:rPr/>
              <a:t>Slide template: exercise</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5. Five-minute regular-day introduction. Guest days use this as practice reference with mentor help. Methods do not rewrite the original string. Deliberately invalid indexed assignment is explained in prose so a student can run the full notebook without an unhandled error. Capitalization experiments are not a rule for correcting people’s names.</a:t>
            </a:r>
          </a:p>
          <a:p>
            <a:pPr lvl="0" indent="0" marL="0">
              <a:buNone/>
            </a:pPr>
          </a:p>
          <a:p>
            <a:pPr lvl="0" indent="0" marL="0">
              <a:buNone/>
            </a:pPr>
            <a:r>
              <a:rPr/>
              <a:t>Activity ID: methods-and-immutability</a:t>
            </a:r>
          </a:p>
          <a:p>
            <a:pPr lvl="0" indent="0" marL="0">
              <a:buNone/>
            </a:pPr>
          </a:p>
          <a:p>
            <a:pPr lvl="0" indent="0" marL="0">
              <a:buNone/>
            </a:pPr>
            <a:r>
              <a:rPr/>
              <a:t>Slide template: terminology</a:t>
            </a:r>
          </a:p>
          <a:p>
            <a:pPr lvl="0" indent="0" marL="0">
              <a:buNone/>
            </a:pPr>
          </a:p>
          <a:p>
            <a:pPr lvl="0" indent="0" marL="0">
              <a:buNone/>
            </a:pPr>
            <a:r>
              <a:rPr/>
              <a:t>Term: method Example ID: methods-and-immutability-term-method Example scope: isolated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5. Five-minute regular-day introduction. Guest days use this as practice reference with mentor help. Methods do not rewrite the original string. Deliberately invalid indexed assignment is explained in prose so a student can run the full notebook without an unhandled error. Capitalization experiments are not a rule for correcting people’s names.</a:t>
            </a:r>
          </a:p>
          <a:p>
            <a:pPr lvl="0" indent="0" marL="0">
              <a:buNone/>
            </a:pPr>
          </a:p>
          <a:p>
            <a:pPr lvl="0" indent="0" marL="0">
              <a:buNone/>
            </a:pPr>
            <a:r>
              <a:rPr/>
              <a:t>Activity ID: methods-and-immutability</a:t>
            </a:r>
          </a:p>
          <a:p>
            <a:pPr lvl="0" indent="0" marL="0">
              <a:buNone/>
            </a:pPr>
          </a:p>
          <a:p>
            <a:pPr lvl="0" indent="0" marL="0">
              <a:buNone/>
            </a:pPr>
            <a:r>
              <a:rPr/>
              <a:t>Slide template: terminology</a:t>
            </a:r>
          </a:p>
          <a:p>
            <a:pPr lvl="0" indent="0" marL="0">
              <a:buNone/>
            </a:pPr>
          </a:p>
          <a:p>
            <a:pPr lvl="0" indent="0" marL="0">
              <a:buNone/>
            </a:pPr>
            <a:r>
              <a:rPr/>
              <a:t>Term: method Example ID: methods-and-immutability-term-method Example scope: isolated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5. Five-minute regular-day introduction. Guest days use this as practice reference with mentor help. Methods do not rewrite the original string. Deliberately invalid indexed assignment is explained in prose so a student can run the full notebook without an unhandled error. Capitalization experiments are not a rule for correcting people’s names.</a:t>
            </a:r>
          </a:p>
          <a:p>
            <a:pPr lvl="0" indent="0" marL="0">
              <a:buNone/>
            </a:pPr>
          </a:p>
          <a:p>
            <a:pPr lvl="0" indent="0" marL="0">
              <a:buNone/>
            </a:pPr>
            <a:r>
              <a:rPr/>
              <a:t>Activity ID: methods-and-immutability</a:t>
            </a:r>
          </a:p>
          <a:p>
            <a:pPr lvl="0" indent="0" marL="0">
              <a:buNone/>
            </a:pPr>
          </a:p>
          <a:p>
            <a:pPr lvl="0" indent="0" marL="0">
              <a:buNone/>
            </a:pPr>
            <a:r>
              <a:rPr/>
              <a:t>Slide template: terminology</a:t>
            </a:r>
          </a:p>
          <a:p>
            <a:pPr lvl="0" indent="0" marL="0">
              <a:buNone/>
            </a:pPr>
          </a:p>
          <a:p>
            <a:pPr lvl="0" indent="0" marL="0">
              <a:buNone/>
            </a:pPr>
            <a:r>
              <a:rPr/>
              <a:t>Term: chaining Example ID: methods-and-immutability-term-chaining Example scope: isolated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5. Five-minute regular-day introduction. Guest days use this as practice reference with mentor help. Methods do not rewrite the original string. Deliberately invalid indexed assignment is explained in prose so a student can run the full notebook without an unhandled error. Capitalization experiments are not a rule for correcting people’s names.</a:t>
            </a:r>
          </a:p>
          <a:p>
            <a:pPr lvl="0" indent="0" marL="0">
              <a:buNone/>
            </a:pPr>
          </a:p>
          <a:p>
            <a:pPr lvl="0" indent="0" marL="0">
              <a:buNone/>
            </a:pPr>
            <a:r>
              <a:rPr/>
              <a:t>Activity ID: methods-and-immutability</a:t>
            </a:r>
          </a:p>
          <a:p>
            <a:pPr lvl="0" indent="0" marL="0">
              <a:buNone/>
            </a:pPr>
          </a:p>
          <a:p>
            <a:pPr lvl="0" indent="0" marL="0">
              <a:buNone/>
            </a:pPr>
            <a:r>
              <a:rPr/>
              <a:t>Slide template: terminology</a:t>
            </a:r>
          </a:p>
          <a:p>
            <a:pPr lvl="0" indent="0" marL="0">
              <a:buNone/>
            </a:pPr>
          </a:p>
          <a:p>
            <a:pPr lvl="0" indent="0" marL="0">
              <a:buNone/>
            </a:pPr>
            <a:r>
              <a:rPr/>
              <a:t>Term: chaining Example ID: methods-and-immutability-term-chaining Example scope: isolated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5. Five-minute regular-day introduction. Guest days use this as practice reference with mentor help. Methods do not rewrite the original string. Deliberately invalid indexed assignment is explained in prose so a student can run the full notebook without an unhandled error. Capitalization experiments are not a rule for correcting people’s names.</a:t>
            </a:r>
          </a:p>
          <a:p>
            <a:pPr lvl="0" indent="0" marL="0">
              <a:buNone/>
            </a:pPr>
          </a:p>
          <a:p>
            <a:pPr lvl="0" indent="0" marL="0">
              <a:buNone/>
            </a:pPr>
            <a:r>
              <a:rPr/>
              <a:t>Activity ID: methods-and-immutability</a:t>
            </a:r>
          </a:p>
          <a:p>
            <a:pPr lvl="0" indent="0" marL="0">
              <a:buNone/>
            </a:pPr>
          </a:p>
          <a:p>
            <a:pPr lvl="0" indent="0" marL="0">
              <a:buNone/>
            </a:pPr>
            <a:r>
              <a:rPr/>
              <a:t>Slide template: terminology</a:t>
            </a:r>
          </a:p>
          <a:p>
            <a:pPr lvl="0" indent="0" marL="0">
              <a:buNone/>
            </a:pPr>
          </a:p>
          <a:p>
            <a:pPr lvl="0" indent="0" marL="0">
              <a:buNone/>
            </a:pPr>
            <a:r>
              <a:rPr/>
              <a:t>Term: immutable Example ID: methods-and-immutability-term-immutable Example scope: isolated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5. Five-minute regular-day introduction. Guest days use this as practice reference with mentor help. Methods do not rewrite the original string. Deliberately invalid indexed assignment is explained in prose so a student can run the full notebook without an unhandled error. Capitalization experiments are not a rule for correcting people’s names.</a:t>
            </a:r>
          </a:p>
          <a:p>
            <a:pPr lvl="0" indent="0" marL="0">
              <a:buNone/>
            </a:pPr>
          </a:p>
          <a:p>
            <a:pPr lvl="0" indent="0" marL="0">
              <a:buNone/>
            </a:pPr>
            <a:r>
              <a:rPr/>
              <a:t>Activity ID: methods-and-immutability</a:t>
            </a:r>
          </a:p>
          <a:p>
            <a:pPr lvl="0" indent="0" marL="0">
              <a:buNone/>
            </a:pPr>
          </a:p>
          <a:p>
            <a:pPr lvl="0" indent="0" marL="0">
              <a:buNone/>
            </a:pPr>
            <a:r>
              <a:rPr/>
              <a:t>Slide template: terminology</a:t>
            </a:r>
          </a:p>
          <a:p>
            <a:pPr lvl="0" indent="0" marL="0">
              <a:buNone/>
            </a:pPr>
          </a:p>
          <a:p>
            <a:pPr lvl="0" indent="0" marL="0">
              <a:buNone/>
            </a:pPr>
            <a:r>
              <a:rPr/>
              <a:t>Term: immutable Example ID: methods-and-immutability-term-immutable Example scope: isolated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5. Five-minute regular-day introduction. Guest days use this as practice reference with mentor help. Methods do not rewrite the original string. Deliberately invalid indexed assignment is explained in prose so a student can run the full notebook without an unhandled error. Capitalization experiments are not a rule for correcting people’s names.</a:t>
            </a:r>
          </a:p>
          <a:p>
            <a:pPr lvl="0" indent="0" marL="0">
              <a:buNone/>
            </a:pPr>
          </a:p>
          <a:p>
            <a:pPr lvl="0" indent="0" marL="0">
              <a:buNone/>
            </a:pPr>
            <a:r>
              <a:rPr/>
              <a:t>Activity ID: methods-and-immutability</a:t>
            </a:r>
          </a:p>
          <a:p>
            <a:pPr lvl="0" indent="0" marL="0">
              <a:buNone/>
            </a:pPr>
          </a:p>
          <a:p>
            <a:pPr lvl="0" indent="0" marL="0">
              <a:buNone/>
            </a:pPr>
            <a:r>
              <a:rPr/>
              <a:t>Slide template: code-outcomes</a:t>
            </a:r>
          </a:p>
          <a:p>
            <a:pPr lvl="0" indent="0" marL="0">
              <a:buNone/>
            </a:pPr>
          </a:p>
          <a:p>
            <a:pPr lvl="0" indent="0" marL="0">
              <a:buNone/>
            </a:pPr>
            <a:r>
              <a:rPr/>
              <a:t>Example ID: methods-and-immutability Example scope: lesson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5. Five-minute regular-day introduction. Guest days use this as practice reference with mentor help. Methods do not rewrite the original string. Deliberately invalid indexed assignment is explained in prose so a student can run the full notebook without an unhandled error. Capitalization experiments are not a rule for correcting people’s names.</a:t>
            </a:r>
          </a:p>
          <a:p>
            <a:pPr lvl="0" indent="0" marL="0">
              <a:buNone/>
            </a:pPr>
          </a:p>
          <a:p>
            <a:pPr lvl="0" indent="0" marL="0">
              <a:buNone/>
            </a:pPr>
            <a:r>
              <a:rPr/>
              <a:t>Activity ID: methods-and-immutability</a:t>
            </a:r>
          </a:p>
          <a:p>
            <a:pPr lvl="0" indent="0" marL="0">
              <a:buNone/>
            </a:pPr>
          </a:p>
          <a:p>
            <a:pPr lvl="0" indent="0" marL="0">
              <a:buNone/>
            </a:pPr>
            <a:r>
              <a:rPr/>
              <a:t>Slide template: code-outcomes</a:t>
            </a:r>
          </a:p>
          <a:p>
            <a:pPr lvl="0" indent="0" marL="0">
              <a:buNone/>
            </a:pPr>
          </a:p>
          <a:p>
            <a:pPr lvl="0" indent="0" marL="0">
              <a:buNone/>
            </a:pPr>
            <a:r>
              <a:rPr/>
              <a:t>Example ID: methods-and-immutability Example scope: lesson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5. Five-minute regular-day introduction. Guest days use this as practice reference with mentor help. Methods do not rewrite the original string. Deliberately invalid indexed assignment is explained in prose so a student can run the full notebook without an unhandled error. Capitalization experiments are not a rule for correcting people’s names.</a:t>
            </a:r>
          </a:p>
          <a:p>
            <a:pPr lvl="0" indent="0" marL="0">
              <a:buNone/>
            </a:pPr>
          </a:p>
          <a:p>
            <a:pPr lvl="0" indent="0" marL="0">
              <a:buNone/>
            </a:pPr>
            <a:r>
              <a:rPr/>
              <a:t>Activity ID: methods-and-immutability</a:t>
            </a:r>
          </a:p>
          <a:p>
            <a:pPr lvl="0" indent="0" marL="0">
              <a:buNone/>
            </a:pPr>
          </a:p>
          <a:p>
            <a:pPr lvl="0" indent="0" marL="0">
              <a:buNone/>
            </a:pPr>
            <a:r>
              <a:rPr/>
              <a:t>Slide template: exercise</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Practice reference, not an additional lecture block. Original Exercise 4 and both decks’ omitted/negative-bound examples. Learners may stay with positive slices first. Use the matching practice exercise for an independent attempt.</a:t>
            </a:r>
          </a:p>
          <a:p>
            <a:pPr lvl="0" indent="0" marL="0">
              <a:buNone/>
            </a:pPr>
          </a:p>
          <a:p>
            <a:pPr lvl="0" indent="0" marL="0">
              <a:buNone/>
            </a:pPr>
            <a:r>
              <a:rPr/>
              <a:t>Activity ID: negative-indices-reference</a:t>
            </a:r>
          </a:p>
          <a:p>
            <a:pPr lvl="0" indent="0" marL="0">
              <a:buNone/>
            </a:pPr>
          </a:p>
          <a:p>
            <a:pPr lvl="0" indent="0" marL="0">
              <a:buNone/>
            </a:pPr>
            <a:r>
              <a:rPr/>
              <a:t>Slide template: terminology</a:t>
            </a:r>
          </a:p>
          <a:p>
            <a:pPr lvl="0" indent="0" marL="0">
              <a:buNone/>
            </a:pPr>
          </a:p>
          <a:p>
            <a:pPr lvl="0" indent="0" marL="0">
              <a:buNone/>
            </a:pPr>
            <a:r>
              <a:rPr/>
              <a:t>Term: negative index Example ID: negative-indices-reference-term-negative-index Example scope: isolated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Practice reference, not an additional lecture block. Original Exercise 4 and both decks’ omitted/negative-bound examples. Learners may stay with positive slices first. Use the matching practice exercise for an independent attempt.</a:t>
            </a:r>
          </a:p>
          <a:p>
            <a:pPr lvl="0" indent="0" marL="0">
              <a:buNone/>
            </a:pPr>
          </a:p>
          <a:p>
            <a:pPr lvl="0" indent="0" marL="0">
              <a:buNone/>
            </a:pPr>
            <a:r>
              <a:rPr/>
              <a:t>Activity ID: negative-indices-reference</a:t>
            </a:r>
          </a:p>
          <a:p>
            <a:pPr lvl="0" indent="0" marL="0">
              <a:buNone/>
            </a:pPr>
          </a:p>
          <a:p>
            <a:pPr lvl="0" indent="0" marL="0">
              <a:buNone/>
            </a:pPr>
            <a:r>
              <a:rPr/>
              <a:t>Slide template: terminology</a:t>
            </a:r>
          </a:p>
          <a:p>
            <a:pPr lvl="0" indent="0" marL="0">
              <a:buNone/>
            </a:pPr>
          </a:p>
          <a:p>
            <a:pPr lvl="0" indent="0" marL="0">
              <a:buNone/>
            </a:pPr>
            <a:r>
              <a:rPr/>
              <a:t>Term: negative index Example ID: negative-indices-reference-term-negative-index Example scope: isolated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Practice reference, not an additional lecture block. Original Exercise 4 and both decks’ omitted/negative-bound examples. Learners may stay with positive slices first. Use the matching practice exercise for an independent attempt.</a:t>
            </a:r>
          </a:p>
          <a:p>
            <a:pPr lvl="0" indent="0" marL="0">
              <a:buNone/>
            </a:pPr>
          </a:p>
          <a:p>
            <a:pPr lvl="0" indent="0" marL="0">
              <a:buNone/>
            </a:pPr>
            <a:r>
              <a:rPr/>
              <a:t>Activity ID: negative-indices-reference</a:t>
            </a:r>
          </a:p>
          <a:p>
            <a:pPr lvl="0" indent="0" marL="0">
              <a:buNone/>
            </a:pPr>
          </a:p>
          <a:p>
            <a:pPr lvl="0" indent="0" marL="0">
              <a:buNone/>
            </a:pPr>
            <a:r>
              <a:rPr/>
              <a:t>Slide template: code</a:t>
            </a:r>
          </a:p>
          <a:p>
            <a:pPr lvl="0" indent="0" marL="0">
              <a:buNone/>
            </a:pPr>
          </a:p>
          <a:p>
            <a:pPr lvl="0" indent="0" marL="0">
              <a:buNone/>
            </a:pPr>
            <a:r>
              <a:rPr/>
              <a:t>Example ID: negative-indices-reference Example scope: lesson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Practice reference, not an additional lecture block. Original Exercise 4 and both decks’ omitted/negative-bound examples. Learners may stay with positive slices first. Use the matching practice exercise for an independent attempt.</a:t>
            </a:r>
          </a:p>
          <a:p>
            <a:pPr lvl="0" indent="0" marL="0">
              <a:buNone/>
            </a:pPr>
          </a:p>
          <a:p>
            <a:pPr lvl="0" indent="0" marL="0">
              <a:buNone/>
            </a:pPr>
            <a:r>
              <a:rPr/>
              <a:t>Activity ID: negative-indices-reference</a:t>
            </a:r>
          </a:p>
          <a:p>
            <a:pPr lvl="0" indent="0" marL="0">
              <a:buNone/>
            </a:pPr>
          </a:p>
          <a:p>
            <a:pPr lvl="0" indent="0" marL="0">
              <a:buNone/>
            </a:pPr>
            <a:r>
              <a:rPr/>
              <a:t>Slide template: code</a:t>
            </a:r>
          </a:p>
          <a:p>
            <a:pPr lvl="0" indent="0" marL="0">
              <a:buNone/>
            </a:pPr>
          </a:p>
          <a:p>
            <a:pPr lvl="0" indent="0" marL="0">
              <a:buNone/>
            </a:pPr>
            <a:r>
              <a:rPr/>
              <a:t>Example ID: negative-indices-reference Example scope: lesson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banana example. Supports Exercise 6. Reference during further practice, not required direct instruction today. Differentiate a string result from the list returned by </a:t>
            </a:r>
            <a:r>
              <a:rPr>
                <a:latin typeface="Courier New"/>
              </a:rPr>
              <a:t>split</a:t>
            </a:r>
            <a:r>
              <a:rPr/>
              <a:t>.</a:t>
            </a:r>
          </a:p>
          <a:p>
            <a:pPr lvl="0" indent="0" marL="0">
              <a:buNone/>
            </a:pPr>
          </a:p>
          <a:p>
            <a:pPr lvl="0" indent="0" marL="0">
              <a:buNone/>
            </a:pPr>
            <a:r>
              <a:rPr/>
              <a:t>Activity ID: split-and-join-reference</a:t>
            </a:r>
          </a:p>
          <a:p>
            <a:pPr lvl="0" indent="0" marL="0">
              <a:buNone/>
            </a:pPr>
          </a:p>
          <a:p>
            <a:pPr lvl="0" indent="0" marL="0">
              <a:buNone/>
            </a:pPr>
            <a:r>
              <a:rPr/>
              <a:t>Slide template: terminology</a:t>
            </a:r>
          </a:p>
          <a:p>
            <a:pPr lvl="0" indent="0" marL="0">
              <a:buNone/>
            </a:pPr>
          </a:p>
          <a:p>
            <a:pPr lvl="0" indent="0" marL="0">
              <a:buNone/>
            </a:pPr>
            <a:r>
              <a:rPr/>
              <a:t>Term: delimiter Example ID: split-and-join-reference-term-delimiter Example scope: isolated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banana example. Supports Exercise 6. Reference during further practice, not required direct instruction today. Differentiate a string result from the list returned by </a:t>
            </a:r>
            <a:r>
              <a:rPr>
                <a:latin typeface="Courier New"/>
              </a:rPr>
              <a:t>split</a:t>
            </a:r>
            <a:r>
              <a:rPr/>
              <a:t>.</a:t>
            </a:r>
          </a:p>
          <a:p>
            <a:pPr lvl="0" indent="0" marL="0">
              <a:buNone/>
            </a:pPr>
          </a:p>
          <a:p>
            <a:pPr lvl="0" indent="0" marL="0">
              <a:buNone/>
            </a:pPr>
            <a:r>
              <a:rPr/>
              <a:t>Activity ID: split-and-join-reference</a:t>
            </a:r>
          </a:p>
          <a:p>
            <a:pPr lvl="0" indent="0" marL="0">
              <a:buNone/>
            </a:pPr>
          </a:p>
          <a:p>
            <a:pPr lvl="0" indent="0" marL="0">
              <a:buNone/>
            </a:pPr>
            <a:r>
              <a:rPr/>
              <a:t>Slide template: terminology</a:t>
            </a:r>
          </a:p>
          <a:p>
            <a:pPr lvl="0" indent="0" marL="0">
              <a:buNone/>
            </a:pPr>
          </a:p>
          <a:p>
            <a:pPr lvl="0" indent="0" marL="0">
              <a:buNone/>
            </a:pPr>
            <a:r>
              <a:rPr/>
              <a:t>Term: delimiter Example ID: split-and-join-reference-term-delimiter Example scope: isolated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banana example. Supports Exercise 6. Reference during further practice, not required direct instruction today. Differentiate a string result from the list returned by </a:t>
            </a:r>
            <a:r>
              <a:rPr>
                <a:latin typeface="Courier New"/>
              </a:rPr>
              <a:t>split</a:t>
            </a:r>
            <a:r>
              <a:rPr/>
              <a:t>.</a:t>
            </a:r>
          </a:p>
          <a:p>
            <a:pPr lvl="0" indent="0" marL="0">
              <a:buNone/>
            </a:pPr>
          </a:p>
          <a:p>
            <a:pPr lvl="0" indent="0" marL="0">
              <a:buNone/>
            </a:pPr>
            <a:r>
              <a:rPr/>
              <a:t>Activity ID: split-and-join-reference</a:t>
            </a:r>
          </a:p>
          <a:p>
            <a:pPr lvl="0" indent="0" marL="0">
              <a:buNone/>
            </a:pPr>
          </a:p>
          <a:p>
            <a:pPr lvl="0" indent="0" marL="0">
              <a:buNone/>
            </a:pPr>
            <a:r>
              <a:rPr/>
              <a:t>Slide template: terminology</a:t>
            </a:r>
          </a:p>
          <a:p>
            <a:pPr lvl="0" indent="0" marL="0">
              <a:buNone/>
            </a:pPr>
          </a:p>
          <a:p>
            <a:pPr lvl="0" indent="0" marL="0">
              <a:buNone/>
            </a:pPr>
            <a:r>
              <a:rPr/>
              <a:t>Term: list Example ID: split-and-join-reference-term-list Example scope: isolated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banana example. Supports Exercise 6. Reference during further practice, not required direct instruction today. Differentiate a string result from the list returned by </a:t>
            </a:r>
            <a:r>
              <a:rPr>
                <a:latin typeface="Courier New"/>
              </a:rPr>
              <a:t>split</a:t>
            </a:r>
            <a:r>
              <a:rPr/>
              <a:t>.</a:t>
            </a:r>
          </a:p>
          <a:p>
            <a:pPr lvl="0" indent="0" marL="0">
              <a:buNone/>
            </a:pPr>
          </a:p>
          <a:p>
            <a:pPr lvl="0" indent="0" marL="0">
              <a:buNone/>
            </a:pPr>
            <a:r>
              <a:rPr/>
              <a:t>Activity ID: split-and-join-reference</a:t>
            </a:r>
          </a:p>
          <a:p>
            <a:pPr lvl="0" indent="0" marL="0">
              <a:buNone/>
            </a:pPr>
          </a:p>
          <a:p>
            <a:pPr lvl="0" indent="0" marL="0">
              <a:buNone/>
            </a:pPr>
            <a:r>
              <a:rPr/>
              <a:t>Slide template: terminology</a:t>
            </a:r>
          </a:p>
          <a:p>
            <a:pPr lvl="0" indent="0" marL="0">
              <a:buNone/>
            </a:pPr>
          </a:p>
          <a:p>
            <a:pPr lvl="0" indent="0" marL="0">
              <a:buNone/>
            </a:pPr>
            <a:r>
              <a:rPr/>
              <a:t>Term: list Example ID: split-and-join-reference-term-list Example scope: isolated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banana example. Supports Exercise 6. Reference during further practice, not required direct instruction today. Differentiate a string result from the list returned by </a:t>
            </a:r>
            <a:r>
              <a:rPr>
                <a:latin typeface="Courier New"/>
              </a:rPr>
              <a:t>split</a:t>
            </a:r>
            <a:r>
              <a:rPr/>
              <a:t>.</a:t>
            </a:r>
          </a:p>
          <a:p>
            <a:pPr lvl="0" indent="0" marL="0">
              <a:buNone/>
            </a:pPr>
          </a:p>
          <a:p>
            <a:pPr lvl="0" indent="0" marL="0">
              <a:buNone/>
            </a:pPr>
            <a:r>
              <a:rPr/>
              <a:t>Activity ID: split-and-join-reference</a:t>
            </a:r>
          </a:p>
          <a:p>
            <a:pPr lvl="0" indent="0" marL="0">
              <a:buNone/>
            </a:pPr>
          </a:p>
          <a:p>
            <a:pPr lvl="0" indent="0" marL="0">
              <a:buNone/>
            </a:pPr>
            <a:r>
              <a:rPr/>
              <a:t>Slide template: code</a:t>
            </a:r>
          </a:p>
          <a:p>
            <a:pPr lvl="0" indent="0" marL="0">
              <a:buNone/>
            </a:pPr>
          </a:p>
          <a:p>
            <a:pPr lvl="0" indent="0" marL="0">
              <a:buNone/>
            </a:pPr>
            <a:r>
              <a:rPr/>
              <a:t>Example ID: split-and-join-reference Example scope: lesson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banana example. Supports Exercise 6. Reference during further practice, not required direct instruction today. Differentiate a string result from the list returned by </a:t>
            </a:r>
            <a:r>
              <a:rPr>
                <a:latin typeface="Courier New"/>
              </a:rPr>
              <a:t>split</a:t>
            </a:r>
            <a:r>
              <a:rPr/>
              <a:t>.</a:t>
            </a:r>
          </a:p>
          <a:p>
            <a:pPr lvl="0" indent="0" marL="0">
              <a:buNone/>
            </a:pPr>
          </a:p>
          <a:p>
            <a:pPr lvl="0" indent="0" marL="0">
              <a:buNone/>
            </a:pPr>
            <a:r>
              <a:rPr/>
              <a:t>Activity ID: split-and-join-reference</a:t>
            </a:r>
          </a:p>
          <a:p>
            <a:pPr lvl="0" indent="0" marL="0">
              <a:buNone/>
            </a:pPr>
          </a:p>
          <a:p>
            <a:pPr lvl="0" indent="0" marL="0">
              <a:buNone/>
            </a:pPr>
            <a:r>
              <a:rPr/>
              <a:t>Slide template: code</a:t>
            </a:r>
          </a:p>
          <a:p>
            <a:pPr lvl="0" indent="0" marL="0">
              <a:buNone/>
            </a:pPr>
          </a:p>
          <a:p>
            <a:pPr lvl="0" indent="0" marL="0">
              <a:buNone/>
            </a:pPr>
            <a:r>
              <a:rPr/>
              <a:t>Example ID: split-and-join-reference Example scope: lesson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banana-to-pear example. This is the final reference slide. Return to the notebook for practice. Invite an explanation of indexing versus slicing at 4:55pm. Retain unfinished challenges for virtual help or later review.</a:t>
            </a:r>
          </a:p>
          <a:p>
            <a:pPr lvl="0" indent="0" marL="0">
              <a:buNone/>
            </a:pPr>
          </a:p>
          <a:p>
            <a:pPr lvl="0" indent="0" marL="0">
              <a:buNone/>
            </a:pPr>
            <a:r>
              <a:rPr/>
              <a:t>Activity ID: replace-reference</a:t>
            </a:r>
          </a:p>
          <a:p>
            <a:pPr lvl="0" indent="0" marL="0">
              <a:buNone/>
            </a:pPr>
          </a:p>
          <a:p>
            <a:pPr lvl="0" indent="0" marL="0">
              <a:buNone/>
            </a:pPr>
            <a:r>
              <a:rPr/>
              <a:t>Slide template: code</a:t>
            </a:r>
          </a:p>
          <a:p>
            <a:pPr lvl="0" indent="0" marL="0">
              <a:buNone/>
            </a:pPr>
          </a:p>
          <a:p>
            <a:pPr lvl="0" indent="0" marL="0">
              <a:buNone/>
            </a:pPr>
            <a:r>
              <a:rPr/>
              <a:t>Example ID: replace-reference Example scope: lesson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banana-to-pear example. This is the final reference slide. Return to the notebook for practice. Invite an explanation of indexing versus slicing at 4:55pm. Retain unfinished challenges for virtual help or later review.</a:t>
            </a:r>
          </a:p>
          <a:p>
            <a:pPr lvl="0" indent="0" marL="0">
              <a:buNone/>
            </a:pPr>
          </a:p>
          <a:p>
            <a:pPr lvl="0" indent="0" marL="0">
              <a:buNone/>
            </a:pPr>
            <a:r>
              <a:rPr/>
              <a:t>Activity ID: replace-reference</a:t>
            </a:r>
          </a:p>
          <a:p>
            <a:pPr lvl="0" indent="0" marL="0">
              <a:buNone/>
            </a:pPr>
          </a:p>
          <a:p>
            <a:pPr lvl="0" indent="0" marL="0">
              <a:buNone/>
            </a:pPr>
            <a:r>
              <a:rPr/>
              <a:t>Slide template: code</a:t>
            </a:r>
          </a:p>
          <a:p>
            <a:pPr lvl="0" indent="0" marL="0">
              <a:buNone/>
            </a:pPr>
          </a:p>
          <a:p>
            <a:pPr lvl="0" indent="0" marL="0">
              <a:buNone/>
            </a:pPr>
            <a:r>
              <a:rPr/>
              <a:t>Example ID: replace-reference Example scope: lesson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Practice reference. Do not add lecture time. Original deck discusses natural language processing and document tools. Ask learners to identify the assumption behind a fixed index. Do not imply that this small example implements an AI tool.</a:t>
            </a:r>
          </a:p>
          <a:p>
            <a:pPr lvl="0" indent="0" marL="0">
              <a:buNone/>
            </a:pPr>
          </a:p>
          <a:p>
            <a:pPr lvl="0" indent="0" marL="0">
              <a:buNone/>
            </a:pPr>
            <a:r>
              <a:rPr/>
              <a:t>Activity ID: text-in-documents</a:t>
            </a:r>
          </a:p>
          <a:p>
            <a:pPr lvl="0" indent="0" marL="0">
              <a:buNone/>
            </a:pPr>
          </a:p>
          <a:p>
            <a:pPr lvl="0" indent="0" marL="0">
              <a:buNone/>
            </a:pPr>
            <a:r>
              <a:rPr/>
              <a:t>Slide template: application</a:t>
            </a:r>
          </a:p>
          <a:p>
            <a:pPr lvl="0" indent="0" marL="0">
              <a:buNone/>
            </a:pPr>
          </a:p>
          <a:p>
            <a:pPr lvl="0" indent="0" marL="0">
              <a:buNone/>
            </a:pPr>
            <a:r>
              <a:rPr/>
              <a:t>Example ID: text-in-documents Example scope: lesson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Practice reference. Do not add lecture time. Original deck discusses natural language processing and document tools. Ask learners to identify the assumption behind a fixed index. Do not imply that this small example implements an AI tool.</a:t>
            </a:r>
          </a:p>
          <a:p>
            <a:pPr lvl="0" indent="0" marL="0">
              <a:buNone/>
            </a:pPr>
          </a:p>
          <a:p>
            <a:pPr lvl="0" indent="0" marL="0">
              <a:buNone/>
            </a:pPr>
            <a:r>
              <a:rPr/>
              <a:t>Activity ID: text-in-documents</a:t>
            </a:r>
          </a:p>
          <a:p>
            <a:pPr lvl="0" indent="0" marL="0">
              <a:buNone/>
            </a:pPr>
          </a:p>
          <a:p>
            <a:pPr lvl="0" indent="0" marL="0">
              <a:buNone/>
            </a:pPr>
            <a:r>
              <a:rPr/>
              <a:t>Slide template: application</a:t>
            </a:r>
          </a:p>
          <a:p>
            <a:pPr lvl="0" indent="0" marL="0">
              <a:buNone/>
            </a:pPr>
          </a:p>
          <a:p>
            <a:pPr lvl="0" indent="0" marL="0">
              <a:buNone/>
            </a:pPr>
            <a:r>
              <a:rPr/>
              <a:t>Example ID: text-in-documents Example scope: lesson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4. The updated notebook adds thing. Extension uses the decks’ original slice exploration. Default slices move forward. A negative bound is not a negative step. Do not require reverse-step syntax here.</a:t>
            </a:r>
          </a:p>
          <a:p>
            <a:pPr lvl="0" indent="0" marL="0">
              <a:buNone/>
            </a:pPr>
          </a:p>
          <a:p>
            <a:pPr lvl="0" indent="0" marL="0">
              <a:buNone/>
            </a:pPr>
            <a:r>
              <a:rPr/>
              <a:t>Activity ID: negative-slice-practice</a:t>
            </a:r>
          </a:p>
          <a:p>
            <a:pPr lvl="0" indent="0" marL="0">
              <a:buNone/>
            </a:pPr>
          </a:p>
          <a:p>
            <a:pPr lvl="0" indent="0" marL="0">
              <a:buNone/>
            </a:pPr>
            <a:r>
              <a:rPr/>
              <a:t>Slide template: exercise</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Exercise 6. Reference slides retain the banana examples. A list is introduced only as </a:t>
            </a:r>
            <a:r>
              <a:rPr>
                <a:latin typeface="Courier New"/>
              </a:rPr>
              <a:t>split</a:t>
            </a:r>
            <a:r>
              <a:rPr/>
              <a:t>’s returned pieces. Accept other correct </a:t>
            </a:r>
            <a:r>
              <a:rPr>
                <a:latin typeface="Courier New"/>
              </a:rPr>
              <a:t>replace</a:t>
            </a:r>
            <a:r>
              <a:rPr/>
              <a:t> sequences. The requested intermediate Notice matters. Do not rush learners who are still practicing slices.</a:t>
            </a:r>
          </a:p>
          <a:p>
            <a:pPr lvl="0" indent="0" marL="0">
              <a:buNone/>
            </a:pPr>
          </a:p>
          <a:p>
            <a:pPr lvl="0" indent="0" marL="0">
              <a:buNone/>
            </a:pPr>
            <a:r>
              <a:rPr/>
              <a:t>Activity ID: split-join-replace-practice</a:t>
            </a:r>
          </a:p>
          <a:p>
            <a:pPr lvl="0" indent="0" marL="0">
              <a:buNone/>
            </a:pPr>
          </a:p>
          <a:p>
            <a:pPr lvl="0" indent="0" marL="0">
              <a:buNone/>
            </a:pPr>
            <a:r>
              <a:rPr/>
              <a:t>Slide template: exercise</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Bonus / Review 1. This known-text extraction task is distinct from the class’s hidden-word game. Avoid hard-coded name lengths so a solution works when a name changes. It is further practice, not a prerequisite to finishing the core lesson.</a:t>
            </a:r>
          </a:p>
          <a:p>
            <a:pPr lvl="0" indent="0" marL="0">
              <a:buNone/>
            </a:pPr>
          </a:p>
          <a:p>
            <a:pPr lvl="0" indent="0" marL="0">
              <a:buNone/>
            </a:pPr>
            <a:r>
              <a:rPr/>
              <a:t>Activity ID: mystery-phrase-practice</a:t>
            </a:r>
          </a:p>
          <a:p>
            <a:pPr lvl="0" indent="0" marL="0">
              <a:buNone/>
            </a:pPr>
          </a:p>
          <a:p>
            <a:pPr lvl="0" indent="0" marL="0">
              <a:buNone/>
            </a:pPr>
            <a:r>
              <a:rPr/>
              <a:t>Slide template: exercise</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Original Bonus / Review 2. Accept other correct approaches and have students explain each operation. No need to introduce format placeholders or require a particular number of methods. Use unfinished challenges on later review or virtual-support days.</a:t>
            </a:r>
          </a:p>
          <a:p>
            <a:pPr lvl="0" indent="0" marL="0">
              <a:buNone/>
            </a:pPr>
          </a:p>
          <a:p>
            <a:pPr lvl="0" indent="0" marL="0">
              <a:buNone/>
            </a:pPr>
            <a:r>
              <a:rPr/>
              <a:t>Activity ID: phrase-transformations</a:t>
            </a:r>
          </a:p>
          <a:p>
            <a:pPr lvl="0" indent="0" marL="0">
              <a:buNone/>
            </a:pPr>
          </a:p>
          <a:p>
            <a:pPr lvl="0" indent="0" marL="0">
              <a:buNone/>
            </a:pPr>
            <a:r>
              <a:rPr/>
              <a:t>Slide template: exercise</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49"/>
            <a:ext cx="4011084"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2389717" y="5367337"/>
            <a:ext cx="73152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609600" y="1600201"/>
            <a:ext cx="10972800" cy="4525963"/>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609600" y="6356351"/>
            <a:ext cx="2844800" cy="365125"/>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4165600" y="6356351"/>
            <a:ext cx="3860800" cy="365125"/>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8737600" y="6356351"/>
            <a:ext cx="2844800" cy="365125"/>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 Id="pi515Logo" Type="http://schemas.openxmlformats.org/officeDocument/2006/relationships/image" Target="../media/pi515-logo.png"/></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pi515Logo" Type="http://schemas.openxmlformats.org/officeDocument/2006/relationships/image" Target="../media/pi515-logo.png"/></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pi515Logo" Type="http://schemas.openxmlformats.org/officeDocument/2006/relationships/image" Target="../media/pi515-logo.png"/></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pi515Logo" Type="http://schemas.openxmlformats.org/officeDocument/2006/relationships/image" Target="../media/pi515-logo.png"/></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pi515Logo" Type="http://schemas.openxmlformats.org/officeDocument/2006/relationships/image" Target="../media/pi515-logo.png"/></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pi515Logo" Type="http://schemas.openxmlformats.org/officeDocument/2006/relationships/image" Target="../media/pi515-logo.png"/></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pi515Logo" Type="http://schemas.openxmlformats.org/officeDocument/2006/relationships/image" Target="../media/pi515-logo.png"/></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pi515Logo" Type="http://schemas.openxmlformats.org/officeDocument/2006/relationships/image" Target="../media/pi515-logo.png"/></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pi515Logo" Type="http://schemas.openxmlformats.org/officeDocument/2006/relationships/image" Target="../media/pi515-logo.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pi515Logo" Type="http://schemas.openxmlformats.org/officeDocument/2006/relationships/image" Target="../media/pi515-logo.png"/></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pi515Logo" Type="http://schemas.openxmlformats.org/officeDocument/2006/relationships/image" Target="../media/pi515-logo.png"/></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pi515Logo" Type="http://schemas.openxmlformats.org/officeDocument/2006/relationships/image" Target="../media/pi515-logo.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pi515Logo" Type="http://schemas.openxmlformats.org/officeDocument/2006/relationships/image" Target="../media/pi515-logo.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pi515Logo" Type="http://schemas.openxmlformats.org/officeDocument/2006/relationships/image" Target="../media/pi515-logo.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pi515Logo" Type="http://schemas.openxmlformats.org/officeDocument/2006/relationships/image" Target="../media/pi515-logo.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pi515Logo" Type="http://schemas.openxmlformats.org/officeDocument/2006/relationships/image" Target="../media/pi515-logo.png"/></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pi515Logo" Type="http://schemas.openxmlformats.org/officeDocument/2006/relationships/image" Target="../media/pi515-logo.png"/></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pi515Logo" Type="http://schemas.openxmlformats.org/officeDocument/2006/relationships/image" Target="../media/pi515-logo.png"/></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pi515Logo" Type="http://schemas.openxmlformats.org/officeDocument/2006/relationships/image" Target="../media/pi515-logo.png"/></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pi515Logo" Type="http://schemas.openxmlformats.org/officeDocument/2006/relationships/image" Target="../media/pi515-logo.png"/></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pi515Logo" Type="http://schemas.openxmlformats.org/officeDocument/2006/relationships/image" Target="../media/pi515-logo.png"/></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pi515Logo" Type="http://schemas.openxmlformats.org/officeDocument/2006/relationships/image" Target="../media/pi515-logo.png"/></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pi515Logo" Type="http://schemas.openxmlformats.org/officeDocument/2006/relationships/image" Target="../media/pi515-logo.png"/></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pi515Logo" Type="http://schemas.openxmlformats.org/officeDocument/2006/relationships/image" Target="../media/pi515-logo.png"/></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pi515Logo" Type="http://schemas.openxmlformats.org/officeDocument/2006/relationships/image" Target="../media/pi515-logo.png"/></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 Id="pi515Logo" Type="http://schemas.openxmlformats.org/officeDocument/2006/relationships/image" Target="../media/pi515-logo.png"/></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 Id="pi515Logo" Type="http://schemas.openxmlformats.org/officeDocument/2006/relationships/image" Target="../media/pi515-logo.png"/></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pi515Logo" Type="http://schemas.openxmlformats.org/officeDocument/2006/relationships/image" Target="../media/pi515-logo.png"/></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 Id="pi515Logo" Type="http://schemas.openxmlformats.org/officeDocument/2006/relationships/image" Target="../media/pi515-logo.png"/></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 Id="pi515Logo" Type="http://schemas.openxmlformats.org/officeDocument/2006/relationships/image" Target="../media/pi515-logo.png"/></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 Id="pi515Logo" Type="http://schemas.openxmlformats.org/officeDocument/2006/relationships/image" Target="../media/pi515-logo.png"/></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 Id="pi515Logo" Type="http://schemas.openxmlformats.org/officeDocument/2006/relationships/image" Target="../media/pi515-logo.png"/></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 Id="pi515Logo" Type="http://schemas.openxmlformats.org/officeDocument/2006/relationships/image" Target="../media/pi515-logo.png"/></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 Id="pi515Logo" Type="http://schemas.openxmlformats.org/officeDocument/2006/relationships/image" Target="../media/pi515-logo.png"/></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 Id="pi515Logo" Type="http://schemas.openxmlformats.org/officeDocument/2006/relationships/image" Target="../media/pi515-logo.png"/></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 Id="pi515Logo" Type="http://schemas.openxmlformats.org/officeDocument/2006/relationships/image" Target="../media/pi515-logo.png"/></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 Id="pi515Logo" Type="http://schemas.openxmlformats.org/officeDocument/2006/relationships/image" Target="../media/pi515-logo.png"/></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 Id="pi515Logo" Type="http://schemas.openxmlformats.org/officeDocument/2006/relationships/image" Target="../media/pi515-logo.png"/></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 Id="pi515Logo" Type="http://schemas.openxmlformats.org/officeDocument/2006/relationships/image" Target="../media/pi515-logo.png"/></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 Id="pi515Logo" Type="http://schemas.openxmlformats.org/officeDocument/2006/relationships/image" Target="../media/pi515-logo.png"/></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 Id="pi515Logo" Type="http://schemas.openxmlformats.org/officeDocument/2006/relationships/image" Target="../media/pi515-logo.png"/></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 Id="pi515Logo" Type="http://schemas.openxmlformats.org/officeDocument/2006/relationships/image" Target="../media/pi515-logo.png"/></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 Id="pi515Logo" Type="http://schemas.openxmlformats.org/officeDocument/2006/relationships/image" Target="../media/pi515-logo.png"/></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 Id="pi515Logo" Type="http://schemas.openxmlformats.org/officeDocument/2006/relationships/image" Target="../media/pi515-logo.png"/></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 Id="pi515Logo" Type="http://schemas.openxmlformats.org/officeDocument/2006/relationships/image" Target="../media/pi515-logo.png"/></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 Id="pi515Logo" Type="http://schemas.openxmlformats.org/officeDocument/2006/relationships/image" Target="../media/pi515-logo.png"/></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 Id="pi515Logo" Type="http://schemas.openxmlformats.org/officeDocument/2006/relationships/image" Target="../media/pi515-logo.png"/></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 Id="pi515Logo" Type="http://schemas.openxmlformats.org/officeDocument/2006/relationships/image" Target="../media/pi515-logo.png"/></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 Id="pi515Logo" Type="http://schemas.openxmlformats.org/officeDocument/2006/relationships/image" Target="../media/pi515-logo.png"/></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 Id="pi515Logo" Type="http://schemas.openxmlformats.org/officeDocument/2006/relationships/image" Target="../media/pi515-logo.png"/></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 Id="pi515Logo" Type="http://schemas.openxmlformats.org/officeDocument/2006/relationships/image" Target="../media/pi515-logo.png"/></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 Id="pi515Logo" Type="http://schemas.openxmlformats.org/officeDocument/2006/relationships/image" Target="../media/pi515-logo.png"/></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 Id="pi515Logo" Type="http://schemas.openxmlformats.org/officeDocument/2006/relationships/image" Target="../media/pi515-logo.png"/></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 Id="pi515Logo" Type="http://schemas.openxmlformats.org/officeDocument/2006/relationships/image" Target="../media/pi515-logo.png"/></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 Id="pi515Logo" Type="http://schemas.openxmlformats.org/officeDocument/2006/relationships/image" Target="../media/pi515-logo.png"/></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 Id="pi515Logo" Type="http://schemas.openxmlformats.org/officeDocument/2006/relationships/image" Target="../media/pi515-logo.png"/></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 Id="pi515Logo" Type="http://schemas.openxmlformats.org/officeDocument/2006/relationships/image" Target="../media/pi515-logo.png"/></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 Id="pi515Logo" Type="http://schemas.openxmlformats.org/officeDocument/2006/relationships/image" Target="../media/pi515-logo.png"/></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 Id="pi515Logo" Type="http://schemas.openxmlformats.org/officeDocument/2006/relationships/image" Target="../media/pi515-logo.png"/></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 Id="pi515Logo" Type="http://schemas.openxmlformats.org/officeDocument/2006/relationships/image" Target="../media/pi515-logo.png"/></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 Id="pi515Logo" Type="http://schemas.openxmlformats.org/officeDocument/2006/relationships/image" Target="../media/pi515-logo.png"/></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 Id="pi515Logo" Type="http://schemas.openxmlformats.org/officeDocument/2006/relationships/image" Target="../media/pi515-logo.png"/></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 Id="pi515Logo" Type="http://schemas.openxmlformats.org/officeDocument/2006/relationships/image" Target="../media/pi515-logo.png"/></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 Id="pi515Logo" Type="http://schemas.openxmlformats.org/officeDocument/2006/relationships/image" Target="../media/pi515-logo.png"/></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 Id="pi515Logo" Type="http://schemas.openxmlformats.org/officeDocument/2006/relationships/image" Target="../media/pi515-logo.png"/></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 Id="pi515Logo" Type="http://schemas.openxmlformats.org/officeDocument/2006/relationships/image" Target="../media/pi515-logo.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4360" y="1005840"/>
            <a:ext cx="10972800" cy="1554480"/>
          </a:xfrm>
        </p:spPr>
        <p:txBody>
          <a:bodyPr anchor="t" lIns="0" rIns="0" tIns="0" bIns="0">
            <a:noAutofit/>
          </a:bodyPr>
          <a:lstStyle/>
          <a:p>
            <a:pPr marL="0" indent="0" algn="l">
              <a:buNone/>
            </a:pPr>
            <a:r>
              <a:rPr sz="4000" b="1">
                <a:solidFill>
                  <a:srgbClr val="17763C"/>
                </a:solidFill>
                <a:latin typeface="Arial"/>
              </a:rPr>
              <a:t>Strings - indexing, slicing, and methods</a:t>
            </a:r>
          </a:p>
        </p:txBody>
      </p:sp>
      <p:sp>
        <p:nvSpPr>
          <p:cNvPr id="3" name="Pi515 accent"/>
          <p:cNvSpPr/>
          <p:nvPr/>
        </p:nvSpPr>
        <p:spPr>
          <a:xfrm>
            <a:off x="0" y="0"/>
            <a:ext cx="12192000" cy="54864"/>
          </a:xfrm>
          <a:prstGeom prst="rect">
            <a:avLst/>
          </a:prstGeom>
          <a:solidFill>
            <a:srgbClr val="39DC78"/>
          </a:solidFill>
          <a:ln>
            <a:noFill/>
          </a:ln>
        </p:spPr>
      </p:sp>
      <p:sp>
        <p:nvSpPr>
          <p:cNvPr id="4"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TECH MENTORSHIP</a:t>
            </a:r>
          </a:p>
        </p:txBody>
      </p:sp>
      <p:sp>
        <p:nvSpPr>
          <p:cNvPr id="5" name="Footer rule"/>
          <p:cNvSpPr/>
          <p:nvPr/>
        </p:nvSpPr>
        <p:spPr>
          <a:xfrm>
            <a:off x="594360" y="6400800"/>
            <a:ext cx="10972800" cy="10973"/>
          </a:xfrm>
          <a:prstGeom prst="rect">
            <a:avLst/>
          </a:prstGeom>
          <a:solidFill>
            <a:srgbClr val="E6E6E6"/>
          </a:solidFill>
          <a:ln>
            <a:noFill/>
          </a:ln>
        </p:spPr>
      </p:sp>
      <p:sp>
        <p:nvSpPr>
          <p:cNvPr id="6"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1</a:t>
            </a:r>
          </a:p>
        </p:txBody>
      </p:sp>
      <p:pic>
        <p:nvPicPr>
          <p:cNvPr id="7"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Today</a:t>
            </a:r>
          </a:p>
        </p:txBody>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lvl="0"/>
            <a:r>
              <a:rPr sz="2200">
                <a:solidFill>
                  <a:srgbClr val="2B2B2B"/>
                </a:solidFill>
                <a:latin typeface="Arial"/>
              </a:rPr>
              <a:t>Create string variables and investigate characters, length, and membership.</a:t>
            </a:r>
          </a:p>
        </p:txBody>
      </p:sp>
      <p:sp>
        <p:nvSpPr>
          <p:cNvPr id="4" name="Body paragraph 4"/>
          <p:cNvSpPr txBox="1"/>
          <p:nvPr/>
        </p:nvSpPr>
        <p:spPr>
          <a:xfrm>
            <a:off x="594360" y="2142744"/>
            <a:ext cx="10972800" cy="390144"/>
          </a:xfrm>
          <a:prstGeom prst="rect">
            <a:avLst/>
          </a:prstGeom>
          <a:noFill/>
          <a:ln>
            <a:noFill/>
          </a:ln>
        </p:spPr>
        <p:txBody>
          <a:bodyPr wrap="square" lIns="0" rIns="0" tIns="0" bIns="0">
            <a:noAutofit/>
          </a:bodyPr>
          <a:lstStyle/>
          <a:p>
            <a:pPr lvl="0"/>
            <a:r>
              <a:rPr sz="2200">
                <a:solidFill>
                  <a:srgbClr val="2B2B2B"/>
                </a:solidFill>
                <a:latin typeface="Arial"/>
              </a:rPr>
              <a:t>Extract characters and substrings using indexing and slicing.</a:t>
            </a:r>
          </a:p>
        </p:txBody>
      </p:sp>
      <p:sp>
        <p:nvSpPr>
          <p:cNvPr id="5" name="Body paragraph 5"/>
          <p:cNvSpPr txBox="1"/>
          <p:nvPr/>
        </p:nvSpPr>
        <p:spPr>
          <a:xfrm>
            <a:off x="594360" y="2532888"/>
            <a:ext cx="10972800" cy="390144"/>
          </a:xfrm>
          <a:prstGeom prst="rect">
            <a:avLst/>
          </a:prstGeom>
          <a:noFill/>
          <a:ln>
            <a:noFill/>
          </a:ln>
        </p:spPr>
        <p:txBody>
          <a:bodyPr wrap="square" lIns="0" rIns="0" tIns="0" bIns="0">
            <a:noAutofit/>
          </a:bodyPr>
          <a:lstStyle/>
          <a:p>
            <a:pPr lvl="0"/>
            <a:r>
              <a:rPr sz="2200">
                <a:solidFill>
                  <a:srgbClr val="2B2B2B"/>
                </a:solidFill>
                <a:latin typeface="Arial"/>
              </a:rPr>
              <a:t>Use string methods and explain why the original string stays unchanged.</a:t>
            </a:r>
          </a:p>
        </p:txBody>
      </p:sp>
      <p:sp>
        <p:nvSpPr>
          <p:cNvPr id="6" name="Pi515 accent"/>
          <p:cNvSpPr/>
          <p:nvPr/>
        </p:nvSpPr>
        <p:spPr>
          <a:xfrm>
            <a:off x="0" y="0"/>
            <a:ext cx="12192000" cy="54864"/>
          </a:xfrm>
          <a:prstGeom prst="rect">
            <a:avLst/>
          </a:prstGeom>
          <a:solidFill>
            <a:srgbClr val="39DC78"/>
          </a:solidFill>
          <a:ln>
            <a:noFill/>
          </a:ln>
        </p:spPr>
      </p:sp>
      <p:sp>
        <p:nvSpPr>
          <p:cNvPr id="7"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TECH MENTORSHIP</a:t>
            </a:r>
          </a:p>
        </p:txBody>
      </p:sp>
      <p:sp>
        <p:nvSpPr>
          <p:cNvPr id="8" name="Footer rule"/>
          <p:cNvSpPr/>
          <p:nvPr/>
        </p:nvSpPr>
        <p:spPr>
          <a:xfrm>
            <a:off x="594360" y="6400800"/>
            <a:ext cx="10972800" cy="10973"/>
          </a:xfrm>
          <a:prstGeom prst="rect">
            <a:avLst/>
          </a:prstGeom>
          <a:solidFill>
            <a:srgbClr val="E6E6E6"/>
          </a:solidFill>
          <a:ln>
            <a:noFill/>
          </a:ln>
        </p:spPr>
      </p:sp>
      <p:sp>
        <p:nvSpPr>
          <p:cNvPr id="9"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2</a:t>
            </a:r>
          </a:p>
        </p:txBody>
      </p:sp>
      <p:pic>
        <p:nvPicPr>
          <p:cNvPr id="10"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string</a:t>
            </a:r>
          </a:p>
        </p:txBody>
      </p:sp>
      <p:sp>
        <p:nvSpPr>
          <p:cNvPr id="9" name="Printed output panel 0"/>
          <p:cNvSpPr/>
          <p:nvPr/>
        </p:nvSpPr>
        <p:spPr>
          <a:xfrm>
            <a:off x="8183880" y="2034540"/>
            <a:ext cx="3383280" cy="794004"/>
          </a:xfrm>
          <a:prstGeom prst="rect">
            <a:avLst/>
          </a:prstGeom>
          <a:solidFill>
            <a:srgbClr val="EEF6F3"/>
          </a:solidFill>
          <a:ln>
            <a:noFill/>
          </a:ln>
        </p:spPr>
      </p:sp>
      <p:sp>
        <p:nvSpPr>
          <p:cNvPr id="3" name="Body paragraph 3"/>
          <p:cNvSpPr txBox="1"/>
          <p:nvPr/>
        </p:nvSpPr>
        <p:spPr>
          <a:xfrm>
            <a:off x="594360" y="1417320"/>
            <a:ext cx="10972800" cy="46634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An ordered sequence of characters representing text.</a:t>
            </a:r>
          </a:p>
        </p:txBody>
      </p:sp>
      <p:sp>
        <p:nvSpPr>
          <p:cNvPr id="4" name="Code column header 0"/>
          <p:cNvSpPr txBox="1"/>
          <p:nvPr/>
        </p:nvSpPr>
        <p:spPr>
          <a:xfrm>
            <a:off x="594360" y="208940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08940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36372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36372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"Hello World"</a:t>
            </a:r>
            <a:r>
              <a:rPr sz="2000">
                <a:solidFill>
                  <a:srgbClr val="666666"/>
                </a:solidFill>
                <a:latin typeface="Courier New"/>
              </a:rPr>
              <a:t xml:space="preserve">)</a:t>
            </a:r>
          </a:p>
        </p:txBody>
      </p:sp>
      <p:sp>
        <p:nvSpPr>
          <p:cNvPr id="8" name="Printed output 0:1"/>
          <p:cNvSpPr txBox="1"/>
          <p:nvPr/>
        </p:nvSpPr>
        <p:spPr>
          <a:xfrm>
            <a:off x="8366760" y="238912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3</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string</a:t>
            </a:r>
          </a:p>
        </p:txBody>
      </p:sp>
      <p:sp>
        <p:nvSpPr>
          <p:cNvPr id="9" name="Printed output panel 0"/>
          <p:cNvSpPr/>
          <p:nvPr/>
        </p:nvSpPr>
        <p:spPr>
          <a:xfrm>
            <a:off x="8183880" y="2034540"/>
            <a:ext cx="3383280" cy="794004"/>
          </a:xfrm>
          <a:prstGeom prst="rect">
            <a:avLst/>
          </a:prstGeom>
          <a:solidFill>
            <a:srgbClr val="EEF6F3"/>
          </a:solidFill>
          <a:ln>
            <a:noFill/>
          </a:ln>
        </p:spPr>
      </p:sp>
      <p:sp>
        <p:nvSpPr>
          <p:cNvPr id="3" name="Body paragraph 3"/>
          <p:cNvSpPr txBox="1"/>
          <p:nvPr/>
        </p:nvSpPr>
        <p:spPr>
          <a:xfrm>
            <a:off x="594360" y="1417320"/>
            <a:ext cx="10972800" cy="46634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An ordered sequence of characters representing text.</a:t>
            </a:r>
          </a:p>
        </p:txBody>
      </p:sp>
      <p:sp>
        <p:nvSpPr>
          <p:cNvPr id="4" name="Code column header 0"/>
          <p:cNvSpPr txBox="1"/>
          <p:nvPr/>
        </p:nvSpPr>
        <p:spPr>
          <a:xfrm>
            <a:off x="594360" y="208940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08940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36372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36372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"Hello World"</a:t>
            </a:r>
            <a:r>
              <a:rPr sz="2000">
                <a:solidFill>
                  <a:srgbClr val="666666"/>
                </a:solidFill>
                <a:latin typeface="Courier New"/>
              </a:rPr>
              <a:t xml:space="preserve">)</a:t>
            </a:r>
          </a:p>
        </p:txBody>
      </p:sp>
      <p:sp>
        <p:nvSpPr>
          <p:cNvPr id="8" name="Printed output 0:1"/>
          <p:cNvSpPr txBox="1"/>
          <p:nvPr/>
        </p:nvSpPr>
        <p:spPr>
          <a:xfrm>
            <a:off x="8366760" y="238912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Hello World</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4</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character</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One element of a string, including a letter, digit, punctuation mark, or space.</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"R"</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5</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character</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One element of a string, including a letter, digit, punctuation mark, or space.</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"R"</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R</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6</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string literal</a:t>
            </a:r>
          </a:p>
        </p:txBody>
      </p:sp>
      <p:sp>
        <p:nvSpPr>
          <p:cNvPr id="11" name="Printed output panel 0"/>
          <p:cNvSpPr/>
          <p:nvPr/>
        </p:nvSpPr>
        <p:spPr>
          <a:xfrm>
            <a:off x="8183880" y="2034540"/>
            <a:ext cx="3383280" cy="1130808"/>
          </a:xfrm>
          <a:prstGeom prst="rect">
            <a:avLst/>
          </a:prstGeom>
          <a:solidFill>
            <a:srgbClr val="EEF6F3"/>
          </a:solidFill>
          <a:ln>
            <a:noFill/>
          </a:ln>
        </p:spPr>
      </p:sp>
      <p:sp>
        <p:nvSpPr>
          <p:cNvPr id="3" name="Body paragraph 3"/>
          <p:cNvSpPr txBox="1"/>
          <p:nvPr/>
        </p:nvSpPr>
        <p:spPr>
          <a:xfrm>
            <a:off x="594360" y="1417320"/>
            <a:ext cx="10972800" cy="46634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Text written directly in source code inside quotation marks.</a:t>
            </a:r>
          </a:p>
        </p:txBody>
      </p:sp>
      <p:sp>
        <p:nvSpPr>
          <p:cNvPr id="4" name="Code column header 0"/>
          <p:cNvSpPr txBox="1"/>
          <p:nvPr/>
        </p:nvSpPr>
        <p:spPr>
          <a:xfrm>
            <a:off x="594360" y="208940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08940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36372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36372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name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"Ryan"</a:t>
            </a:r>
          </a:p>
        </p:txBody>
      </p:sp>
      <p:sp>
        <p:nvSpPr>
          <p:cNvPr id="8" name="Code number 0:2"/>
          <p:cNvSpPr txBox="1"/>
          <p:nvPr/>
        </p:nvSpPr>
        <p:spPr>
          <a:xfrm>
            <a:off x="164592" y="270052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70052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name</a:t>
            </a:r>
            <a:r>
              <a:rPr sz="2000">
                <a:solidFill>
                  <a:srgbClr val="666666"/>
                </a:solidFill>
                <a:latin typeface="Courier New"/>
              </a:rPr>
              <a:t xml:space="preserve">)</a:t>
            </a:r>
          </a:p>
        </p:txBody>
      </p:sp>
      <p:sp>
        <p:nvSpPr>
          <p:cNvPr id="10" name="Printed output 0:2"/>
          <p:cNvSpPr txBox="1"/>
          <p:nvPr/>
        </p:nvSpPr>
        <p:spPr>
          <a:xfrm>
            <a:off x="8366760" y="2725928"/>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2" name="Pi515 accent"/>
          <p:cNvSpPr/>
          <p:nvPr/>
        </p:nvSpPr>
        <p:spPr>
          <a:xfrm>
            <a:off x="0" y="0"/>
            <a:ext cx="12192000" cy="54864"/>
          </a:xfrm>
          <a:prstGeom prst="rect">
            <a:avLst/>
          </a:prstGeom>
          <a:solidFill>
            <a:srgbClr val="39DC78"/>
          </a:solidFill>
          <a:ln>
            <a:noFill/>
          </a:ln>
        </p:spPr>
      </p:sp>
      <p:sp>
        <p:nvSpPr>
          <p:cNvPr id="13"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4" name="Footer rule"/>
          <p:cNvSpPr/>
          <p:nvPr/>
        </p:nvSpPr>
        <p:spPr>
          <a:xfrm>
            <a:off x="594360" y="6400800"/>
            <a:ext cx="10972800" cy="10973"/>
          </a:xfrm>
          <a:prstGeom prst="rect">
            <a:avLst/>
          </a:prstGeom>
          <a:solidFill>
            <a:srgbClr val="E6E6E6"/>
          </a:solidFill>
          <a:ln>
            <a:noFill/>
          </a:ln>
        </p:spPr>
      </p:sp>
      <p:sp>
        <p:nvSpPr>
          <p:cNvPr id="15"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7</a:t>
            </a:r>
          </a:p>
        </p:txBody>
      </p:sp>
      <p:pic>
        <p:nvPicPr>
          <p:cNvPr id="16"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string literal</a:t>
            </a:r>
          </a:p>
        </p:txBody>
      </p:sp>
      <p:sp>
        <p:nvSpPr>
          <p:cNvPr id="11" name="Printed output panel 0"/>
          <p:cNvSpPr/>
          <p:nvPr/>
        </p:nvSpPr>
        <p:spPr>
          <a:xfrm>
            <a:off x="8183880" y="2034540"/>
            <a:ext cx="3383280" cy="1130808"/>
          </a:xfrm>
          <a:prstGeom prst="rect">
            <a:avLst/>
          </a:prstGeom>
          <a:solidFill>
            <a:srgbClr val="EEF6F3"/>
          </a:solidFill>
          <a:ln>
            <a:noFill/>
          </a:ln>
        </p:spPr>
      </p:sp>
      <p:sp>
        <p:nvSpPr>
          <p:cNvPr id="3" name="Body paragraph 3"/>
          <p:cNvSpPr txBox="1"/>
          <p:nvPr/>
        </p:nvSpPr>
        <p:spPr>
          <a:xfrm>
            <a:off x="594360" y="1417320"/>
            <a:ext cx="10972800" cy="46634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Text written directly in source code inside quotation marks.</a:t>
            </a:r>
          </a:p>
        </p:txBody>
      </p:sp>
      <p:sp>
        <p:nvSpPr>
          <p:cNvPr id="4" name="Code column header 0"/>
          <p:cNvSpPr txBox="1"/>
          <p:nvPr/>
        </p:nvSpPr>
        <p:spPr>
          <a:xfrm>
            <a:off x="594360" y="208940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08940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36372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36372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name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"Ryan"</a:t>
            </a:r>
          </a:p>
        </p:txBody>
      </p:sp>
      <p:sp>
        <p:nvSpPr>
          <p:cNvPr id="8" name="Code number 0:2"/>
          <p:cNvSpPr txBox="1"/>
          <p:nvPr/>
        </p:nvSpPr>
        <p:spPr>
          <a:xfrm>
            <a:off x="164592" y="270052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70052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name</a:t>
            </a:r>
            <a:r>
              <a:rPr sz="2000">
                <a:solidFill>
                  <a:srgbClr val="666666"/>
                </a:solidFill>
                <a:latin typeface="Courier New"/>
              </a:rPr>
              <a:t xml:space="preserve">)</a:t>
            </a:r>
          </a:p>
        </p:txBody>
      </p:sp>
      <p:sp>
        <p:nvSpPr>
          <p:cNvPr id="10" name="Printed output 0:2"/>
          <p:cNvSpPr txBox="1"/>
          <p:nvPr/>
        </p:nvSpPr>
        <p:spPr>
          <a:xfrm>
            <a:off x="8366760" y="2725928"/>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Ryan</a:t>
            </a:r>
          </a:p>
        </p:txBody>
      </p:sp>
      <p:sp>
        <p:nvSpPr>
          <p:cNvPr id="12" name="Pi515 accent"/>
          <p:cNvSpPr/>
          <p:nvPr/>
        </p:nvSpPr>
        <p:spPr>
          <a:xfrm>
            <a:off x="0" y="0"/>
            <a:ext cx="12192000" cy="54864"/>
          </a:xfrm>
          <a:prstGeom prst="rect">
            <a:avLst/>
          </a:prstGeom>
          <a:solidFill>
            <a:srgbClr val="39DC78"/>
          </a:solidFill>
          <a:ln>
            <a:noFill/>
          </a:ln>
        </p:spPr>
      </p:sp>
      <p:sp>
        <p:nvSpPr>
          <p:cNvPr id="13"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4" name="Footer rule"/>
          <p:cNvSpPr/>
          <p:nvPr/>
        </p:nvSpPr>
        <p:spPr>
          <a:xfrm>
            <a:off x="594360" y="6400800"/>
            <a:ext cx="10972800" cy="10973"/>
          </a:xfrm>
          <a:prstGeom prst="rect">
            <a:avLst/>
          </a:prstGeom>
          <a:solidFill>
            <a:srgbClr val="E6E6E6"/>
          </a:solidFill>
          <a:ln>
            <a:noFill/>
          </a:ln>
        </p:spPr>
      </p:sp>
      <p:sp>
        <p:nvSpPr>
          <p:cNvPr id="15"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8</a:t>
            </a:r>
          </a:p>
        </p:txBody>
      </p:sp>
      <p:pic>
        <p:nvPicPr>
          <p:cNvPr id="16"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Strings and your name</a:t>
            </a:r>
          </a:p>
        </p:txBody>
      </p:sp>
      <p:sp>
        <p:nvSpPr>
          <p:cNvPr id="13" name="Printed output panel 0"/>
          <p:cNvSpPr/>
          <p:nvPr/>
        </p:nvSpPr>
        <p:spPr>
          <a:xfrm>
            <a:off x="8183880" y="2255520"/>
            <a:ext cx="3383280" cy="1467612"/>
          </a:xfrm>
          <a:prstGeom prst="rect">
            <a:avLst/>
          </a:prstGeom>
          <a:solidFill>
            <a:srgbClr val="EEF6F3"/>
          </a:solidFill>
          <a:ln>
            <a:noFill/>
          </a:ln>
        </p:spPr>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A </a:t>
            </a:r>
            <a:r>
              <a:rPr sz="2200" b="1">
                <a:solidFill>
                  <a:srgbClr val="2B2B2B"/>
                </a:solidFill>
                <a:latin typeface="Arial"/>
              </a:rPr>
              <a:t>string</a:t>
            </a:r>
            <a:r>
              <a:rPr sz="2200">
                <a:solidFill>
                  <a:srgbClr val="2B2B2B"/>
                </a:solidFill>
                <a:latin typeface="Arial"/>
              </a:rPr>
              <a:t> is an ordered sequence of characters. Letters, punctuation, and spaces are characters. Quotes mark string literals.</a:t>
            </a:r>
          </a:p>
        </p:txBody>
      </p:sp>
      <p:sp>
        <p:nvSpPr>
          <p:cNvPr id="4" name="Code column header 0"/>
          <p:cNvSpPr txBox="1"/>
          <p:nvPr/>
        </p:nvSpPr>
        <p:spPr>
          <a:xfrm>
            <a:off x="594360" y="23103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3103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5847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5847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firstName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"Ryan"</a:t>
            </a:r>
          </a:p>
        </p:txBody>
      </p:sp>
      <p:sp>
        <p:nvSpPr>
          <p:cNvPr id="8" name="Code number 0:2"/>
          <p:cNvSpPr txBox="1"/>
          <p:nvPr/>
        </p:nvSpPr>
        <p:spPr>
          <a:xfrm>
            <a:off x="164592" y="292150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92150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lastName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"McDaniel"</a:t>
            </a:r>
          </a:p>
        </p:txBody>
      </p:sp>
      <p:sp>
        <p:nvSpPr>
          <p:cNvPr id="10" name="Code number 0:3"/>
          <p:cNvSpPr txBox="1"/>
          <p:nvPr/>
        </p:nvSpPr>
        <p:spPr>
          <a:xfrm>
            <a:off x="164592" y="325831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1" name="Code line 0:3"/>
          <p:cNvSpPr txBox="1"/>
          <p:nvPr/>
        </p:nvSpPr>
        <p:spPr>
          <a:xfrm>
            <a:off x="594360" y="325831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firstName</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lastName</a:t>
            </a:r>
            <a:r>
              <a:rPr sz="2000">
                <a:solidFill>
                  <a:srgbClr val="666666"/>
                </a:solidFill>
                <a:latin typeface="Courier New"/>
              </a:rPr>
              <a:t xml:space="preserve">)</a:t>
            </a:r>
          </a:p>
        </p:txBody>
      </p:sp>
      <p:sp>
        <p:nvSpPr>
          <p:cNvPr id="12" name="Printed output 0:3"/>
          <p:cNvSpPr txBox="1"/>
          <p:nvPr/>
        </p:nvSpPr>
        <p:spPr>
          <a:xfrm>
            <a:off x="8366760" y="328371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4" name="Pi515 accent"/>
          <p:cNvSpPr/>
          <p:nvPr/>
        </p:nvSpPr>
        <p:spPr>
          <a:xfrm>
            <a:off x="0" y="0"/>
            <a:ext cx="12192000" cy="54864"/>
          </a:xfrm>
          <a:prstGeom prst="rect">
            <a:avLst/>
          </a:prstGeom>
          <a:solidFill>
            <a:srgbClr val="39DC78"/>
          </a:solidFill>
          <a:ln>
            <a:noFill/>
          </a:ln>
        </p:spPr>
      </p:sp>
      <p:sp>
        <p:nvSpPr>
          <p:cNvPr id="15"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16" name="Footer rule"/>
          <p:cNvSpPr/>
          <p:nvPr/>
        </p:nvSpPr>
        <p:spPr>
          <a:xfrm>
            <a:off x="594360" y="6400800"/>
            <a:ext cx="10972800" cy="10973"/>
          </a:xfrm>
          <a:prstGeom prst="rect">
            <a:avLst/>
          </a:prstGeom>
          <a:solidFill>
            <a:srgbClr val="E6E6E6"/>
          </a:solidFill>
          <a:ln>
            <a:noFill/>
          </a:ln>
        </p:spPr>
      </p:sp>
      <p:sp>
        <p:nvSpPr>
          <p:cNvPr id="17"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9</a:t>
            </a:r>
          </a:p>
        </p:txBody>
      </p:sp>
      <p:pic>
        <p:nvPicPr>
          <p:cNvPr id="18"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Strings and your name</a:t>
            </a:r>
          </a:p>
        </p:txBody>
      </p:sp>
      <p:sp>
        <p:nvSpPr>
          <p:cNvPr id="13" name="Printed output panel 0"/>
          <p:cNvSpPr/>
          <p:nvPr/>
        </p:nvSpPr>
        <p:spPr>
          <a:xfrm>
            <a:off x="8183880" y="2255520"/>
            <a:ext cx="3383280" cy="1467612"/>
          </a:xfrm>
          <a:prstGeom prst="rect">
            <a:avLst/>
          </a:prstGeom>
          <a:solidFill>
            <a:srgbClr val="EEF6F3"/>
          </a:solidFill>
          <a:ln>
            <a:noFill/>
          </a:ln>
        </p:spPr>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A </a:t>
            </a:r>
            <a:r>
              <a:rPr sz="2200" b="1">
                <a:solidFill>
                  <a:srgbClr val="2B2B2B"/>
                </a:solidFill>
                <a:latin typeface="Arial"/>
              </a:rPr>
              <a:t>string</a:t>
            </a:r>
            <a:r>
              <a:rPr sz="2200">
                <a:solidFill>
                  <a:srgbClr val="2B2B2B"/>
                </a:solidFill>
                <a:latin typeface="Arial"/>
              </a:rPr>
              <a:t> is an ordered sequence of characters. Letters, punctuation, and spaces are characters. Quotes mark string literals.</a:t>
            </a:r>
          </a:p>
        </p:txBody>
      </p:sp>
      <p:sp>
        <p:nvSpPr>
          <p:cNvPr id="4" name="Code column header 0"/>
          <p:cNvSpPr txBox="1"/>
          <p:nvPr/>
        </p:nvSpPr>
        <p:spPr>
          <a:xfrm>
            <a:off x="594360" y="23103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3103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5847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5847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firstName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"Ryan"</a:t>
            </a:r>
          </a:p>
        </p:txBody>
      </p:sp>
      <p:sp>
        <p:nvSpPr>
          <p:cNvPr id="8" name="Code number 0:2"/>
          <p:cNvSpPr txBox="1"/>
          <p:nvPr/>
        </p:nvSpPr>
        <p:spPr>
          <a:xfrm>
            <a:off x="164592" y="292150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92150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lastName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"McDaniel"</a:t>
            </a:r>
          </a:p>
        </p:txBody>
      </p:sp>
      <p:sp>
        <p:nvSpPr>
          <p:cNvPr id="10" name="Code number 0:3"/>
          <p:cNvSpPr txBox="1"/>
          <p:nvPr/>
        </p:nvSpPr>
        <p:spPr>
          <a:xfrm>
            <a:off x="164592" y="325831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1" name="Code line 0:3"/>
          <p:cNvSpPr txBox="1"/>
          <p:nvPr/>
        </p:nvSpPr>
        <p:spPr>
          <a:xfrm>
            <a:off x="594360" y="325831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firstName</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lastName</a:t>
            </a:r>
            <a:r>
              <a:rPr sz="2000">
                <a:solidFill>
                  <a:srgbClr val="666666"/>
                </a:solidFill>
                <a:latin typeface="Courier New"/>
              </a:rPr>
              <a:t xml:space="preserve">)</a:t>
            </a:r>
          </a:p>
        </p:txBody>
      </p:sp>
      <p:sp>
        <p:nvSpPr>
          <p:cNvPr id="12" name="Printed output 0:3"/>
          <p:cNvSpPr txBox="1"/>
          <p:nvPr/>
        </p:nvSpPr>
        <p:spPr>
          <a:xfrm>
            <a:off x="8366760" y="328371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Ryan McDaniel</a:t>
            </a:r>
          </a:p>
        </p:txBody>
      </p:sp>
      <p:sp>
        <p:nvSpPr>
          <p:cNvPr id="14" name="Pi515 accent"/>
          <p:cNvSpPr/>
          <p:nvPr/>
        </p:nvSpPr>
        <p:spPr>
          <a:xfrm>
            <a:off x="0" y="0"/>
            <a:ext cx="12192000" cy="54864"/>
          </a:xfrm>
          <a:prstGeom prst="rect">
            <a:avLst/>
          </a:prstGeom>
          <a:solidFill>
            <a:srgbClr val="39DC78"/>
          </a:solidFill>
          <a:ln>
            <a:noFill/>
          </a:ln>
        </p:spPr>
      </p:sp>
      <p:sp>
        <p:nvSpPr>
          <p:cNvPr id="15"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16" name="Footer rule"/>
          <p:cNvSpPr/>
          <p:nvPr/>
        </p:nvSpPr>
        <p:spPr>
          <a:xfrm>
            <a:off x="594360" y="6400800"/>
            <a:ext cx="10972800" cy="10973"/>
          </a:xfrm>
          <a:prstGeom prst="rect">
            <a:avLst/>
          </a:prstGeom>
          <a:solidFill>
            <a:srgbClr val="E6E6E6"/>
          </a:solidFill>
          <a:ln>
            <a:noFill/>
          </a:ln>
        </p:spPr>
      </p:sp>
      <p:sp>
        <p:nvSpPr>
          <p:cNvPr id="17"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10</a:t>
            </a:r>
          </a:p>
        </p:txBody>
      </p:sp>
      <p:pic>
        <p:nvPicPr>
          <p:cNvPr id="18"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Exercise 0 — Strings and your name</a:t>
            </a:r>
          </a:p>
        </p:txBody>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Create </a:t>
            </a:r>
            <a:r>
              <a:rPr sz="2200">
                <a:solidFill>
                  <a:srgbClr val="2B2B2B"/>
                </a:solidFill>
                <a:latin typeface="Courier New"/>
              </a:rPr>
              <a:t xml:space="preserve">firstName</a:t>
            </a:r>
            <a:r>
              <a:rPr sz="2200">
                <a:solidFill>
                  <a:srgbClr val="2B2B2B"/>
                </a:solidFill>
                <a:latin typeface="Arial"/>
              </a:rPr>
              <a:t> and </a:t>
            </a:r>
            <a:r>
              <a:rPr sz="2200">
                <a:solidFill>
                  <a:srgbClr val="2B2B2B"/>
                </a:solidFill>
                <a:latin typeface="Courier New"/>
              </a:rPr>
              <a:t xml:space="preserve">lastName</a:t>
            </a:r>
            <a:r>
              <a:rPr sz="2200">
                <a:solidFill>
                  <a:srgbClr val="2B2B2B"/>
                </a:solidFill>
                <a:latin typeface="Arial"/>
              </a:rPr>
              <a:t> using your name or an invented name, then </a:t>
            </a:r>
            <a:r>
              <a:rPr sz="2200">
                <a:solidFill>
                  <a:srgbClr val="008000"/>
                </a:solidFill>
                <a:latin typeface="Courier New"/>
              </a:rPr>
              <a:t xml:space="preserve">print</a:t>
            </a:r>
            <a:r>
              <a:rPr sz="2200">
                <a:solidFill>
                  <a:srgbClr val="2B2B2B"/>
                </a:solidFill>
                <a:latin typeface="Arial"/>
              </a:rPr>
              <a:t> them. Single or double quotes both work.</a:t>
            </a:r>
          </a:p>
        </p:txBody>
      </p:sp>
      <p:sp>
        <p:nvSpPr>
          <p:cNvPr id="4" name="Code number 0:1"/>
          <p:cNvSpPr txBox="1"/>
          <p:nvPr/>
        </p:nvSpPr>
        <p:spPr>
          <a:xfrm>
            <a:off x="164592" y="231038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5" name="Code line 0:1"/>
          <p:cNvSpPr txBox="1"/>
          <p:nvPr/>
        </p:nvSpPr>
        <p:spPr>
          <a:xfrm>
            <a:off x="594360" y="2310384"/>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firstName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a:t>
            </a:r>
          </a:p>
        </p:txBody>
      </p:sp>
      <p:sp>
        <p:nvSpPr>
          <p:cNvPr id="6" name="Code number 0:2"/>
          <p:cNvSpPr txBox="1"/>
          <p:nvPr/>
        </p:nvSpPr>
        <p:spPr>
          <a:xfrm>
            <a:off x="164592" y="264718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7" name="Code line 0:2"/>
          <p:cNvSpPr txBox="1"/>
          <p:nvPr/>
        </p:nvSpPr>
        <p:spPr>
          <a:xfrm>
            <a:off x="594360" y="2647188"/>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lastName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a:t>
            </a:r>
          </a:p>
        </p:txBody>
      </p:sp>
      <p:sp>
        <p:nvSpPr>
          <p:cNvPr id="8" name="Code number 0:3"/>
          <p:cNvSpPr txBox="1"/>
          <p:nvPr/>
        </p:nvSpPr>
        <p:spPr>
          <a:xfrm>
            <a:off x="164592" y="298399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9" name="Code line 0:3"/>
          <p:cNvSpPr txBox="1"/>
          <p:nvPr/>
        </p:nvSpPr>
        <p:spPr>
          <a:xfrm>
            <a:off x="594360" y="2983992"/>
            <a:ext cx="10972800" cy="336804"/>
          </a:xfrm>
          <a:prstGeom prst="rect">
            <a:avLst/>
          </a:prstGeom>
          <a:noFill/>
          <a:ln>
            <a:noFill/>
          </a:ln>
        </p:spPr>
        <p:txBody>
          <a:bodyPr wrap="square" lIns="0" rIns="0" tIns="0" bIns="0">
            <a:noAutofit/>
          </a:bodyPr>
          <a:lstStyle/>
          <a:p>
            <a:pPr marL="0" indent="0" algn="l">
              <a:lnSpc>
                <a:spcPct val="120000"/>
              </a:lnSpc>
              <a:buNone/>
            </a:pPr>
            <a:r>
              <a:rPr sz="2000" i="1">
                <a:solidFill>
                  <a:srgbClr val="555554"/>
                </a:solidFill>
                <a:latin typeface="Courier New"/>
              </a:rPr>
              <a:t xml:space="preserve"># YOUR CODE HERE: fill in the names, then print them.</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EXERCISE</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11</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index</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An integer position used to select a character. The first index is </a:t>
            </a:r>
            <a:r>
              <a:rPr sz="2700">
                <a:solidFill>
                  <a:srgbClr val="208050"/>
                </a:solidFill>
                <a:latin typeface="Courier New"/>
              </a:rPr>
              <a:t xml:space="preserve">0</a:t>
            </a:r>
            <a:r>
              <a:rPr sz="2700">
                <a:solidFill>
                  <a:srgbClr val="2B2B2B"/>
                </a:solidFill>
                <a:latin typeface="Arial"/>
              </a:rPr>
              <a:t>.</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"Something"</a:t>
            </a:r>
            <a:r>
              <a:rPr sz="2000">
                <a:solidFill>
                  <a:srgbClr val="666666"/>
                </a:solidFill>
                <a:latin typeface="Courier New"/>
              </a:rPr>
              <a:t xml:space="preserve">[</a:t>
            </a:r>
            <a:r>
              <a:rPr sz="2000">
                <a:solidFill>
                  <a:srgbClr val="208050"/>
                </a:solidFill>
                <a:latin typeface="Courier New"/>
              </a:rPr>
              <a:t xml:space="preserve">0</a:t>
            </a:r>
            <a:r>
              <a:rPr sz="2000">
                <a:solidFill>
                  <a:srgbClr val="666666"/>
                </a:solidFill>
                <a:latin typeface="Courier New"/>
              </a:rPr>
              <a:t xml:space="preserve">]</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12</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index</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An integer position used to select a character. The first index is </a:t>
            </a:r>
            <a:r>
              <a:rPr sz="2700">
                <a:solidFill>
                  <a:srgbClr val="208050"/>
                </a:solidFill>
                <a:latin typeface="Courier New"/>
              </a:rPr>
              <a:t xml:space="preserve">0</a:t>
            </a:r>
            <a:r>
              <a:rPr sz="2700">
                <a:solidFill>
                  <a:srgbClr val="2B2B2B"/>
                </a:solidFill>
                <a:latin typeface="Arial"/>
              </a:rPr>
              <a:t>.</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"Something"</a:t>
            </a:r>
            <a:r>
              <a:rPr sz="2000">
                <a:solidFill>
                  <a:srgbClr val="666666"/>
                </a:solidFill>
                <a:latin typeface="Courier New"/>
              </a:rPr>
              <a:t xml:space="preserve">[</a:t>
            </a:r>
            <a:r>
              <a:rPr sz="2000">
                <a:solidFill>
                  <a:srgbClr val="208050"/>
                </a:solidFill>
                <a:latin typeface="Courier New"/>
              </a:rPr>
              <a:t xml:space="preserve">0</a:t>
            </a:r>
            <a:r>
              <a:rPr sz="2000">
                <a:solidFill>
                  <a:srgbClr val="666666"/>
                </a:solidFill>
                <a:latin typeface="Courier New"/>
              </a:rPr>
              <a:t xml:space="preserve">]</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S</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13</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Indexing selects one character</a:t>
            </a:r>
          </a:p>
        </p:txBody>
      </p:sp>
      <p:sp>
        <p:nvSpPr>
          <p:cNvPr id="16" name="Printed output panel 0"/>
          <p:cNvSpPr/>
          <p:nvPr/>
        </p:nvSpPr>
        <p:spPr>
          <a:xfrm>
            <a:off x="8183880" y="2590800"/>
            <a:ext cx="3383280" cy="1804416"/>
          </a:xfrm>
          <a:prstGeom prst="rect">
            <a:avLst/>
          </a:prstGeom>
          <a:solidFill>
            <a:srgbClr val="EEF6F3"/>
          </a:solidFill>
          <a:ln>
            <a:noFill/>
          </a:ln>
        </p:spPr>
      </p:sp>
      <p:sp>
        <p:nvSpPr>
          <p:cNvPr id="3" name="Body paragraph 3"/>
          <p:cNvSpPr txBox="1"/>
          <p:nvPr/>
        </p:nvSpPr>
        <p:spPr>
          <a:xfrm>
            <a:off x="594360" y="1417320"/>
            <a:ext cx="10972800" cy="106070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An </a:t>
            </a:r>
            <a:r>
              <a:rPr sz="2200" b="1">
                <a:solidFill>
                  <a:srgbClr val="2B2B2B"/>
                </a:solidFill>
                <a:latin typeface="Arial"/>
              </a:rPr>
              <a:t>index</a:t>
            </a:r>
            <a:r>
              <a:rPr sz="2200">
                <a:solidFill>
                  <a:srgbClr val="2B2B2B"/>
                </a:solidFill>
                <a:latin typeface="Arial"/>
              </a:rPr>
              <a:t> is a character’s position. Python starts at </a:t>
            </a:r>
            <a:r>
              <a:rPr sz="2200" b="1">
                <a:solidFill>
                  <a:srgbClr val="2B2B2B"/>
                </a:solidFill>
                <a:latin typeface="Arial"/>
              </a:rPr>
              <a:t>0</a:t>
            </a:r>
            <a:r>
              <a:rPr sz="2200">
                <a:solidFill>
                  <a:srgbClr val="2B2B2B"/>
                </a:solidFill>
                <a:latin typeface="Arial"/>
              </a:rPr>
              <a:t>. Square brackets select the character. The gray code line numbers are separate from character indices.</a:t>
            </a:r>
          </a:p>
        </p:txBody>
      </p:sp>
      <p:sp>
        <p:nvSpPr>
          <p:cNvPr id="4" name="Code column header 0"/>
          <p:cNvSpPr txBox="1"/>
          <p:nvPr/>
        </p:nvSpPr>
        <p:spPr>
          <a:xfrm>
            <a:off x="594360" y="264566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64566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91998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91998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word</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"Something"</a:t>
            </a:r>
          </a:p>
        </p:txBody>
      </p:sp>
      <p:sp>
        <p:nvSpPr>
          <p:cNvPr id="8" name="Code number 0:2"/>
          <p:cNvSpPr txBox="1"/>
          <p:nvPr/>
        </p:nvSpPr>
        <p:spPr>
          <a:xfrm>
            <a:off x="164592" y="325678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3256788"/>
            <a:ext cx="7315200" cy="336804"/>
          </a:xfrm>
          <a:prstGeom prst="rect">
            <a:avLst/>
          </a:prstGeom>
          <a:noFill/>
          <a:ln>
            <a:noFill/>
          </a:ln>
        </p:spPr>
        <p:txBody>
          <a:bodyPr wrap="square" lIns="0" rIns="0" tIns="0" bIns="0">
            <a:noAutofit/>
          </a:bodyPr>
          <a:lstStyle/>
          <a:p>
            <a:pPr marL="0" indent="0" algn="l">
              <a:lnSpc>
                <a:spcPct val="120000"/>
              </a:lnSpc>
              <a:buNone/>
            </a:pPr>
            <a:r>
              <a:rPr sz="2000" i="1">
                <a:solidFill>
                  <a:srgbClr val="555554"/>
                </a:solidFill>
                <a:latin typeface="Courier New"/>
              </a:rPr>
              <a:t xml:space="preserve">#       012345678</a:t>
            </a:r>
          </a:p>
        </p:txBody>
      </p:sp>
      <p:sp>
        <p:nvSpPr>
          <p:cNvPr id="10" name="Code number 0:3"/>
          <p:cNvSpPr txBox="1"/>
          <p:nvPr/>
        </p:nvSpPr>
        <p:spPr>
          <a:xfrm>
            <a:off x="164592" y="359359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1" name="Code line 0:3"/>
          <p:cNvSpPr txBox="1"/>
          <p:nvPr/>
        </p:nvSpPr>
        <p:spPr>
          <a:xfrm>
            <a:off x="594360" y="359359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word</a:t>
            </a:r>
            <a:r>
              <a:rPr sz="2000">
                <a:solidFill>
                  <a:srgbClr val="666666"/>
                </a:solidFill>
                <a:latin typeface="Courier New"/>
              </a:rPr>
              <a:t xml:space="preserve">[</a:t>
            </a:r>
            <a:r>
              <a:rPr sz="2000">
                <a:solidFill>
                  <a:srgbClr val="208050"/>
                </a:solidFill>
                <a:latin typeface="Courier New"/>
              </a:rPr>
              <a:t xml:space="preserve">0</a:t>
            </a:r>
            <a:r>
              <a:rPr sz="2000">
                <a:solidFill>
                  <a:srgbClr val="666666"/>
                </a:solidFill>
                <a:latin typeface="Courier New"/>
              </a:rPr>
              <a:t xml:space="preserve">]</a:t>
            </a:r>
            <a:r>
              <a:rPr sz="2000">
                <a:solidFill>
                  <a:srgbClr val="666666"/>
                </a:solidFill>
                <a:latin typeface="Courier New"/>
              </a:rPr>
              <a:t xml:space="preserve">)</a:t>
            </a:r>
          </a:p>
        </p:txBody>
      </p:sp>
      <p:sp>
        <p:nvSpPr>
          <p:cNvPr id="12" name="Printed output 0:3"/>
          <p:cNvSpPr txBox="1"/>
          <p:nvPr/>
        </p:nvSpPr>
        <p:spPr>
          <a:xfrm>
            <a:off x="8366760" y="361899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3" name="Code number 0:4"/>
          <p:cNvSpPr txBox="1"/>
          <p:nvPr/>
        </p:nvSpPr>
        <p:spPr>
          <a:xfrm>
            <a:off x="164592" y="3930396"/>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4</a:t>
            </a:r>
          </a:p>
        </p:txBody>
      </p:sp>
      <p:sp>
        <p:nvSpPr>
          <p:cNvPr id="14" name="Code line 0:4"/>
          <p:cNvSpPr txBox="1"/>
          <p:nvPr/>
        </p:nvSpPr>
        <p:spPr>
          <a:xfrm>
            <a:off x="594360" y="3930396"/>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word</a:t>
            </a:r>
            <a:r>
              <a:rPr sz="2000">
                <a:solidFill>
                  <a:srgbClr val="666666"/>
                </a:solidFill>
                <a:latin typeface="Courier New"/>
              </a:rPr>
              <a:t xml:space="preserve">[</a:t>
            </a:r>
            <a:r>
              <a:rPr sz="2000">
                <a:solidFill>
                  <a:srgbClr val="208050"/>
                </a:solidFill>
                <a:latin typeface="Courier New"/>
              </a:rPr>
              <a:t xml:space="preserve">3</a:t>
            </a:r>
            <a:r>
              <a:rPr sz="2000">
                <a:solidFill>
                  <a:srgbClr val="666666"/>
                </a:solidFill>
                <a:latin typeface="Courier New"/>
              </a:rPr>
              <a:t xml:space="preserve">]</a:t>
            </a:r>
            <a:r>
              <a:rPr sz="2000">
                <a:solidFill>
                  <a:srgbClr val="666666"/>
                </a:solidFill>
                <a:latin typeface="Courier New"/>
              </a:rPr>
              <a:t xml:space="preserve">)</a:t>
            </a:r>
          </a:p>
        </p:txBody>
      </p:sp>
      <p:sp>
        <p:nvSpPr>
          <p:cNvPr id="15" name="Printed output 0:4"/>
          <p:cNvSpPr txBox="1"/>
          <p:nvPr/>
        </p:nvSpPr>
        <p:spPr>
          <a:xfrm>
            <a:off x="8366760" y="3955796"/>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7" name="Pi515 accent"/>
          <p:cNvSpPr/>
          <p:nvPr/>
        </p:nvSpPr>
        <p:spPr>
          <a:xfrm>
            <a:off x="0" y="0"/>
            <a:ext cx="12192000" cy="54864"/>
          </a:xfrm>
          <a:prstGeom prst="rect">
            <a:avLst/>
          </a:prstGeom>
          <a:solidFill>
            <a:srgbClr val="39DC78"/>
          </a:solidFill>
          <a:ln>
            <a:noFill/>
          </a:ln>
        </p:spPr>
      </p:sp>
      <p:sp>
        <p:nvSpPr>
          <p:cNvPr id="18"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19" name="Footer rule"/>
          <p:cNvSpPr/>
          <p:nvPr/>
        </p:nvSpPr>
        <p:spPr>
          <a:xfrm>
            <a:off x="594360" y="6400800"/>
            <a:ext cx="10972800" cy="10973"/>
          </a:xfrm>
          <a:prstGeom prst="rect">
            <a:avLst/>
          </a:prstGeom>
          <a:solidFill>
            <a:srgbClr val="E6E6E6"/>
          </a:solidFill>
          <a:ln>
            <a:noFill/>
          </a:ln>
        </p:spPr>
      </p:sp>
      <p:sp>
        <p:nvSpPr>
          <p:cNvPr id="20"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14</a:t>
            </a:r>
          </a:p>
        </p:txBody>
      </p:sp>
      <p:pic>
        <p:nvPicPr>
          <p:cNvPr id="21"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Indexing selects one character</a:t>
            </a:r>
          </a:p>
        </p:txBody>
      </p:sp>
      <p:sp>
        <p:nvSpPr>
          <p:cNvPr id="16" name="Printed output panel 0"/>
          <p:cNvSpPr/>
          <p:nvPr/>
        </p:nvSpPr>
        <p:spPr>
          <a:xfrm>
            <a:off x="8183880" y="2590800"/>
            <a:ext cx="3383280" cy="1804416"/>
          </a:xfrm>
          <a:prstGeom prst="rect">
            <a:avLst/>
          </a:prstGeom>
          <a:solidFill>
            <a:srgbClr val="EEF6F3"/>
          </a:solidFill>
          <a:ln>
            <a:noFill/>
          </a:ln>
        </p:spPr>
      </p:sp>
      <p:sp>
        <p:nvSpPr>
          <p:cNvPr id="3" name="Body paragraph 3"/>
          <p:cNvSpPr txBox="1"/>
          <p:nvPr/>
        </p:nvSpPr>
        <p:spPr>
          <a:xfrm>
            <a:off x="594360" y="1417320"/>
            <a:ext cx="10972800" cy="106070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An </a:t>
            </a:r>
            <a:r>
              <a:rPr sz="2200" b="1">
                <a:solidFill>
                  <a:srgbClr val="2B2B2B"/>
                </a:solidFill>
                <a:latin typeface="Arial"/>
              </a:rPr>
              <a:t>index</a:t>
            </a:r>
            <a:r>
              <a:rPr sz="2200">
                <a:solidFill>
                  <a:srgbClr val="2B2B2B"/>
                </a:solidFill>
                <a:latin typeface="Arial"/>
              </a:rPr>
              <a:t> is a character’s position. Python starts at </a:t>
            </a:r>
            <a:r>
              <a:rPr sz="2200" b="1">
                <a:solidFill>
                  <a:srgbClr val="2B2B2B"/>
                </a:solidFill>
                <a:latin typeface="Arial"/>
              </a:rPr>
              <a:t>0</a:t>
            </a:r>
            <a:r>
              <a:rPr sz="2200">
                <a:solidFill>
                  <a:srgbClr val="2B2B2B"/>
                </a:solidFill>
                <a:latin typeface="Arial"/>
              </a:rPr>
              <a:t>. Square brackets select the character. The gray code line numbers are separate from character indices.</a:t>
            </a:r>
          </a:p>
        </p:txBody>
      </p:sp>
      <p:sp>
        <p:nvSpPr>
          <p:cNvPr id="4" name="Code column header 0"/>
          <p:cNvSpPr txBox="1"/>
          <p:nvPr/>
        </p:nvSpPr>
        <p:spPr>
          <a:xfrm>
            <a:off x="594360" y="264566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64566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91998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91998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word</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"Something"</a:t>
            </a:r>
          </a:p>
        </p:txBody>
      </p:sp>
      <p:sp>
        <p:nvSpPr>
          <p:cNvPr id="8" name="Code number 0:2"/>
          <p:cNvSpPr txBox="1"/>
          <p:nvPr/>
        </p:nvSpPr>
        <p:spPr>
          <a:xfrm>
            <a:off x="164592" y="325678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3256788"/>
            <a:ext cx="7315200" cy="336804"/>
          </a:xfrm>
          <a:prstGeom prst="rect">
            <a:avLst/>
          </a:prstGeom>
          <a:noFill/>
          <a:ln>
            <a:noFill/>
          </a:ln>
        </p:spPr>
        <p:txBody>
          <a:bodyPr wrap="square" lIns="0" rIns="0" tIns="0" bIns="0">
            <a:noAutofit/>
          </a:bodyPr>
          <a:lstStyle/>
          <a:p>
            <a:pPr marL="0" indent="0" algn="l">
              <a:lnSpc>
                <a:spcPct val="120000"/>
              </a:lnSpc>
              <a:buNone/>
            </a:pPr>
            <a:r>
              <a:rPr sz="2000" i="1">
                <a:solidFill>
                  <a:srgbClr val="555554"/>
                </a:solidFill>
                <a:latin typeface="Courier New"/>
              </a:rPr>
              <a:t xml:space="preserve">#       012345678</a:t>
            </a:r>
          </a:p>
        </p:txBody>
      </p:sp>
      <p:sp>
        <p:nvSpPr>
          <p:cNvPr id="10" name="Code number 0:3"/>
          <p:cNvSpPr txBox="1"/>
          <p:nvPr/>
        </p:nvSpPr>
        <p:spPr>
          <a:xfrm>
            <a:off x="164592" y="359359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1" name="Code line 0:3"/>
          <p:cNvSpPr txBox="1"/>
          <p:nvPr/>
        </p:nvSpPr>
        <p:spPr>
          <a:xfrm>
            <a:off x="594360" y="359359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word</a:t>
            </a:r>
            <a:r>
              <a:rPr sz="2000">
                <a:solidFill>
                  <a:srgbClr val="666666"/>
                </a:solidFill>
                <a:latin typeface="Courier New"/>
              </a:rPr>
              <a:t xml:space="preserve">[</a:t>
            </a:r>
            <a:r>
              <a:rPr sz="2000">
                <a:solidFill>
                  <a:srgbClr val="208050"/>
                </a:solidFill>
                <a:latin typeface="Courier New"/>
              </a:rPr>
              <a:t xml:space="preserve">0</a:t>
            </a:r>
            <a:r>
              <a:rPr sz="2000">
                <a:solidFill>
                  <a:srgbClr val="666666"/>
                </a:solidFill>
                <a:latin typeface="Courier New"/>
              </a:rPr>
              <a:t xml:space="preserve">]</a:t>
            </a:r>
            <a:r>
              <a:rPr sz="2000">
                <a:solidFill>
                  <a:srgbClr val="666666"/>
                </a:solidFill>
                <a:latin typeface="Courier New"/>
              </a:rPr>
              <a:t xml:space="preserve">)</a:t>
            </a:r>
          </a:p>
        </p:txBody>
      </p:sp>
      <p:sp>
        <p:nvSpPr>
          <p:cNvPr id="12" name="Printed output 0:3"/>
          <p:cNvSpPr txBox="1"/>
          <p:nvPr/>
        </p:nvSpPr>
        <p:spPr>
          <a:xfrm>
            <a:off x="8366760" y="361899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S</a:t>
            </a:r>
          </a:p>
        </p:txBody>
      </p:sp>
      <p:sp>
        <p:nvSpPr>
          <p:cNvPr id="13" name="Code number 0:4"/>
          <p:cNvSpPr txBox="1"/>
          <p:nvPr/>
        </p:nvSpPr>
        <p:spPr>
          <a:xfrm>
            <a:off x="164592" y="3930396"/>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4</a:t>
            </a:r>
          </a:p>
        </p:txBody>
      </p:sp>
      <p:sp>
        <p:nvSpPr>
          <p:cNvPr id="14" name="Code line 0:4"/>
          <p:cNvSpPr txBox="1"/>
          <p:nvPr/>
        </p:nvSpPr>
        <p:spPr>
          <a:xfrm>
            <a:off x="594360" y="3930396"/>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word</a:t>
            </a:r>
            <a:r>
              <a:rPr sz="2000">
                <a:solidFill>
                  <a:srgbClr val="666666"/>
                </a:solidFill>
                <a:latin typeface="Courier New"/>
              </a:rPr>
              <a:t xml:space="preserve">[</a:t>
            </a:r>
            <a:r>
              <a:rPr sz="2000">
                <a:solidFill>
                  <a:srgbClr val="208050"/>
                </a:solidFill>
                <a:latin typeface="Courier New"/>
              </a:rPr>
              <a:t xml:space="preserve">3</a:t>
            </a:r>
            <a:r>
              <a:rPr sz="2000">
                <a:solidFill>
                  <a:srgbClr val="666666"/>
                </a:solidFill>
                <a:latin typeface="Courier New"/>
              </a:rPr>
              <a:t xml:space="preserve">]</a:t>
            </a:r>
            <a:r>
              <a:rPr sz="2000">
                <a:solidFill>
                  <a:srgbClr val="666666"/>
                </a:solidFill>
                <a:latin typeface="Courier New"/>
              </a:rPr>
              <a:t xml:space="preserve">)</a:t>
            </a:r>
          </a:p>
        </p:txBody>
      </p:sp>
      <p:sp>
        <p:nvSpPr>
          <p:cNvPr id="15" name="Printed output 0:4"/>
          <p:cNvSpPr txBox="1"/>
          <p:nvPr/>
        </p:nvSpPr>
        <p:spPr>
          <a:xfrm>
            <a:off x="8366760" y="3955796"/>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e</a:t>
            </a:r>
          </a:p>
        </p:txBody>
      </p:sp>
      <p:sp>
        <p:nvSpPr>
          <p:cNvPr id="17" name="Pi515 accent"/>
          <p:cNvSpPr/>
          <p:nvPr/>
        </p:nvSpPr>
        <p:spPr>
          <a:xfrm>
            <a:off x="0" y="0"/>
            <a:ext cx="12192000" cy="54864"/>
          </a:xfrm>
          <a:prstGeom prst="rect">
            <a:avLst/>
          </a:prstGeom>
          <a:solidFill>
            <a:srgbClr val="39DC78"/>
          </a:solidFill>
          <a:ln>
            <a:noFill/>
          </a:ln>
        </p:spPr>
      </p:sp>
      <p:sp>
        <p:nvSpPr>
          <p:cNvPr id="18"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19" name="Footer rule"/>
          <p:cNvSpPr/>
          <p:nvPr/>
        </p:nvSpPr>
        <p:spPr>
          <a:xfrm>
            <a:off x="594360" y="6400800"/>
            <a:ext cx="10972800" cy="10973"/>
          </a:xfrm>
          <a:prstGeom prst="rect">
            <a:avLst/>
          </a:prstGeom>
          <a:solidFill>
            <a:srgbClr val="E6E6E6"/>
          </a:solidFill>
          <a:ln>
            <a:noFill/>
          </a:ln>
        </p:spPr>
      </p:sp>
      <p:sp>
        <p:nvSpPr>
          <p:cNvPr id="20"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15</a:t>
            </a:r>
          </a:p>
        </p:txBody>
      </p:sp>
      <p:pic>
        <p:nvPicPr>
          <p:cNvPr id="21"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length</a:t>
            </a:r>
          </a:p>
        </p:txBody>
      </p:sp>
      <p:sp>
        <p:nvSpPr>
          <p:cNvPr id="9" name="Printed output panel 0"/>
          <p:cNvSpPr/>
          <p:nvPr/>
        </p:nvSpPr>
        <p:spPr>
          <a:xfrm>
            <a:off x="8183880" y="2034540"/>
            <a:ext cx="3383280" cy="794004"/>
          </a:xfrm>
          <a:prstGeom prst="rect">
            <a:avLst/>
          </a:prstGeom>
          <a:solidFill>
            <a:srgbClr val="EEF6F3"/>
          </a:solidFill>
          <a:ln>
            <a:noFill/>
          </a:ln>
        </p:spPr>
      </p:sp>
      <p:sp>
        <p:nvSpPr>
          <p:cNvPr id="3" name="Body paragraph 3"/>
          <p:cNvSpPr txBox="1"/>
          <p:nvPr/>
        </p:nvSpPr>
        <p:spPr>
          <a:xfrm>
            <a:off x="594360" y="1417320"/>
            <a:ext cx="10972800" cy="46634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The number of characters in a string, including spaces.</a:t>
            </a:r>
          </a:p>
        </p:txBody>
      </p:sp>
      <p:sp>
        <p:nvSpPr>
          <p:cNvPr id="4" name="Code column header 0"/>
          <p:cNvSpPr txBox="1"/>
          <p:nvPr/>
        </p:nvSpPr>
        <p:spPr>
          <a:xfrm>
            <a:off x="594360" y="208940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08940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36372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36372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008000"/>
                </a:solidFill>
                <a:latin typeface="Courier New"/>
              </a:rPr>
              <a:t xml:space="preserve">len</a:t>
            </a:r>
            <a:r>
              <a:rPr sz="2000">
                <a:solidFill>
                  <a:srgbClr val="666666"/>
                </a:solidFill>
                <a:latin typeface="Courier New"/>
              </a:rPr>
              <a:t xml:space="preserve">(</a:t>
            </a:r>
            <a:r>
              <a:rPr sz="2000">
                <a:solidFill>
                  <a:srgbClr val="4070A0"/>
                </a:solidFill>
                <a:latin typeface="Courier New"/>
              </a:rPr>
              <a:t xml:space="preserve">"MyString"</a:t>
            </a:r>
            <a:r>
              <a:rPr sz="2000">
                <a:solidFill>
                  <a:srgbClr val="666666"/>
                </a:solidFill>
                <a:latin typeface="Courier New"/>
              </a:rPr>
              <a:t xml:space="preserve">)</a:t>
            </a:r>
            <a:r>
              <a:rPr sz="2000">
                <a:solidFill>
                  <a:srgbClr val="666666"/>
                </a:solidFill>
                <a:latin typeface="Courier New"/>
              </a:rPr>
              <a:t xml:space="preserve">)</a:t>
            </a:r>
          </a:p>
        </p:txBody>
      </p:sp>
      <p:sp>
        <p:nvSpPr>
          <p:cNvPr id="8" name="Printed output 0:1"/>
          <p:cNvSpPr txBox="1"/>
          <p:nvPr/>
        </p:nvSpPr>
        <p:spPr>
          <a:xfrm>
            <a:off x="8366760" y="238912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16</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length</a:t>
            </a:r>
          </a:p>
        </p:txBody>
      </p:sp>
      <p:sp>
        <p:nvSpPr>
          <p:cNvPr id="9" name="Printed output panel 0"/>
          <p:cNvSpPr/>
          <p:nvPr/>
        </p:nvSpPr>
        <p:spPr>
          <a:xfrm>
            <a:off x="8183880" y="2034540"/>
            <a:ext cx="3383280" cy="794004"/>
          </a:xfrm>
          <a:prstGeom prst="rect">
            <a:avLst/>
          </a:prstGeom>
          <a:solidFill>
            <a:srgbClr val="EEF6F3"/>
          </a:solidFill>
          <a:ln>
            <a:noFill/>
          </a:ln>
        </p:spPr>
      </p:sp>
      <p:sp>
        <p:nvSpPr>
          <p:cNvPr id="3" name="Body paragraph 3"/>
          <p:cNvSpPr txBox="1"/>
          <p:nvPr/>
        </p:nvSpPr>
        <p:spPr>
          <a:xfrm>
            <a:off x="594360" y="1417320"/>
            <a:ext cx="10972800" cy="46634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The number of characters in a string, including spaces.</a:t>
            </a:r>
          </a:p>
        </p:txBody>
      </p:sp>
      <p:sp>
        <p:nvSpPr>
          <p:cNvPr id="4" name="Code column header 0"/>
          <p:cNvSpPr txBox="1"/>
          <p:nvPr/>
        </p:nvSpPr>
        <p:spPr>
          <a:xfrm>
            <a:off x="594360" y="208940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08940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36372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36372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008000"/>
                </a:solidFill>
                <a:latin typeface="Courier New"/>
              </a:rPr>
              <a:t xml:space="preserve">len</a:t>
            </a:r>
            <a:r>
              <a:rPr sz="2000">
                <a:solidFill>
                  <a:srgbClr val="666666"/>
                </a:solidFill>
                <a:latin typeface="Courier New"/>
              </a:rPr>
              <a:t xml:space="preserve">(</a:t>
            </a:r>
            <a:r>
              <a:rPr sz="2000">
                <a:solidFill>
                  <a:srgbClr val="4070A0"/>
                </a:solidFill>
                <a:latin typeface="Courier New"/>
              </a:rPr>
              <a:t xml:space="preserve">"MyString"</a:t>
            </a:r>
            <a:r>
              <a:rPr sz="2000">
                <a:solidFill>
                  <a:srgbClr val="666666"/>
                </a:solidFill>
                <a:latin typeface="Courier New"/>
              </a:rPr>
              <a:t xml:space="preserve">)</a:t>
            </a:r>
            <a:r>
              <a:rPr sz="2000">
                <a:solidFill>
                  <a:srgbClr val="666666"/>
                </a:solidFill>
                <a:latin typeface="Courier New"/>
              </a:rPr>
              <a:t xml:space="preserve">)</a:t>
            </a:r>
          </a:p>
        </p:txBody>
      </p:sp>
      <p:sp>
        <p:nvSpPr>
          <p:cNvPr id="8" name="Printed output 0:1"/>
          <p:cNvSpPr txBox="1"/>
          <p:nvPr/>
        </p:nvSpPr>
        <p:spPr>
          <a:xfrm>
            <a:off x="8366760" y="238912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8</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17</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membership</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Whether text occurs within another string. </a:t>
            </a:r>
            <a:r>
              <a:rPr sz="2700" b="1">
                <a:solidFill>
                  <a:srgbClr val="008000"/>
                </a:solidFill>
                <a:latin typeface="Courier New"/>
              </a:rPr>
              <a:t xml:space="preserve">in</a:t>
            </a:r>
            <a:r>
              <a:rPr sz="2700">
                <a:solidFill>
                  <a:srgbClr val="2B2B2B"/>
                </a:solidFill>
                <a:latin typeface="Arial"/>
              </a:rPr>
              <a:t> returns </a:t>
            </a:r>
            <a:r>
              <a:rPr sz="2700" b="1">
                <a:solidFill>
                  <a:srgbClr val="008000"/>
                </a:solidFill>
                <a:latin typeface="Courier New"/>
              </a:rPr>
              <a:t xml:space="preserve">True</a:t>
            </a:r>
            <a:r>
              <a:rPr sz="2700">
                <a:solidFill>
                  <a:srgbClr val="2B2B2B"/>
                </a:solidFill>
                <a:latin typeface="Arial"/>
              </a:rPr>
              <a:t> or </a:t>
            </a:r>
            <a:r>
              <a:rPr sz="2700" b="1">
                <a:solidFill>
                  <a:srgbClr val="008000"/>
                </a:solidFill>
                <a:latin typeface="Courier New"/>
              </a:rPr>
              <a:t xml:space="preserve">False</a:t>
            </a:r>
            <a:r>
              <a:rPr sz="2700">
                <a:solidFill>
                  <a:srgbClr val="2B2B2B"/>
                </a:solidFill>
                <a:latin typeface="Arial"/>
              </a:rPr>
              <a:t>.</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"s"</a:t>
            </a:r>
            <a:r>
              <a:rPr sz="2000">
                <a:solidFill>
                  <a:srgbClr val="2B2B2B"/>
                </a:solidFill>
                <a:latin typeface="Courier New"/>
              </a:rPr>
              <a:t xml:space="preserve"> </a:t>
            </a:r>
            <a:r>
              <a:rPr sz="2000" b="1">
                <a:solidFill>
                  <a:srgbClr val="008000"/>
                </a:solidFill>
                <a:latin typeface="Courier New"/>
              </a:rPr>
              <a:t xml:space="preserve">in</a:t>
            </a:r>
            <a:r>
              <a:rPr sz="2000">
                <a:solidFill>
                  <a:srgbClr val="2B2B2B"/>
                </a:solidFill>
                <a:latin typeface="Courier New"/>
              </a:rPr>
              <a:t xml:space="preserve"> </a:t>
            </a:r>
            <a:r>
              <a:rPr sz="2000">
                <a:solidFill>
                  <a:srgbClr val="4070A0"/>
                </a:solidFill>
                <a:latin typeface="Courier New"/>
              </a:rPr>
              <a:t xml:space="preserve">"string"</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18</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membership</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Whether text occurs within another string. </a:t>
            </a:r>
            <a:r>
              <a:rPr sz="2700" b="1">
                <a:solidFill>
                  <a:srgbClr val="008000"/>
                </a:solidFill>
                <a:latin typeface="Courier New"/>
              </a:rPr>
              <a:t xml:space="preserve">in</a:t>
            </a:r>
            <a:r>
              <a:rPr sz="2700">
                <a:solidFill>
                  <a:srgbClr val="2B2B2B"/>
                </a:solidFill>
                <a:latin typeface="Arial"/>
              </a:rPr>
              <a:t> returns </a:t>
            </a:r>
            <a:r>
              <a:rPr sz="2700" b="1">
                <a:solidFill>
                  <a:srgbClr val="008000"/>
                </a:solidFill>
                <a:latin typeface="Courier New"/>
              </a:rPr>
              <a:t xml:space="preserve">True</a:t>
            </a:r>
            <a:r>
              <a:rPr sz="2700">
                <a:solidFill>
                  <a:srgbClr val="2B2B2B"/>
                </a:solidFill>
                <a:latin typeface="Arial"/>
              </a:rPr>
              <a:t> or </a:t>
            </a:r>
            <a:r>
              <a:rPr sz="2700" b="1">
                <a:solidFill>
                  <a:srgbClr val="008000"/>
                </a:solidFill>
                <a:latin typeface="Courier New"/>
              </a:rPr>
              <a:t xml:space="preserve">False</a:t>
            </a:r>
            <a:r>
              <a:rPr sz="2700">
                <a:solidFill>
                  <a:srgbClr val="2B2B2B"/>
                </a:solidFill>
                <a:latin typeface="Arial"/>
              </a:rPr>
              <a:t>.</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"s"</a:t>
            </a:r>
            <a:r>
              <a:rPr sz="2000">
                <a:solidFill>
                  <a:srgbClr val="2B2B2B"/>
                </a:solidFill>
                <a:latin typeface="Courier New"/>
              </a:rPr>
              <a:t xml:space="preserve"> </a:t>
            </a:r>
            <a:r>
              <a:rPr sz="2000" b="1">
                <a:solidFill>
                  <a:srgbClr val="008000"/>
                </a:solidFill>
                <a:latin typeface="Courier New"/>
              </a:rPr>
              <a:t xml:space="preserve">in</a:t>
            </a:r>
            <a:r>
              <a:rPr sz="2000">
                <a:solidFill>
                  <a:srgbClr val="2B2B2B"/>
                </a:solidFill>
                <a:latin typeface="Courier New"/>
              </a:rPr>
              <a:t xml:space="preserve"> </a:t>
            </a:r>
            <a:r>
              <a:rPr sz="2000">
                <a:solidFill>
                  <a:srgbClr val="4070A0"/>
                </a:solidFill>
                <a:latin typeface="Courier New"/>
              </a:rPr>
              <a:t xml:space="preserve">"string"</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True</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19</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keyword</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A reserved word in Python syntax, such as </a:t>
            </a:r>
            <a:r>
              <a:rPr sz="2700" b="1">
                <a:solidFill>
                  <a:srgbClr val="008000"/>
                </a:solidFill>
                <a:latin typeface="Courier New"/>
              </a:rPr>
              <a:t xml:space="preserve">in</a:t>
            </a:r>
            <a:r>
              <a:rPr sz="2700">
                <a:solidFill>
                  <a:srgbClr val="2B2B2B"/>
                </a:solidFill>
                <a:latin typeface="Arial"/>
              </a:rPr>
              <a:t>. It cannot be a variable name.</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"s"</a:t>
            </a:r>
            <a:r>
              <a:rPr sz="2000">
                <a:solidFill>
                  <a:srgbClr val="2B2B2B"/>
                </a:solidFill>
                <a:latin typeface="Courier New"/>
              </a:rPr>
              <a:t xml:space="preserve"> </a:t>
            </a:r>
            <a:r>
              <a:rPr sz="2000" b="1">
                <a:solidFill>
                  <a:srgbClr val="008000"/>
                </a:solidFill>
                <a:latin typeface="Courier New"/>
              </a:rPr>
              <a:t xml:space="preserve">in</a:t>
            </a:r>
            <a:r>
              <a:rPr sz="2000">
                <a:solidFill>
                  <a:srgbClr val="2B2B2B"/>
                </a:solidFill>
                <a:latin typeface="Courier New"/>
              </a:rPr>
              <a:t xml:space="preserve"> </a:t>
            </a:r>
            <a:r>
              <a:rPr sz="2000">
                <a:solidFill>
                  <a:srgbClr val="4070A0"/>
                </a:solidFill>
                <a:latin typeface="Courier New"/>
              </a:rPr>
              <a:t xml:space="preserve">"string"</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20</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keyword</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A reserved word in Python syntax, such as </a:t>
            </a:r>
            <a:r>
              <a:rPr sz="2700" b="1">
                <a:solidFill>
                  <a:srgbClr val="008000"/>
                </a:solidFill>
                <a:latin typeface="Courier New"/>
              </a:rPr>
              <a:t xml:space="preserve">in</a:t>
            </a:r>
            <a:r>
              <a:rPr sz="2700">
                <a:solidFill>
                  <a:srgbClr val="2B2B2B"/>
                </a:solidFill>
                <a:latin typeface="Arial"/>
              </a:rPr>
              <a:t>. It cannot be a variable name.</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"s"</a:t>
            </a:r>
            <a:r>
              <a:rPr sz="2000">
                <a:solidFill>
                  <a:srgbClr val="2B2B2B"/>
                </a:solidFill>
                <a:latin typeface="Courier New"/>
              </a:rPr>
              <a:t xml:space="preserve"> </a:t>
            </a:r>
            <a:r>
              <a:rPr sz="2000" b="1">
                <a:solidFill>
                  <a:srgbClr val="008000"/>
                </a:solidFill>
                <a:latin typeface="Courier New"/>
              </a:rPr>
              <a:t xml:space="preserve">in</a:t>
            </a:r>
            <a:r>
              <a:rPr sz="2000">
                <a:solidFill>
                  <a:srgbClr val="2B2B2B"/>
                </a:solidFill>
                <a:latin typeface="Courier New"/>
              </a:rPr>
              <a:t xml:space="preserve"> </a:t>
            </a:r>
            <a:r>
              <a:rPr sz="2000">
                <a:solidFill>
                  <a:srgbClr val="4070A0"/>
                </a:solidFill>
                <a:latin typeface="Courier New"/>
              </a:rPr>
              <a:t xml:space="preserve">"string"</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True</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21</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String facts: length and membership</a:t>
            </a:r>
          </a:p>
        </p:txBody>
      </p:sp>
      <p:sp>
        <p:nvSpPr>
          <p:cNvPr id="15" name="Printed output panel 0"/>
          <p:cNvSpPr/>
          <p:nvPr/>
        </p:nvSpPr>
        <p:spPr>
          <a:xfrm>
            <a:off x="8183880" y="2255520"/>
            <a:ext cx="3383280" cy="1467612"/>
          </a:xfrm>
          <a:prstGeom prst="rect">
            <a:avLst/>
          </a:prstGeom>
          <a:solidFill>
            <a:srgbClr val="EEF6F3"/>
          </a:solidFill>
          <a:ln>
            <a:noFill/>
          </a:ln>
        </p:spPr>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008000"/>
                </a:solidFill>
                <a:latin typeface="Courier New"/>
              </a:rPr>
              <a:t xml:space="preserve">len</a:t>
            </a:r>
            <a:r>
              <a:rPr sz="2200">
                <a:solidFill>
                  <a:srgbClr val="2B2B2B"/>
                </a:solidFill>
                <a:latin typeface="Arial"/>
              </a:rPr>
              <a:t> counts characters. The </a:t>
            </a:r>
            <a:r>
              <a:rPr sz="2200" b="1">
                <a:solidFill>
                  <a:srgbClr val="008000"/>
                </a:solidFill>
                <a:latin typeface="Courier New"/>
              </a:rPr>
              <a:t xml:space="preserve">in</a:t>
            </a:r>
            <a:r>
              <a:rPr sz="2200">
                <a:solidFill>
                  <a:srgbClr val="2B2B2B"/>
                </a:solidFill>
                <a:latin typeface="Arial"/>
              </a:rPr>
              <a:t> keyword tests whether text occurs within a string. Uppercase and lowercase differ.</a:t>
            </a:r>
          </a:p>
        </p:txBody>
      </p:sp>
      <p:sp>
        <p:nvSpPr>
          <p:cNvPr id="4" name="Code column header 0"/>
          <p:cNvSpPr txBox="1"/>
          <p:nvPr/>
        </p:nvSpPr>
        <p:spPr>
          <a:xfrm>
            <a:off x="594360" y="23103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3103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5847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5847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008000"/>
                </a:solidFill>
                <a:latin typeface="Courier New"/>
              </a:rPr>
              <a:t xml:space="preserve">len</a:t>
            </a:r>
            <a:r>
              <a:rPr sz="2000">
                <a:solidFill>
                  <a:srgbClr val="666666"/>
                </a:solidFill>
                <a:latin typeface="Courier New"/>
              </a:rPr>
              <a:t xml:space="preserve">(</a:t>
            </a:r>
            <a:r>
              <a:rPr sz="2000">
                <a:solidFill>
                  <a:srgbClr val="4070A0"/>
                </a:solidFill>
                <a:latin typeface="Courier New"/>
              </a:rPr>
              <a:t xml:space="preserve">"MyString"</a:t>
            </a:r>
            <a:r>
              <a:rPr sz="2000">
                <a:solidFill>
                  <a:srgbClr val="666666"/>
                </a:solidFill>
                <a:latin typeface="Courier New"/>
              </a:rPr>
              <a:t xml:space="preserve">)</a:t>
            </a:r>
            <a:r>
              <a:rPr sz="2000">
                <a:solidFill>
                  <a:srgbClr val="666666"/>
                </a:solidFill>
                <a:latin typeface="Courier New"/>
              </a:rPr>
              <a:t xml:space="preserve">)</a:t>
            </a:r>
          </a:p>
        </p:txBody>
      </p:sp>
      <p:sp>
        <p:nvSpPr>
          <p:cNvPr id="8" name="Printed output 0:1"/>
          <p:cNvSpPr txBox="1"/>
          <p:nvPr/>
        </p:nvSpPr>
        <p:spPr>
          <a:xfrm>
            <a:off x="8366760" y="26101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9" name="Code number 0:2"/>
          <p:cNvSpPr txBox="1"/>
          <p:nvPr/>
        </p:nvSpPr>
        <p:spPr>
          <a:xfrm>
            <a:off x="164592" y="292150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10" name="Code line 0:2"/>
          <p:cNvSpPr txBox="1"/>
          <p:nvPr/>
        </p:nvSpPr>
        <p:spPr>
          <a:xfrm>
            <a:off x="594360" y="292150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"s"</a:t>
            </a:r>
            <a:r>
              <a:rPr sz="2000">
                <a:solidFill>
                  <a:srgbClr val="2B2B2B"/>
                </a:solidFill>
                <a:latin typeface="Courier New"/>
              </a:rPr>
              <a:t xml:space="preserve"> </a:t>
            </a:r>
            <a:r>
              <a:rPr sz="2000" b="1">
                <a:solidFill>
                  <a:srgbClr val="008000"/>
                </a:solidFill>
                <a:latin typeface="Courier New"/>
              </a:rPr>
              <a:t xml:space="preserve">in</a:t>
            </a:r>
            <a:r>
              <a:rPr sz="2000">
                <a:solidFill>
                  <a:srgbClr val="2B2B2B"/>
                </a:solidFill>
                <a:latin typeface="Courier New"/>
              </a:rPr>
              <a:t xml:space="preserve"> </a:t>
            </a:r>
            <a:r>
              <a:rPr sz="2000">
                <a:solidFill>
                  <a:srgbClr val="4070A0"/>
                </a:solidFill>
                <a:latin typeface="Courier New"/>
              </a:rPr>
              <a:t xml:space="preserve">"string"</a:t>
            </a:r>
            <a:r>
              <a:rPr sz="2000">
                <a:solidFill>
                  <a:srgbClr val="666666"/>
                </a:solidFill>
                <a:latin typeface="Courier New"/>
              </a:rPr>
              <a:t xml:space="preserve">)</a:t>
            </a:r>
          </a:p>
        </p:txBody>
      </p:sp>
      <p:sp>
        <p:nvSpPr>
          <p:cNvPr id="11" name="Printed output 0:2"/>
          <p:cNvSpPr txBox="1"/>
          <p:nvPr/>
        </p:nvSpPr>
        <p:spPr>
          <a:xfrm>
            <a:off x="8366760" y="2946908"/>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2" name="Code number 0:3"/>
          <p:cNvSpPr txBox="1"/>
          <p:nvPr/>
        </p:nvSpPr>
        <p:spPr>
          <a:xfrm>
            <a:off x="164592" y="325831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3" name="Code line 0:3"/>
          <p:cNvSpPr txBox="1"/>
          <p:nvPr/>
        </p:nvSpPr>
        <p:spPr>
          <a:xfrm>
            <a:off x="594360" y="325831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"z"</a:t>
            </a:r>
            <a:r>
              <a:rPr sz="2000">
                <a:solidFill>
                  <a:srgbClr val="2B2B2B"/>
                </a:solidFill>
                <a:latin typeface="Courier New"/>
              </a:rPr>
              <a:t xml:space="preserve"> </a:t>
            </a:r>
            <a:r>
              <a:rPr sz="2000" b="1">
                <a:solidFill>
                  <a:srgbClr val="008000"/>
                </a:solidFill>
                <a:latin typeface="Courier New"/>
              </a:rPr>
              <a:t xml:space="preserve">in</a:t>
            </a:r>
            <a:r>
              <a:rPr sz="2000">
                <a:solidFill>
                  <a:srgbClr val="2B2B2B"/>
                </a:solidFill>
                <a:latin typeface="Courier New"/>
              </a:rPr>
              <a:t xml:space="preserve"> </a:t>
            </a:r>
            <a:r>
              <a:rPr sz="2000">
                <a:solidFill>
                  <a:srgbClr val="4070A0"/>
                </a:solidFill>
                <a:latin typeface="Courier New"/>
              </a:rPr>
              <a:t xml:space="preserve">"string"</a:t>
            </a:r>
            <a:r>
              <a:rPr sz="2000">
                <a:solidFill>
                  <a:srgbClr val="666666"/>
                </a:solidFill>
                <a:latin typeface="Courier New"/>
              </a:rPr>
              <a:t xml:space="preserve">)</a:t>
            </a:r>
          </a:p>
        </p:txBody>
      </p:sp>
      <p:sp>
        <p:nvSpPr>
          <p:cNvPr id="14" name="Printed output 0:3"/>
          <p:cNvSpPr txBox="1"/>
          <p:nvPr/>
        </p:nvSpPr>
        <p:spPr>
          <a:xfrm>
            <a:off x="8366760" y="328371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6" name="Pi515 accent"/>
          <p:cNvSpPr/>
          <p:nvPr/>
        </p:nvSpPr>
        <p:spPr>
          <a:xfrm>
            <a:off x="0" y="0"/>
            <a:ext cx="12192000" cy="54864"/>
          </a:xfrm>
          <a:prstGeom prst="rect">
            <a:avLst/>
          </a:prstGeom>
          <a:solidFill>
            <a:srgbClr val="39DC78"/>
          </a:solidFill>
          <a:ln>
            <a:noFill/>
          </a:ln>
        </p:spPr>
      </p:sp>
      <p:sp>
        <p:nvSpPr>
          <p:cNvPr id="17"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18" name="Footer rule"/>
          <p:cNvSpPr/>
          <p:nvPr/>
        </p:nvSpPr>
        <p:spPr>
          <a:xfrm>
            <a:off x="594360" y="6400800"/>
            <a:ext cx="10972800" cy="10973"/>
          </a:xfrm>
          <a:prstGeom prst="rect">
            <a:avLst/>
          </a:prstGeom>
          <a:solidFill>
            <a:srgbClr val="E6E6E6"/>
          </a:solidFill>
          <a:ln>
            <a:noFill/>
          </a:ln>
        </p:spPr>
      </p:sp>
      <p:sp>
        <p:nvSpPr>
          <p:cNvPr id="19"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22</a:t>
            </a:r>
          </a:p>
        </p:txBody>
      </p:sp>
      <p:pic>
        <p:nvPicPr>
          <p:cNvPr id="20"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String facts: length and membership</a:t>
            </a:r>
          </a:p>
        </p:txBody>
      </p:sp>
      <p:sp>
        <p:nvSpPr>
          <p:cNvPr id="15" name="Printed output panel 0"/>
          <p:cNvSpPr/>
          <p:nvPr/>
        </p:nvSpPr>
        <p:spPr>
          <a:xfrm>
            <a:off x="8183880" y="2255520"/>
            <a:ext cx="3383280" cy="1467612"/>
          </a:xfrm>
          <a:prstGeom prst="rect">
            <a:avLst/>
          </a:prstGeom>
          <a:solidFill>
            <a:srgbClr val="EEF6F3"/>
          </a:solidFill>
          <a:ln>
            <a:noFill/>
          </a:ln>
        </p:spPr>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008000"/>
                </a:solidFill>
                <a:latin typeface="Courier New"/>
              </a:rPr>
              <a:t xml:space="preserve">len</a:t>
            </a:r>
            <a:r>
              <a:rPr sz="2200">
                <a:solidFill>
                  <a:srgbClr val="2B2B2B"/>
                </a:solidFill>
                <a:latin typeface="Arial"/>
              </a:rPr>
              <a:t> counts characters. The </a:t>
            </a:r>
            <a:r>
              <a:rPr sz="2200" b="1">
                <a:solidFill>
                  <a:srgbClr val="008000"/>
                </a:solidFill>
                <a:latin typeface="Courier New"/>
              </a:rPr>
              <a:t xml:space="preserve">in</a:t>
            </a:r>
            <a:r>
              <a:rPr sz="2200">
                <a:solidFill>
                  <a:srgbClr val="2B2B2B"/>
                </a:solidFill>
                <a:latin typeface="Arial"/>
              </a:rPr>
              <a:t> keyword tests whether text occurs within a string. Uppercase and lowercase differ.</a:t>
            </a:r>
          </a:p>
        </p:txBody>
      </p:sp>
      <p:sp>
        <p:nvSpPr>
          <p:cNvPr id="4" name="Code column header 0"/>
          <p:cNvSpPr txBox="1"/>
          <p:nvPr/>
        </p:nvSpPr>
        <p:spPr>
          <a:xfrm>
            <a:off x="594360" y="23103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3103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5847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5847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008000"/>
                </a:solidFill>
                <a:latin typeface="Courier New"/>
              </a:rPr>
              <a:t xml:space="preserve">len</a:t>
            </a:r>
            <a:r>
              <a:rPr sz="2000">
                <a:solidFill>
                  <a:srgbClr val="666666"/>
                </a:solidFill>
                <a:latin typeface="Courier New"/>
              </a:rPr>
              <a:t xml:space="preserve">(</a:t>
            </a:r>
            <a:r>
              <a:rPr sz="2000">
                <a:solidFill>
                  <a:srgbClr val="4070A0"/>
                </a:solidFill>
                <a:latin typeface="Courier New"/>
              </a:rPr>
              <a:t xml:space="preserve">"MyString"</a:t>
            </a:r>
            <a:r>
              <a:rPr sz="2000">
                <a:solidFill>
                  <a:srgbClr val="666666"/>
                </a:solidFill>
                <a:latin typeface="Courier New"/>
              </a:rPr>
              <a:t xml:space="preserve">)</a:t>
            </a:r>
            <a:r>
              <a:rPr sz="2000">
                <a:solidFill>
                  <a:srgbClr val="666666"/>
                </a:solidFill>
                <a:latin typeface="Courier New"/>
              </a:rPr>
              <a:t xml:space="preserve">)</a:t>
            </a:r>
          </a:p>
        </p:txBody>
      </p:sp>
      <p:sp>
        <p:nvSpPr>
          <p:cNvPr id="8" name="Printed output 0:1"/>
          <p:cNvSpPr txBox="1"/>
          <p:nvPr/>
        </p:nvSpPr>
        <p:spPr>
          <a:xfrm>
            <a:off x="8366760" y="26101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8</a:t>
            </a:r>
          </a:p>
        </p:txBody>
      </p:sp>
      <p:sp>
        <p:nvSpPr>
          <p:cNvPr id="9" name="Code number 0:2"/>
          <p:cNvSpPr txBox="1"/>
          <p:nvPr/>
        </p:nvSpPr>
        <p:spPr>
          <a:xfrm>
            <a:off x="164592" y="292150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10" name="Code line 0:2"/>
          <p:cNvSpPr txBox="1"/>
          <p:nvPr/>
        </p:nvSpPr>
        <p:spPr>
          <a:xfrm>
            <a:off x="594360" y="292150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"s"</a:t>
            </a:r>
            <a:r>
              <a:rPr sz="2000">
                <a:solidFill>
                  <a:srgbClr val="2B2B2B"/>
                </a:solidFill>
                <a:latin typeface="Courier New"/>
              </a:rPr>
              <a:t xml:space="preserve"> </a:t>
            </a:r>
            <a:r>
              <a:rPr sz="2000" b="1">
                <a:solidFill>
                  <a:srgbClr val="008000"/>
                </a:solidFill>
                <a:latin typeface="Courier New"/>
              </a:rPr>
              <a:t xml:space="preserve">in</a:t>
            </a:r>
            <a:r>
              <a:rPr sz="2000">
                <a:solidFill>
                  <a:srgbClr val="2B2B2B"/>
                </a:solidFill>
                <a:latin typeface="Courier New"/>
              </a:rPr>
              <a:t xml:space="preserve"> </a:t>
            </a:r>
            <a:r>
              <a:rPr sz="2000">
                <a:solidFill>
                  <a:srgbClr val="4070A0"/>
                </a:solidFill>
                <a:latin typeface="Courier New"/>
              </a:rPr>
              <a:t xml:space="preserve">"string"</a:t>
            </a:r>
            <a:r>
              <a:rPr sz="2000">
                <a:solidFill>
                  <a:srgbClr val="666666"/>
                </a:solidFill>
                <a:latin typeface="Courier New"/>
              </a:rPr>
              <a:t xml:space="preserve">)</a:t>
            </a:r>
          </a:p>
        </p:txBody>
      </p:sp>
      <p:sp>
        <p:nvSpPr>
          <p:cNvPr id="11" name="Printed output 0:2"/>
          <p:cNvSpPr txBox="1"/>
          <p:nvPr/>
        </p:nvSpPr>
        <p:spPr>
          <a:xfrm>
            <a:off x="8366760" y="2946908"/>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True</a:t>
            </a:r>
          </a:p>
        </p:txBody>
      </p:sp>
      <p:sp>
        <p:nvSpPr>
          <p:cNvPr id="12" name="Code number 0:3"/>
          <p:cNvSpPr txBox="1"/>
          <p:nvPr/>
        </p:nvSpPr>
        <p:spPr>
          <a:xfrm>
            <a:off x="164592" y="325831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3" name="Code line 0:3"/>
          <p:cNvSpPr txBox="1"/>
          <p:nvPr/>
        </p:nvSpPr>
        <p:spPr>
          <a:xfrm>
            <a:off x="594360" y="325831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"z"</a:t>
            </a:r>
            <a:r>
              <a:rPr sz="2000">
                <a:solidFill>
                  <a:srgbClr val="2B2B2B"/>
                </a:solidFill>
                <a:latin typeface="Courier New"/>
              </a:rPr>
              <a:t xml:space="preserve"> </a:t>
            </a:r>
            <a:r>
              <a:rPr sz="2000" b="1">
                <a:solidFill>
                  <a:srgbClr val="008000"/>
                </a:solidFill>
                <a:latin typeface="Courier New"/>
              </a:rPr>
              <a:t xml:space="preserve">in</a:t>
            </a:r>
            <a:r>
              <a:rPr sz="2000">
                <a:solidFill>
                  <a:srgbClr val="2B2B2B"/>
                </a:solidFill>
                <a:latin typeface="Courier New"/>
              </a:rPr>
              <a:t xml:space="preserve"> </a:t>
            </a:r>
            <a:r>
              <a:rPr sz="2000">
                <a:solidFill>
                  <a:srgbClr val="4070A0"/>
                </a:solidFill>
                <a:latin typeface="Courier New"/>
              </a:rPr>
              <a:t xml:space="preserve">"string"</a:t>
            </a:r>
            <a:r>
              <a:rPr sz="2000">
                <a:solidFill>
                  <a:srgbClr val="666666"/>
                </a:solidFill>
                <a:latin typeface="Courier New"/>
              </a:rPr>
              <a:t xml:space="preserve">)</a:t>
            </a:r>
          </a:p>
        </p:txBody>
      </p:sp>
      <p:sp>
        <p:nvSpPr>
          <p:cNvPr id="14" name="Printed output 0:3"/>
          <p:cNvSpPr txBox="1"/>
          <p:nvPr/>
        </p:nvSpPr>
        <p:spPr>
          <a:xfrm>
            <a:off x="8366760" y="328371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False</a:t>
            </a:r>
          </a:p>
        </p:txBody>
      </p:sp>
      <p:sp>
        <p:nvSpPr>
          <p:cNvPr id="16" name="Pi515 accent"/>
          <p:cNvSpPr/>
          <p:nvPr/>
        </p:nvSpPr>
        <p:spPr>
          <a:xfrm>
            <a:off x="0" y="0"/>
            <a:ext cx="12192000" cy="54864"/>
          </a:xfrm>
          <a:prstGeom prst="rect">
            <a:avLst/>
          </a:prstGeom>
          <a:solidFill>
            <a:srgbClr val="39DC78"/>
          </a:solidFill>
          <a:ln>
            <a:noFill/>
          </a:ln>
        </p:spPr>
      </p:sp>
      <p:sp>
        <p:nvSpPr>
          <p:cNvPr id="17"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18" name="Footer rule"/>
          <p:cNvSpPr/>
          <p:nvPr/>
        </p:nvSpPr>
        <p:spPr>
          <a:xfrm>
            <a:off x="594360" y="6400800"/>
            <a:ext cx="10972800" cy="10973"/>
          </a:xfrm>
          <a:prstGeom prst="rect">
            <a:avLst/>
          </a:prstGeom>
          <a:solidFill>
            <a:srgbClr val="E6E6E6"/>
          </a:solidFill>
          <a:ln>
            <a:noFill/>
          </a:ln>
        </p:spPr>
      </p:sp>
      <p:sp>
        <p:nvSpPr>
          <p:cNvPr id="19"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23</a:t>
            </a:r>
          </a:p>
        </p:txBody>
      </p:sp>
      <p:pic>
        <p:nvPicPr>
          <p:cNvPr id="20"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Exercise 1 — String facts: length and membership</a:t>
            </a:r>
          </a:p>
        </p:txBody>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Print the length of </a:t>
            </a:r>
            <a:r>
              <a:rPr sz="2200">
                <a:solidFill>
                  <a:srgbClr val="2B2B2B"/>
                </a:solidFill>
                <a:latin typeface="Courier New"/>
              </a:rPr>
              <a:t xml:space="preserve">firstName</a:t>
            </a:r>
            <a:r>
              <a:rPr sz="2200">
                <a:solidFill>
                  <a:srgbClr val="2B2B2B"/>
                </a:solidFill>
                <a:latin typeface="Arial"/>
              </a:rPr>
              <a:t>. Test whether uppercase </a:t>
            </a:r>
            <a:r>
              <a:rPr sz="2200">
                <a:solidFill>
                  <a:srgbClr val="4070A0"/>
                </a:solidFill>
                <a:latin typeface="Courier New"/>
              </a:rPr>
              <a:t xml:space="preserve">"R"</a:t>
            </a:r>
            <a:r>
              <a:rPr sz="2200">
                <a:solidFill>
                  <a:srgbClr val="2B2B2B"/>
                </a:solidFill>
                <a:latin typeface="Arial"/>
              </a:rPr>
              <a:t> occurs in </a:t>
            </a:r>
            <a:r>
              <a:rPr sz="2200">
                <a:solidFill>
                  <a:srgbClr val="2B2B2B"/>
                </a:solidFill>
                <a:latin typeface="Courier New"/>
              </a:rPr>
              <a:t xml:space="preserve">lastName</a:t>
            </a:r>
            <a:r>
              <a:rPr sz="2200">
                <a:solidFill>
                  <a:srgbClr val="2B2B2B"/>
                </a:solidFill>
                <a:latin typeface="Arial"/>
              </a:rPr>
              <a:t>. Try lowercase </a:t>
            </a:r>
            <a:r>
              <a:rPr sz="2200">
                <a:solidFill>
                  <a:srgbClr val="4070A0"/>
                </a:solidFill>
                <a:latin typeface="Courier New"/>
              </a:rPr>
              <a:t xml:space="preserve">"r"</a:t>
            </a:r>
            <a:r>
              <a:rPr sz="2200">
                <a:solidFill>
                  <a:srgbClr val="2B2B2B"/>
                </a:solidFill>
                <a:latin typeface="Arial"/>
              </a:rPr>
              <a:t> too. Predict each result before running.</a:t>
            </a:r>
          </a:p>
        </p:txBody>
      </p:sp>
      <p:sp>
        <p:nvSpPr>
          <p:cNvPr id="4" name="Code number 0:1"/>
          <p:cNvSpPr txBox="1"/>
          <p:nvPr/>
        </p:nvSpPr>
        <p:spPr>
          <a:xfrm>
            <a:off x="164592" y="231038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5" name="Code line 0:1"/>
          <p:cNvSpPr txBox="1"/>
          <p:nvPr/>
        </p:nvSpPr>
        <p:spPr>
          <a:xfrm>
            <a:off x="594360" y="2310384"/>
            <a:ext cx="10972800" cy="336804"/>
          </a:xfrm>
          <a:prstGeom prst="rect">
            <a:avLst/>
          </a:prstGeom>
          <a:noFill/>
          <a:ln>
            <a:noFill/>
          </a:ln>
        </p:spPr>
        <p:txBody>
          <a:bodyPr wrap="square" lIns="0" rIns="0" tIns="0" bIns="0">
            <a:noAutofit/>
          </a:bodyPr>
          <a:lstStyle/>
          <a:p>
            <a:pPr marL="0" indent="0" algn="l">
              <a:lnSpc>
                <a:spcPct val="120000"/>
              </a:lnSpc>
              <a:buNone/>
            </a:pPr>
            <a:r>
              <a:rPr sz="2000" i="1">
                <a:solidFill>
                  <a:srgbClr val="555554"/>
                </a:solidFill>
                <a:latin typeface="Courier New"/>
              </a:rPr>
              <a:t xml:space="preserve"># YOUR CODE HERE: length and membership tests on the names.</a:t>
            </a:r>
          </a:p>
        </p:txBody>
      </p:sp>
      <p:sp>
        <p:nvSpPr>
          <p:cNvPr id="6" name="Pi515 accent"/>
          <p:cNvSpPr/>
          <p:nvPr/>
        </p:nvSpPr>
        <p:spPr>
          <a:xfrm>
            <a:off x="0" y="0"/>
            <a:ext cx="12192000" cy="54864"/>
          </a:xfrm>
          <a:prstGeom prst="rect">
            <a:avLst/>
          </a:prstGeom>
          <a:solidFill>
            <a:srgbClr val="39DC78"/>
          </a:solidFill>
          <a:ln>
            <a:noFill/>
          </a:ln>
        </p:spPr>
      </p:sp>
      <p:sp>
        <p:nvSpPr>
          <p:cNvPr id="7"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EXERCISE</a:t>
            </a:r>
          </a:p>
        </p:txBody>
      </p:sp>
      <p:sp>
        <p:nvSpPr>
          <p:cNvPr id="8" name="Footer rule"/>
          <p:cNvSpPr/>
          <p:nvPr/>
        </p:nvSpPr>
        <p:spPr>
          <a:xfrm>
            <a:off x="594360" y="6400800"/>
            <a:ext cx="10972800" cy="10973"/>
          </a:xfrm>
          <a:prstGeom prst="rect">
            <a:avLst/>
          </a:prstGeom>
          <a:solidFill>
            <a:srgbClr val="E6E6E6"/>
          </a:solidFill>
          <a:ln>
            <a:noFill/>
          </a:ln>
        </p:spPr>
      </p:sp>
      <p:sp>
        <p:nvSpPr>
          <p:cNvPr id="9"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24</a:t>
            </a:r>
          </a:p>
        </p:txBody>
      </p:sp>
      <p:pic>
        <p:nvPicPr>
          <p:cNvPr id="10"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Exercise 2 — Guess the word</a:t>
            </a:r>
          </a:p>
        </p:txBody>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Your instructor has a hidden word. Choose questions that help the class discover it.</a:t>
            </a:r>
          </a:p>
        </p:txBody>
      </p:sp>
      <p:sp>
        <p:nvSpPr>
          <p:cNvPr id="4" name="Code number 0:1"/>
          <p:cNvSpPr txBox="1"/>
          <p:nvPr/>
        </p:nvSpPr>
        <p:spPr>
          <a:xfrm>
            <a:off x="164592" y="231038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5" name="Code line 0:1"/>
          <p:cNvSpPr txBox="1"/>
          <p:nvPr/>
        </p:nvSpPr>
        <p:spPr>
          <a:xfrm>
            <a:off x="594360" y="2310384"/>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len</a:t>
            </a:r>
            <a:r>
              <a:rPr sz="2000">
                <a:solidFill>
                  <a:srgbClr val="666666"/>
                </a:solidFill>
                <a:latin typeface="Courier New"/>
              </a:rPr>
              <a:t xml:space="preserve">(</a:t>
            </a:r>
            <a:r>
              <a:rPr sz="2000">
                <a:solidFill>
                  <a:srgbClr val="2B2B2B"/>
                </a:solidFill>
                <a:latin typeface="Courier New"/>
              </a:rPr>
              <a:t xml:space="preserve">secretString</a:t>
            </a:r>
            <a:r>
              <a:rPr sz="2000">
                <a:solidFill>
                  <a:srgbClr val="666666"/>
                </a:solidFill>
                <a:latin typeface="Courier New"/>
              </a:rPr>
              <a:t xml:space="preserve">)</a:t>
            </a:r>
          </a:p>
        </p:txBody>
      </p:sp>
      <p:sp>
        <p:nvSpPr>
          <p:cNvPr id="6" name="Code number 0:2"/>
          <p:cNvSpPr txBox="1"/>
          <p:nvPr/>
        </p:nvSpPr>
        <p:spPr>
          <a:xfrm>
            <a:off x="164592" y="264718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7" name="Code line 0:2"/>
          <p:cNvSpPr txBox="1"/>
          <p:nvPr/>
        </p:nvSpPr>
        <p:spPr>
          <a:xfrm>
            <a:off x="594360" y="2647188"/>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4070A0"/>
                </a:solidFill>
                <a:latin typeface="Courier New"/>
              </a:rPr>
              <a:t xml:space="preserve">'a'</a:t>
            </a:r>
            <a:r>
              <a:rPr sz="2000">
                <a:solidFill>
                  <a:srgbClr val="2B2B2B"/>
                </a:solidFill>
                <a:latin typeface="Courier New"/>
              </a:rPr>
              <a:t xml:space="preserve"> </a:t>
            </a:r>
            <a:r>
              <a:rPr sz="2000" b="1">
                <a:solidFill>
                  <a:srgbClr val="008000"/>
                </a:solidFill>
                <a:latin typeface="Courier New"/>
              </a:rPr>
              <a:t xml:space="preserve">in</a:t>
            </a:r>
            <a:r>
              <a:rPr sz="2000">
                <a:solidFill>
                  <a:srgbClr val="2B2B2B"/>
                </a:solidFill>
                <a:latin typeface="Courier New"/>
              </a:rPr>
              <a:t xml:space="preserve"> </a:t>
            </a:r>
            <a:r>
              <a:rPr sz="2000">
                <a:solidFill>
                  <a:srgbClr val="2B2B2B"/>
                </a:solidFill>
                <a:latin typeface="Courier New"/>
              </a:rPr>
              <a:t xml:space="preserve">secretString</a:t>
            </a:r>
          </a:p>
        </p:txBody>
      </p:sp>
      <p:sp>
        <p:nvSpPr>
          <p:cNvPr id="8" name="Code number 0:3"/>
          <p:cNvSpPr txBox="1"/>
          <p:nvPr/>
        </p:nvSpPr>
        <p:spPr>
          <a:xfrm>
            <a:off x="164592" y="298399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9" name="Code line 0:3"/>
          <p:cNvSpPr txBox="1"/>
          <p:nvPr/>
        </p:nvSpPr>
        <p:spPr>
          <a:xfrm>
            <a:off x="594360" y="2983992"/>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secretString</a:t>
            </a:r>
            <a:r>
              <a:rPr sz="2000">
                <a:solidFill>
                  <a:srgbClr val="666666"/>
                </a:solidFill>
                <a:latin typeface="Courier New"/>
              </a:rPr>
              <a:t xml:space="preserve">[</a:t>
            </a:r>
            <a:r>
              <a:rPr sz="2000">
                <a:solidFill>
                  <a:srgbClr val="208050"/>
                </a:solidFill>
                <a:latin typeface="Courier New"/>
              </a:rPr>
              <a:t xml:space="preserve">0</a:t>
            </a:r>
            <a:r>
              <a:rPr sz="2000">
                <a:solidFill>
                  <a:srgbClr val="666666"/>
                </a:solidFill>
                <a:latin typeface="Courier New"/>
              </a:rPr>
              <a:t xml:space="preserve">]</a:t>
            </a:r>
          </a:p>
        </p:txBody>
      </p:sp>
      <p:sp>
        <p:nvSpPr>
          <p:cNvPr id="10" name="Body paragraph 10"/>
          <p:cNvSpPr txBox="1"/>
          <p:nvPr/>
        </p:nvSpPr>
        <p:spPr>
          <a:xfrm>
            <a:off x="594360" y="3430524"/>
            <a:ext cx="10972800" cy="39014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What does each answer tell you? Which question will you ask first?</a:t>
            </a:r>
          </a:p>
        </p:txBody>
      </p:sp>
      <p:sp>
        <p:nvSpPr>
          <p:cNvPr id="11" name="Pi515 accent"/>
          <p:cNvSpPr/>
          <p:nvPr/>
        </p:nvSpPr>
        <p:spPr>
          <a:xfrm>
            <a:off x="0" y="0"/>
            <a:ext cx="12192000" cy="54864"/>
          </a:xfrm>
          <a:prstGeom prst="rect">
            <a:avLst/>
          </a:prstGeom>
          <a:solidFill>
            <a:srgbClr val="39DC78"/>
          </a:solidFill>
          <a:ln>
            <a:noFill/>
          </a:ln>
        </p:spPr>
      </p:sp>
      <p:sp>
        <p:nvSpPr>
          <p:cNvPr id="12"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EXERCISE</a:t>
            </a:r>
          </a:p>
        </p:txBody>
      </p:sp>
      <p:sp>
        <p:nvSpPr>
          <p:cNvPr id="13" name="Footer rule"/>
          <p:cNvSpPr/>
          <p:nvPr/>
        </p:nvSpPr>
        <p:spPr>
          <a:xfrm>
            <a:off x="594360" y="6400800"/>
            <a:ext cx="10972800" cy="10973"/>
          </a:xfrm>
          <a:prstGeom prst="rect">
            <a:avLst/>
          </a:prstGeom>
          <a:solidFill>
            <a:srgbClr val="E6E6E6"/>
          </a:solidFill>
          <a:ln>
            <a:noFill/>
          </a:ln>
        </p:spPr>
      </p:sp>
      <p:sp>
        <p:nvSpPr>
          <p:cNvPr id="14"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25</a:t>
            </a:r>
          </a:p>
        </p:txBody>
      </p:sp>
      <p:pic>
        <p:nvPicPr>
          <p:cNvPr id="15"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substring</a:t>
            </a:r>
          </a:p>
        </p:txBody>
      </p:sp>
      <p:sp>
        <p:nvSpPr>
          <p:cNvPr id="9" name="Printed output panel 0"/>
          <p:cNvSpPr/>
          <p:nvPr/>
        </p:nvSpPr>
        <p:spPr>
          <a:xfrm>
            <a:off x="8183880" y="2034540"/>
            <a:ext cx="3383280" cy="794004"/>
          </a:xfrm>
          <a:prstGeom prst="rect">
            <a:avLst/>
          </a:prstGeom>
          <a:solidFill>
            <a:srgbClr val="EEF6F3"/>
          </a:solidFill>
          <a:ln>
            <a:noFill/>
          </a:ln>
        </p:spPr>
      </p:sp>
      <p:sp>
        <p:nvSpPr>
          <p:cNvPr id="3" name="Body paragraph 3"/>
          <p:cNvSpPr txBox="1"/>
          <p:nvPr/>
        </p:nvSpPr>
        <p:spPr>
          <a:xfrm>
            <a:off x="594360" y="1417320"/>
            <a:ext cx="10972800" cy="46634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A contiguous sequence of characters within a string.</a:t>
            </a:r>
          </a:p>
        </p:txBody>
      </p:sp>
      <p:sp>
        <p:nvSpPr>
          <p:cNvPr id="4" name="Code column header 0"/>
          <p:cNvSpPr txBox="1"/>
          <p:nvPr/>
        </p:nvSpPr>
        <p:spPr>
          <a:xfrm>
            <a:off x="594360" y="208940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08940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36372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36372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"and"</a:t>
            </a:r>
            <a:r>
              <a:rPr sz="2000">
                <a:solidFill>
                  <a:srgbClr val="2B2B2B"/>
                </a:solidFill>
                <a:latin typeface="Courier New"/>
              </a:rPr>
              <a:t xml:space="preserve"> </a:t>
            </a:r>
            <a:r>
              <a:rPr sz="2000" b="1">
                <a:solidFill>
                  <a:srgbClr val="008000"/>
                </a:solidFill>
                <a:latin typeface="Courier New"/>
              </a:rPr>
              <a:t xml:space="preserve">in</a:t>
            </a:r>
            <a:r>
              <a:rPr sz="2000">
                <a:solidFill>
                  <a:srgbClr val="2B2B2B"/>
                </a:solidFill>
                <a:latin typeface="Courier New"/>
              </a:rPr>
              <a:t xml:space="preserve"> </a:t>
            </a:r>
            <a:r>
              <a:rPr sz="2000">
                <a:solidFill>
                  <a:srgbClr val="4070A0"/>
                </a:solidFill>
                <a:latin typeface="Courier New"/>
              </a:rPr>
              <a:t xml:space="preserve">"Sand"</a:t>
            </a:r>
            <a:r>
              <a:rPr sz="2000">
                <a:solidFill>
                  <a:srgbClr val="666666"/>
                </a:solidFill>
                <a:latin typeface="Courier New"/>
              </a:rPr>
              <a:t xml:space="preserve">)</a:t>
            </a:r>
          </a:p>
        </p:txBody>
      </p:sp>
      <p:sp>
        <p:nvSpPr>
          <p:cNvPr id="8" name="Printed output 0:1"/>
          <p:cNvSpPr txBox="1"/>
          <p:nvPr/>
        </p:nvSpPr>
        <p:spPr>
          <a:xfrm>
            <a:off x="8366760" y="238912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26</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substring</a:t>
            </a:r>
          </a:p>
        </p:txBody>
      </p:sp>
      <p:sp>
        <p:nvSpPr>
          <p:cNvPr id="9" name="Printed output panel 0"/>
          <p:cNvSpPr/>
          <p:nvPr/>
        </p:nvSpPr>
        <p:spPr>
          <a:xfrm>
            <a:off x="8183880" y="2034540"/>
            <a:ext cx="3383280" cy="794004"/>
          </a:xfrm>
          <a:prstGeom prst="rect">
            <a:avLst/>
          </a:prstGeom>
          <a:solidFill>
            <a:srgbClr val="EEF6F3"/>
          </a:solidFill>
          <a:ln>
            <a:noFill/>
          </a:ln>
        </p:spPr>
      </p:sp>
      <p:sp>
        <p:nvSpPr>
          <p:cNvPr id="3" name="Body paragraph 3"/>
          <p:cNvSpPr txBox="1"/>
          <p:nvPr/>
        </p:nvSpPr>
        <p:spPr>
          <a:xfrm>
            <a:off x="594360" y="1417320"/>
            <a:ext cx="10972800" cy="46634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A contiguous sequence of characters within a string.</a:t>
            </a:r>
          </a:p>
        </p:txBody>
      </p:sp>
      <p:sp>
        <p:nvSpPr>
          <p:cNvPr id="4" name="Code column header 0"/>
          <p:cNvSpPr txBox="1"/>
          <p:nvPr/>
        </p:nvSpPr>
        <p:spPr>
          <a:xfrm>
            <a:off x="594360" y="208940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08940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36372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36372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"and"</a:t>
            </a:r>
            <a:r>
              <a:rPr sz="2000">
                <a:solidFill>
                  <a:srgbClr val="2B2B2B"/>
                </a:solidFill>
                <a:latin typeface="Courier New"/>
              </a:rPr>
              <a:t xml:space="preserve"> </a:t>
            </a:r>
            <a:r>
              <a:rPr sz="2000" b="1">
                <a:solidFill>
                  <a:srgbClr val="008000"/>
                </a:solidFill>
                <a:latin typeface="Courier New"/>
              </a:rPr>
              <a:t xml:space="preserve">in</a:t>
            </a:r>
            <a:r>
              <a:rPr sz="2000">
                <a:solidFill>
                  <a:srgbClr val="2B2B2B"/>
                </a:solidFill>
                <a:latin typeface="Courier New"/>
              </a:rPr>
              <a:t xml:space="preserve"> </a:t>
            </a:r>
            <a:r>
              <a:rPr sz="2000">
                <a:solidFill>
                  <a:srgbClr val="4070A0"/>
                </a:solidFill>
                <a:latin typeface="Courier New"/>
              </a:rPr>
              <a:t xml:space="preserve">"Sand"</a:t>
            </a:r>
            <a:r>
              <a:rPr sz="2000">
                <a:solidFill>
                  <a:srgbClr val="666666"/>
                </a:solidFill>
                <a:latin typeface="Courier New"/>
              </a:rPr>
              <a:t xml:space="preserve">)</a:t>
            </a:r>
          </a:p>
        </p:txBody>
      </p:sp>
      <p:sp>
        <p:nvSpPr>
          <p:cNvPr id="8" name="Printed output 0:1"/>
          <p:cNvSpPr txBox="1"/>
          <p:nvPr/>
        </p:nvSpPr>
        <p:spPr>
          <a:xfrm>
            <a:off x="8366760" y="238912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True</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27</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concatenation</a:t>
            </a:r>
          </a:p>
        </p:txBody>
      </p:sp>
      <p:sp>
        <p:nvSpPr>
          <p:cNvPr id="9" name="Printed output panel 0"/>
          <p:cNvSpPr/>
          <p:nvPr/>
        </p:nvSpPr>
        <p:spPr>
          <a:xfrm>
            <a:off x="8183880" y="2034540"/>
            <a:ext cx="3383280" cy="794004"/>
          </a:xfrm>
          <a:prstGeom prst="rect">
            <a:avLst/>
          </a:prstGeom>
          <a:solidFill>
            <a:srgbClr val="EEF6F3"/>
          </a:solidFill>
          <a:ln>
            <a:noFill/>
          </a:ln>
        </p:spPr>
      </p:sp>
      <p:sp>
        <p:nvSpPr>
          <p:cNvPr id="3" name="Body paragraph 3"/>
          <p:cNvSpPr txBox="1"/>
          <p:nvPr/>
        </p:nvSpPr>
        <p:spPr>
          <a:xfrm>
            <a:off x="594360" y="1417320"/>
            <a:ext cx="10972800" cy="46634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Combining strings into a new string using </a:t>
            </a:r>
            <a:r>
              <a:rPr sz="2700">
                <a:solidFill>
                  <a:srgbClr val="666666"/>
                </a:solidFill>
                <a:latin typeface="Courier New"/>
              </a:rPr>
              <a:t xml:space="preserve">+</a:t>
            </a:r>
            <a:r>
              <a:rPr sz="2700">
                <a:solidFill>
                  <a:srgbClr val="2B2B2B"/>
                </a:solidFill>
                <a:latin typeface="Arial"/>
              </a:rPr>
              <a:t>.</a:t>
            </a:r>
          </a:p>
        </p:txBody>
      </p:sp>
      <p:sp>
        <p:nvSpPr>
          <p:cNvPr id="4" name="Code column header 0"/>
          <p:cNvSpPr txBox="1"/>
          <p:nvPr/>
        </p:nvSpPr>
        <p:spPr>
          <a:xfrm>
            <a:off x="594360" y="208940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08940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36372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36372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"Some"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"thing"</a:t>
            </a:r>
            <a:r>
              <a:rPr sz="2000">
                <a:solidFill>
                  <a:srgbClr val="666666"/>
                </a:solidFill>
                <a:latin typeface="Courier New"/>
              </a:rPr>
              <a:t xml:space="preserve">)</a:t>
            </a:r>
          </a:p>
        </p:txBody>
      </p:sp>
      <p:sp>
        <p:nvSpPr>
          <p:cNvPr id="8" name="Printed output 0:1"/>
          <p:cNvSpPr txBox="1"/>
          <p:nvPr/>
        </p:nvSpPr>
        <p:spPr>
          <a:xfrm>
            <a:off x="8366760" y="238912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28</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concatenation</a:t>
            </a:r>
          </a:p>
        </p:txBody>
      </p:sp>
      <p:sp>
        <p:nvSpPr>
          <p:cNvPr id="9" name="Printed output panel 0"/>
          <p:cNvSpPr/>
          <p:nvPr/>
        </p:nvSpPr>
        <p:spPr>
          <a:xfrm>
            <a:off x="8183880" y="2034540"/>
            <a:ext cx="3383280" cy="794004"/>
          </a:xfrm>
          <a:prstGeom prst="rect">
            <a:avLst/>
          </a:prstGeom>
          <a:solidFill>
            <a:srgbClr val="EEF6F3"/>
          </a:solidFill>
          <a:ln>
            <a:noFill/>
          </a:ln>
        </p:spPr>
      </p:sp>
      <p:sp>
        <p:nvSpPr>
          <p:cNvPr id="3" name="Body paragraph 3"/>
          <p:cNvSpPr txBox="1"/>
          <p:nvPr/>
        </p:nvSpPr>
        <p:spPr>
          <a:xfrm>
            <a:off x="594360" y="1417320"/>
            <a:ext cx="10972800" cy="46634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Combining strings into a new string using </a:t>
            </a:r>
            <a:r>
              <a:rPr sz="2700">
                <a:solidFill>
                  <a:srgbClr val="666666"/>
                </a:solidFill>
                <a:latin typeface="Courier New"/>
              </a:rPr>
              <a:t xml:space="preserve">+</a:t>
            </a:r>
            <a:r>
              <a:rPr sz="2700">
                <a:solidFill>
                  <a:srgbClr val="2B2B2B"/>
                </a:solidFill>
                <a:latin typeface="Arial"/>
              </a:rPr>
              <a:t>.</a:t>
            </a:r>
          </a:p>
        </p:txBody>
      </p:sp>
      <p:sp>
        <p:nvSpPr>
          <p:cNvPr id="4" name="Code column header 0"/>
          <p:cNvSpPr txBox="1"/>
          <p:nvPr/>
        </p:nvSpPr>
        <p:spPr>
          <a:xfrm>
            <a:off x="594360" y="208940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08940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36372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36372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"Some"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"thing"</a:t>
            </a:r>
            <a:r>
              <a:rPr sz="2000">
                <a:solidFill>
                  <a:srgbClr val="666666"/>
                </a:solidFill>
                <a:latin typeface="Courier New"/>
              </a:rPr>
              <a:t xml:space="preserve">)</a:t>
            </a:r>
          </a:p>
        </p:txBody>
      </p:sp>
      <p:sp>
        <p:nvSpPr>
          <p:cNvPr id="8" name="Printed output 0:1"/>
          <p:cNvSpPr txBox="1"/>
          <p:nvPr/>
        </p:nvSpPr>
        <p:spPr>
          <a:xfrm>
            <a:off x="8366760" y="238912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Something</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29</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Substrings using individual indices</a:t>
            </a:r>
          </a:p>
        </p:txBody>
      </p:sp>
      <p:sp>
        <p:nvSpPr>
          <p:cNvPr id="12" name="Printed output panel 0"/>
          <p:cNvSpPr/>
          <p:nvPr/>
        </p:nvSpPr>
        <p:spPr>
          <a:xfrm>
            <a:off x="8183880" y="2310384"/>
            <a:ext cx="3383280" cy="1130808"/>
          </a:xfrm>
          <a:prstGeom prst="rect">
            <a:avLst/>
          </a:prstGeom>
          <a:solidFill>
            <a:srgbClr val="EEF6F3"/>
          </a:solidFill>
          <a:ln>
            <a:noFill/>
          </a:ln>
        </p:spPr>
      </p:sp>
      <p:sp>
        <p:nvSpPr>
          <p:cNvPr id="3" name="Body paragraph 3"/>
          <p:cNvSpPr txBox="1"/>
          <p:nvPr/>
        </p:nvSpPr>
        <p:spPr>
          <a:xfrm>
            <a:off x="594360" y="1417320"/>
            <a:ext cx="10972800" cy="39014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A </a:t>
            </a:r>
            <a:r>
              <a:rPr sz="2200" b="1">
                <a:solidFill>
                  <a:srgbClr val="2B2B2B"/>
                </a:solidFill>
                <a:latin typeface="Arial"/>
              </a:rPr>
              <a:t>substring</a:t>
            </a:r>
            <a:r>
              <a:rPr sz="2200">
                <a:solidFill>
                  <a:srgbClr val="2B2B2B"/>
                </a:solidFill>
                <a:latin typeface="Arial"/>
              </a:rPr>
              <a:t> is a contiguous part of a string: </a:t>
            </a:r>
            <a:r>
              <a:rPr sz="2200">
                <a:solidFill>
                  <a:srgbClr val="4070A0"/>
                </a:solidFill>
                <a:latin typeface="Courier New"/>
              </a:rPr>
              <a:t xml:space="preserve">"and"</a:t>
            </a:r>
            <a:r>
              <a:rPr sz="2200">
                <a:solidFill>
                  <a:srgbClr val="2B2B2B"/>
                </a:solidFill>
                <a:latin typeface="Arial"/>
              </a:rPr>
              <a:t> is within </a:t>
            </a:r>
            <a:r>
              <a:rPr sz="2200">
                <a:solidFill>
                  <a:srgbClr val="4070A0"/>
                </a:solidFill>
                <a:latin typeface="Courier New"/>
              </a:rPr>
              <a:t xml:space="preserve">"Sand"</a:t>
            </a:r>
            <a:r>
              <a:rPr sz="2200">
                <a:solidFill>
                  <a:srgbClr val="2B2B2B"/>
                </a:solidFill>
                <a:latin typeface="Arial"/>
              </a:rPr>
              <a:t>.</a:t>
            </a:r>
          </a:p>
        </p:txBody>
      </p:sp>
      <p:sp>
        <p:nvSpPr>
          <p:cNvPr id="4" name="Body paragraph 4"/>
          <p:cNvSpPr txBox="1"/>
          <p:nvPr/>
        </p:nvSpPr>
        <p:spPr>
          <a:xfrm>
            <a:off x="594360" y="1807464"/>
            <a:ext cx="10972800" cy="39014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How can we build </a:t>
            </a:r>
            <a:r>
              <a:rPr sz="2200">
                <a:solidFill>
                  <a:srgbClr val="4070A0"/>
                </a:solidFill>
                <a:latin typeface="Courier New"/>
              </a:rPr>
              <a:t xml:space="preserve">"Some"</a:t>
            </a:r>
            <a:r>
              <a:rPr sz="2200">
                <a:solidFill>
                  <a:srgbClr val="2B2B2B"/>
                </a:solidFill>
                <a:latin typeface="Arial"/>
              </a:rPr>
              <a:t> from </a:t>
            </a:r>
            <a:r>
              <a:rPr sz="2200">
                <a:solidFill>
                  <a:srgbClr val="4070A0"/>
                </a:solidFill>
                <a:latin typeface="Courier New"/>
              </a:rPr>
              <a:t xml:space="preserve">"Something"</a:t>
            </a:r>
            <a:r>
              <a:rPr sz="2200">
                <a:solidFill>
                  <a:srgbClr val="2B2B2B"/>
                </a:solidFill>
                <a:latin typeface="Arial"/>
              </a:rPr>
              <a:t> using individual indices?</a:t>
            </a:r>
          </a:p>
        </p:txBody>
      </p:sp>
      <p:sp>
        <p:nvSpPr>
          <p:cNvPr id="5" name="Code column header 0"/>
          <p:cNvSpPr txBox="1"/>
          <p:nvPr/>
        </p:nvSpPr>
        <p:spPr>
          <a:xfrm>
            <a:off x="594360" y="2365248"/>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6" name="Printed output header 0"/>
          <p:cNvSpPr txBox="1"/>
          <p:nvPr/>
        </p:nvSpPr>
        <p:spPr>
          <a:xfrm>
            <a:off x="8366760" y="2365248"/>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7" name="Code number 0:1"/>
          <p:cNvSpPr txBox="1"/>
          <p:nvPr/>
        </p:nvSpPr>
        <p:spPr>
          <a:xfrm>
            <a:off x="164592" y="263956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8" name="Code line 0:1"/>
          <p:cNvSpPr txBox="1"/>
          <p:nvPr/>
        </p:nvSpPr>
        <p:spPr>
          <a:xfrm>
            <a:off x="594360" y="263956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something</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"Something"</a:t>
            </a:r>
          </a:p>
        </p:txBody>
      </p:sp>
      <p:sp>
        <p:nvSpPr>
          <p:cNvPr id="9" name="Code number 0:2"/>
          <p:cNvSpPr txBox="1"/>
          <p:nvPr/>
        </p:nvSpPr>
        <p:spPr>
          <a:xfrm>
            <a:off x="164592" y="297637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10" name="Code line 0:2"/>
          <p:cNvSpPr txBox="1"/>
          <p:nvPr/>
        </p:nvSpPr>
        <p:spPr>
          <a:xfrm>
            <a:off x="594360" y="297637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something</a:t>
            </a:r>
            <a:r>
              <a:rPr sz="2000">
                <a:solidFill>
                  <a:srgbClr val="666666"/>
                </a:solidFill>
                <a:latin typeface="Courier New"/>
              </a:rPr>
              <a:t xml:space="preserve">[</a:t>
            </a:r>
            <a:r>
              <a:rPr sz="2000">
                <a:solidFill>
                  <a:srgbClr val="208050"/>
                </a:solidFill>
                <a:latin typeface="Courier New"/>
              </a:rPr>
              <a:t xml:space="preserve">0</a:t>
            </a:r>
            <a:r>
              <a:rPr sz="2000">
                <a:solidFill>
                  <a:srgbClr val="666666"/>
                </a:solidFill>
                <a:latin typeface="Courier New"/>
              </a:rPr>
              <a:t xml:space="preserve">]</a:t>
            </a:r>
            <a:r>
              <a:rPr sz="2000">
                <a:solidFill>
                  <a:srgbClr val="666666"/>
                </a:solidFill>
                <a:latin typeface="Courier New"/>
              </a:rPr>
              <a:t xml:space="preserve">)</a:t>
            </a:r>
          </a:p>
        </p:txBody>
      </p:sp>
      <p:sp>
        <p:nvSpPr>
          <p:cNvPr id="11" name="Printed output 0:2"/>
          <p:cNvSpPr txBox="1"/>
          <p:nvPr/>
        </p:nvSpPr>
        <p:spPr>
          <a:xfrm>
            <a:off x="8366760" y="300177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3" name="Pi515 accent"/>
          <p:cNvSpPr/>
          <p:nvPr/>
        </p:nvSpPr>
        <p:spPr>
          <a:xfrm>
            <a:off x="0" y="0"/>
            <a:ext cx="12192000" cy="54864"/>
          </a:xfrm>
          <a:prstGeom prst="rect">
            <a:avLst/>
          </a:prstGeom>
          <a:solidFill>
            <a:srgbClr val="39DC78"/>
          </a:solidFill>
          <a:ln>
            <a:noFill/>
          </a:ln>
        </p:spPr>
      </p:sp>
      <p:sp>
        <p:nvSpPr>
          <p:cNvPr id="14"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15" name="Footer rule"/>
          <p:cNvSpPr/>
          <p:nvPr/>
        </p:nvSpPr>
        <p:spPr>
          <a:xfrm>
            <a:off x="594360" y="6400800"/>
            <a:ext cx="10972800" cy="10973"/>
          </a:xfrm>
          <a:prstGeom prst="rect">
            <a:avLst/>
          </a:prstGeom>
          <a:solidFill>
            <a:srgbClr val="E6E6E6"/>
          </a:solidFill>
          <a:ln>
            <a:noFill/>
          </a:ln>
        </p:spPr>
      </p:sp>
      <p:sp>
        <p:nvSpPr>
          <p:cNvPr id="16"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30</a:t>
            </a:r>
          </a:p>
        </p:txBody>
      </p:sp>
      <p:pic>
        <p:nvPicPr>
          <p:cNvPr id="17"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Substrings using individual indices</a:t>
            </a:r>
          </a:p>
        </p:txBody>
      </p:sp>
      <p:sp>
        <p:nvSpPr>
          <p:cNvPr id="12" name="Printed output panel 0"/>
          <p:cNvSpPr/>
          <p:nvPr/>
        </p:nvSpPr>
        <p:spPr>
          <a:xfrm>
            <a:off x="8183880" y="2310384"/>
            <a:ext cx="3383280" cy="1130808"/>
          </a:xfrm>
          <a:prstGeom prst="rect">
            <a:avLst/>
          </a:prstGeom>
          <a:solidFill>
            <a:srgbClr val="EEF6F3"/>
          </a:solidFill>
          <a:ln>
            <a:noFill/>
          </a:ln>
        </p:spPr>
      </p:sp>
      <p:sp>
        <p:nvSpPr>
          <p:cNvPr id="3" name="Body paragraph 3"/>
          <p:cNvSpPr txBox="1"/>
          <p:nvPr/>
        </p:nvSpPr>
        <p:spPr>
          <a:xfrm>
            <a:off x="594360" y="1417320"/>
            <a:ext cx="10972800" cy="39014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A </a:t>
            </a:r>
            <a:r>
              <a:rPr sz="2200" b="1">
                <a:solidFill>
                  <a:srgbClr val="2B2B2B"/>
                </a:solidFill>
                <a:latin typeface="Arial"/>
              </a:rPr>
              <a:t>substring</a:t>
            </a:r>
            <a:r>
              <a:rPr sz="2200">
                <a:solidFill>
                  <a:srgbClr val="2B2B2B"/>
                </a:solidFill>
                <a:latin typeface="Arial"/>
              </a:rPr>
              <a:t> is a contiguous part of a string: </a:t>
            </a:r>
            <a:r>
              <a:rPr sz="2200">
                <a:solidFill>
                  <a:srgbClr val="4070A0"/>
                </a:solidFill>
                <a:latin typeface="Courier New"/>
              </a:rPr>
              <a:t xml:space="preserve">"and"</a:t>
            </a:r>
            <a:r>
              <a:rPr sz="2200">
                <a:solidFill>
                  <a:srgbClr val="2B2B2B"/>
                </a:solidFill>
                <a:latin typeface="Arial"/>
              </a:rPr>
              <a:t> is within </a:t>
            </a:r>
            <a:r>
              <a:rPr sz="2200">
                <a:solidFill>
                  <a:srgbClr val="4070A0"/>
                </a:solidFill>
                <a:latin typeface="Courier New"/>
              </a:rPr>
              <a:t xml:space="preserve">"Sand"</a:t>
            </a:r>
            <a:r>
              <a:rPr sz="2200">
                <a:solidFill>
                  <a:srgbClr val="2B2B2B"/>
                </a:solidFill>
                <a:latin typeface="Arial"/>
              </a:rPr>
              <a:t>.</a:t>
            </a:r>
          </a:p>
        </p:txBody>
      </p:sp>
      <p:sp>
        <p:nvSpPr>
          <p:cNvPr id="4" name="Body paragraph 4"/>
          <p:cNvSpPr txBox="1"/>
          <p:nvPr/>
        </p:nvSpPr>
        <p:spPr>
          <a:xfrm>
            <a:off x="594360" y="1807464"/>
            <a:ext cx="10972800" cy="39014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How can we build </a:t>
            </a:r>
            <a:r>
              <a:rPr sz="2200">
                <a:solidFill>
                  <a:srgbClr val="4070A0"/>
                </a:solidFill>
                <a:latin typeface="Courier New"/>
              </a:rPr>
              <a:t xml:space="preserve">"Some"</a:t>
            </a:r>
            <a:r>
              <a:rPr sz="2200">
                <a:solidFill>
                  <a:srgbClr val="2B2B2B"/>
                </a:solidFill>
                <a:latin typeface="Arial"/>
              </a:rPr>
              <a:t> from </a:t>
            </a:r>
            <a:r>
              <a:rPr sz="2200">
                <a:solidFill>
                  <a:srgbClr val="4070A0"/>
                </a:solidFill>
                <a:latin typeface="Courier New"/>
              </a:rPr>
              <a:t xml:space="preserve">"Something"</a:t>
            </a:r>
            <a:r>
              <a:rPr sz="2200">
                <a:solidFill>
                  <a:srgbClr val="2B2B2B"/>
                </a:solidFill>
                <a:latin typeface="Arial"/>
              </a:rPr>
              <a:t> using individual indices?</a:t>
            </a:r>
          </a:p>
        </p:txBody>
      </p:sp>
      <p:sp>
        <p:nvSpPr>
          <p:cNvPr id="5" name="Code column header 0"/>
          <p:cNvSpPr txBox="1"/>
          <p:nvPr/>
        </p:nvSpPr>
        <p:spPr>
          <a:xfrm>
            <a:off x="594360" y="2365248"/>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6" name="Printed output header 0"/>
          <p:cNvSpPr txBox="1"/>
          <p:nvPr/>
        </p:nvSpPr>
        <p:spPr>
          <a:xfrm>
            <a:off x="8366760" y="2365248"/>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7" name="Code number 0:1"/>
          <p:cNvSpPr txBox="1"/>
          <p:nvPr/>
        </p:nvSpPr>
        <p:spPr>
          <a:xfrm>
            <a:off x="164592" y="263956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8" name="Code line 0:1"/>
          <p:cNvSpPr txBox="1"/>
          <p:nvPr/>
        </p:nvSpPr>
        <p:spPr>
          <a:xfrm>
            <a:off x="594360" y="263956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something</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"Something"</a:t>
            </a:r>
          </a:p>
        </p:txBody>
      </p:sp>
      <p:sp>
        <p:nvSpPr>
          <p:cNvPr id="9" name="Code number 0:2"/>
          <p:cNvSpPr txBox="1"/>
          <p:nvPr/>
        </p:nvSpPr>
        <p:spPr>
          <a:xfrm>
            <a:off x="164592" y="297637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10" name="Code line 0:2"/>
          <p:cNvSpPr txBox="1"/>
          <p:nvPr/>
        </p:nvSpPr>
        <p:spPr>
          <a:xfrm>
            <a:off x="594360" y="297637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something</a:t>
            </a:r>
            <a:r>
              <a:rPr sz="2000">
                <a:solidFill>
                  <a:srgbClr val="666666"/>
                </a:solidFill>
                <a:latin typeface="Courier New"/>
              </a:rPr>
              <a:t xml:space="preserve">[</a:t>
            </a:r>
            <a:r>
              <a:rPr sz="2000">
                <a:solidFill>
                  <a:srgbClr val="208050"/>
                </a:solidFill>
                <a:latin typeface="Courier New"/>
              </a:rPr>
              <a:t xml:space="preserve">0</a:t>
            </a:r>
            <a:r>
              <a:rPr sz="2000">
                <a:solidFill>
                  <a:srgbClr val="666666"/>
                </a:solidFill>
                <a:latin typeface="Courier New"/>
              </a:rPr>
              <a:t xml:space="preserve">]</a:t>
            </a:r>
            <a:r>
              <a:rPr sz="2000">
                <a:solidFill>
                  <a:srgbClr val="666666"/>
                </a:solidFill>
                <a:latin typeface="Courier New"/>
              </a:rPr>
              <a:t xml:space="preserve">)</a:t>
            </a:r>
          </a:p>
        </p:txBody>
      </p:sp>
      <p:sp>
        <p:nvSpPr>
          <p:cNvPr id="11" name="Printed output 0:2"/>
          <p:cNvSpPr txBox="1"/>
          <p:nvPr/>
        </p:nvSpPr>
        <p:spPr>
          <a:xfrm>
            <a:off x="8366760" y="300177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S</a:t>
            </a:r>
          </a:p>
        </p:txBody>
      </p:sp>
      <p:sp>
        <p:nvSpPr>
          <p:cNvPr id="13" name="Pi515 accent"/>
          <p:cNvSpPr/>
          <p:nvPr/>
        </p:nvSpPr>
        <p:spPr>
          <a:xfrm>
            <a:off x="0" y="0"/>
            <a:ext cx="12192000" cy="54864"/>
          </a:xfrm>
          <a:prstGeom prst="rect">
            <a:avLst/>
          </a:prstGeom>
          <a:solidFill>
            <a:srgbClr val="39DC78"/>
          </a:solidFill>
          <a:ln>
            <a:noFill/>
          </a:ln>
        </p:spPr>
      </p:sp>
      <p:sp>
        <p:nvSpPr>
          <p:cNvPr id="14"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15" name="Footer rule"/>
          <p:cNvSpPr/>
          <p:nvPr/>
        </p:nvSpPr>
        <p:spPr>
          <a:xfrm>
            <a:off x="594360" y="6400800"/>
            <a:ext cx="10972800" cy="10973"/>
          </a:xfrm>
          <a:prstGeom prst="rect">
            <a:avLst/>
          </a:prstGeom>
          <a:solidFill>
            <a:srgbClr val="E6E6E6"/>
          </a:solidFill>
          <a:ln>
            <a:noFill/>
          </a:ln>
        </p:spPr>
      </p:sp>
      <p:sp>
        <p:nvSpPr>
          <p:cNvPr id="16"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31</a:t>
            </a:r>
          </a:p>
        </p:txBody>
      </p:sp>
      <p:pic>
        <p:nvPicPr>
          <p:cNvPr id="17"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Exercise 3 — Substrings using individual indices</a:t>
            </a:r>
          </a:p>
        </p:txBody>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Use individual indices and </a:t>
            </a:r>
            <a:r>
              <a:rPr sz="2200">
                <a:solidFill>
                  <a:srgbClr val="666666"/>
                </a:solidFill>
                <a:latin typeface="Courier New"/>
              </a:rPr>
              <a:t xml:space="preserve">+</a:t>
            </a:r>
            <a:r>
              <a:rPr sz="2200">
                <a:solidFill>
                  <a:srgbClr val="2B2B2B"/>
                </a:solidFill>
                <a:latin typeface="Arial"/>
              </a:rPr>
              <a:t> to </a:t>
            </a:r>
            <a:r>
              <a:rPr sz="2200">
                <a:solidFill>
                  <a:srgbClr val="008000"/>
                </a:solidFill>
                <a:latin typeface="Courier New"/>
              </a:rPr>
              <a:t xml:space="preserve">print</a:t>
            </a:r>
            <a:r>
              <a:rPr sz="2200">
                <a:solidFill>
                  <a:srgbClr val="2B2B2B"/>
                </a:solidFill>
                <a:latin typeface="Arial"/>
              </a:rPr>
              <a:t> </a:t>
            </a:r>
            <a:r>
              <a:rPr sz="2200">
                <a:solidFill>
                  <a:srgbClr val="4070A0"/>
                </a:solidFill>
                <a:latin typeface="Courier New"/>
              </a:rPr>
              <a:t xml:space="preserve">"Some"</a:t>
            </a:r>
            <a:r>
              <a:rPr sz="2200">
                <a:solidFill>
                  <a:srgbClr val="2B2B2B"/>
                </a:solidFill>
                <a:latin typeface="Arial"/>
              </a:rPr>
              <a:t>. Do this once before trying the shorter slice form on the next slide.</a:t>
            </a:r>
          </a:p>
        </p:txBody>
      </p:sp>
      <p:sp>
        <p:nvSpPr>
          <p:cNvPr id="4" name="Code number 0:1"/>
          <p:cNvSpPr txBox="1"/>
          <p:nvPr/>
        </p:nvSpPr>
        <p:spPr>
          <a:xfrm>
            <a:off x="164592" y="231038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5" name="Code line 0:1"/>
          <p:cNvSpPr txBox="1"/>
          <p:nvPr/>
        </p:nvSpPr>
        <p:spPr>
          <a:xfrm>
            <a:off x="594360" y="2310384"/>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something</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"Something"</a:t>
            </a:r>
          </a:p>
        </p:txBody>
      </p:sp>
      <p:sp>
        <p:nvSpPr>
          <p:cNvPr id="6" name="Code number 0:2"/>
          <p:cNvSpPr txBox="1"/>
          <p:nvPr/>
        </p:nvSpPr>
        <p:spPr>
          <a:xfrm>
            <a:off x="164592" y="264718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7" name="Code line 0:2"/>
          <p:cNvSpPr txBox="1"/>
          <p:nvPr/>
        </p:nvSpPr>
        <p:spPr>
          <a:xfrm>
            <a:off x="594360" y="2647188"/>
            <a:ext cx="10972800" cy="336804"/>
          </a:xfrm>
          <a:prstGeom prst="rect">
            <a:avLst/>
          </a:prstGeom>
          <a:noFill/>
          <a:ln>
            <a:noFill/>
          </a:ln>
        </p:spPr>
        <p:txBody>
          <a:bodyPr wrap="square" lIns="0" rIns="0" tIns="0" bIns="0">
            <a:noAutofit/>
          </a:bodyPr>
          <a:lstStyle/>
          <a:p>
            <a:pPr marL="0" indent="0" algn="l">
              <a:lnSpc>
                <a:spcPct val="120000"/>
              </a:lnSpc>
              <a:buNone/>
            </a:pPr>
            <a:r>
              <a:rPr sz="2000" i="1">
                <a:solidFill>
                  <a:srgbClr val="555554"/>
                </a:solidFill>
                <a:latin typeface="Courier New"/>
              </a:rPr>
              <a:t xml:space="preserve"># YOUR CODE HERE: combine the first four characters.</a:t>
            </a:r>
          </a:p>
        </p:txBody>
      </p:sp>
      <p:sp>
        <p:nvSpPr>
          <p:cNvPr id="8" name="Pi515 accent"/>
          <p:cNvSpPr/>
          <p:nvPr/>
        </p:nvSpPr>
        <p:spPr>
          <a:xfrm>
            <a:off x="0" y="0"/>
            <a:ext cx="12192000" cy="54864"/>
          </a:xfrm>
          <a:prstGeom prst="rect">
            <a:avLst/>
          </a:prstGeom>
          <a:solidFill>
            <a:srgbClr val="39DC78"/>
          </a:solidFill>
          <a:ln>
            <a:noFill/>
          </a:ln>
        </p:spPr>
      </p:sp>
      <p:sp>
        <p:nvSpPr>
          <p:cNvPr id="9"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EXERCISE</a:t>
            </a:r>
          </a:p>
        </p:txBody>
      </p:sp>
      <p:sp>
        <p:nvSpPr>
          <p:cNvPr id="10" name="Footer rule"/>
          <p:cNvSpPr/>
          <p:nvPr/>
        </p:nvSpPr>
        <p:spPr>
          <a:xfrm>
            <a:off x="594360" y="6400800"/>
            <a:ext cx="10972800" cy="10973"/>
          </a:xfrm>
          <a:prstGeom prst="rect">
            <a:avLst/>
          </a:prstGeom>
          <a:solidFill>
            <a:srgbClr val="E6E6E6"/>
          </a:solidFill>
          <a:ln>
            <a:noFill/>
          </a:ln>
        </p:spPr>
      </p:sp>
      <p:sp>
        <p:nvSpPr>
          <p:cNvPr id="11"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32</a:t>
            </a:r>
          </a:p>
        </p:txBody>
      </p:sp>
      <p:pic>
        <p:nvPicPr>
          <p:cNvPr id="12"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slice</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A selection using </a:t>
            </a:r>
            <a:r>
              <a:rPr sz="2700">
                <a:solidFill>
                  <a:srgbClr val="666666"/>
                </a:solidFill>
                <a:latin typeface="Courier New"/>
              </a:rPr>
              <a:t xml:space="preserve">[</a:t>
            </a:r>
            <a:r>
              <a:rPr sz="2700">
                <a:solidFill>
                  <a:srgbClr val="2B2B2B"/>
                </a:solidFill>
                <a:latin typeface="Courier New"/>
              </a:rPr>
              <a:t xml:space="preserve">start</a:t>
            </a:r>
            <a:r>
              <a:rPr sz="2700">
                <a:solidFill>
                  <a:srgbClr val="666666"/>
                </a:solidFill>
                <a:latin typeface="Courier New"/>
              </a:rPr>
              <a:t xml:space="preserve">:</a:t>
            </a:r>
            <a:r>
              <a:rPr sz="2700">
                <a:solidFill>
                  <a:srgbClr val="2B2B2B"/>
                </a:solidFill>
                <a:latin typeface="Courier New"/>
              </a:rPr>
              <a:t xml:space="preserve">stop</a:t>
            </a:r>
            <a:r>
              <a:rPr sz="2700">
                <a:solidFill>
                  <a:srgbClr val="666666"/>
                </a:solidFill>
                <a:latin typeface="Courier New"/>
              </a:rPr>
              <a:t xml:space="preserve">]</a:t>
            </a:r>
            <a:r>
              <a:rPr sz="2700">
                <a:solidFill>
                  <a:srgbClr val="2B2B2B"/>
                </a:solidFill>
                <a:latin typeface="Arial"/>
              </a:rPr>
              <a:t>. Start is included and stop is excluded.</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"Something"</a:t>
            </a:r>
            <a:r>
              <a:rPr sz="2000">
                <a:solidFill>
                  <a:srgbClr val="666666"/>
                </a:solidFill>
                <a:latin typeface="Courier New"/>
              </a:rPr>
              <a:t xml:space="preserve">[</a:t>
            </a:r>
            <a:r>
              <a:rPr sz="2000">
                <a:solidFill>
                  <a:srgbClr val="208050"/>
                </a:solidFill>
                <a:latin typeface="Courier New"/>
              </a:rPr>
              <a:t xml:space="preserve">0</a:t>
            </a:r>
            <a:r>
              <a:rPr sz="2000">
                <a:solidFill>
                  <a:srgbClr val="666666"/>
                </a:solidFill>
                <a:latin typeface="Courier New"/>
              </a:rPr>
              <a:t xml:space="preserve">:</a:t>
            </a:r>
            <a:r>
              <a:rPr sz="2000">
                <a:solidFill>
                  <a:srgbClr val="208050"/>
                </a:solidFill>
                <a:latin typeface="Courier New"/>
              </a:rPr>
              <a:t xml:space="preserve">4</a:t>
            </a:r>
            <a:r>
              <a:rPr sz="2000">
                <a:solidFill>
                  <a:srgbClr val="666666"/>
                </a:solidFill>
                <a:latin typeface="Courier New"/>
              </a:rPr>
              <a:t xml:space="preserve">]</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33</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slice</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A selection using </a:t>
            </a:r>
            <a:r>
              <a:rPr sz="2700">
                <a:solidFill>
                  <a:srgbClr val="666666"/>
                </a:solidFill>
                <a:latin typeface="Courier New"/>
              </a:rPr>
              <a:t xml:space="preserve">[</a:t>
            </a:r>
            <a:r>
              <a:rPr sz="2700">
                <a:solidFill>
                  <a:srgbClr val="2B2B2B"/>
                </a:solidFill>
                <a:latin typeface="Courier New"/>
              </a:rPr>
              <a:t xml:space="preserve">start</a:t>
            </a:r>
            <a:r>
              <a:rPr sz="2700">
                <a:solidFill>
                  <a:srgbClr val="666666"/>
                </a:solidFill>
                <a:latin typeface="Courier New"/>
              </a:rPr>
              <a:t xml:space="preserve">:</a:t>
            </a:r>
            <a:r>
              <a:rPr sz="2700">
                <a:solidFill>
                  <a:srgbClr val="2B2B2B"/>
                </a:solidFill>
                <a:latin typeface="Courier New"/>
              </a:rPr>
              <a:t xml:space="preserve">stop</a:t>
            </a:r>
            <a:r>
              <a:rPr sz="2700">
                <a:solidFill>
                  <a:srgbClr val="666666"/>
                </a:solidFill>
                <a:latin typeface="Courier New"/>
              </a:rPr>
              <a:t xml:space="preserve">]</a:t>
            </a:r>
            <a:r>
              <a:rPr sz="2700">
                <a:solidFill>
                  <a:srgbClr val="2B2B2B"/>
                </a:solidFill>
                <a:latin typeface="Arial"/>
              </a:rPr>
              <a:t>. Start is included and stop is excluded.</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"Something"</a:t>
            </a:r>
            <a:r>
              <a:rPr sz="2000">
                <a:solidFill>
                  <a:srgbClr val="666666"/>
                </a:solidFill>
                <a:latin typeface="Courier New"/>
              </a:rPr>
              <a:t xml:space="preserve">[</a:t>
            </a:r>
            <a:r>
              <a:rPr sz="2000">
                <a:solidFill>
                  <a:srgbClr val="208050"/>
                </a:solidFill>
                <a:latin typeface="Courier New"/>
              </a:rPr>
              <a:t xml:space="preserve">0</a:t>
            </a:r>
            <a:r>
              <a:rPr sz="2000">
                <a:solidFill>
                  <a:srgbClr val="666666"/>
                </a:solidFill>
                <a:latin typeface="Courier New"/>
              </a:rPr>
              <a:t xml:space="preserve">:</a:t>
            </a:r>
            <a:r>
              <a:rPr sz="2000">
                <a:solidFill>
                  <a:srgbClr val="208050"/>
                </a:solidFill>
                <a:latin typeface="Courier New"/>
              </a:rPr>
              <a:t xml:space="preserve">4</a:t>
            </a:r>
            <a:r>
              <a:rPr sz="2000">
                <a:solidFill>
                  <a:srgbClr val="666666"/>
                </a:solidFill>
                <a:latin typeface="Courier New"/>
              </a:rPr>
              <a:t xml:space="preserve">]</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Some</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34</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expression</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Code that evaluates to a value, such as </a:t>
            </a:r>
            <a:r>
              <a:rPr sz="2700">
                <a:solidFill>
                  <a:srgbClr val="008000"/>
                </a:solidFill>
                <a:latin typeface="Courier New"/>
              </a:rPr>
              <a:t xml:space="preserve">len</a:t>
            </a:r>
            <a:r>
              <a:rPr sz="2700">
                <a:solidFill>
                  <a:srgbClr val="666666"/>
                </a:solidFill>
                <a:latin typeface="Courier New"/>
              </a:rPr>
              <a:t xml:space="preserve">(</a:t>
            </a:r>
            <a:r>
              <a:rPr sz="2700">
                <a:solidFill>
                  <a:srgbClr val="2B2B2B"/>
                </a:solidFill>
                <a:latin typeface="Courier New"/>
              </a:rPr>
              <a:t xml:space="preserve">firstName</a:t>
            </a:r>
            <a:r>
              <a:rPr sz="2700">
                <a:solidFill>
                  <a:srgbClr val="666666"/>
                </a:solidFill>
                <a:latin typeface="Courier New"/>
              </a:rPr>
              <a:t xml:space="preserve">)</a:t>
            </a:r>
            <a:r>
              <a:rPr sz="2700">
                <a:solidFill>
                  <a:srgbClr val="2B2B2B"/>
                </a:solidFill>
                <a:latin typeface="Arial"/>
              </a:rPr>
              <a:t> or </a:t>
            </a:r>
            <a:r>
              <a:rPr sz="2700">
                <a:solidFill>
                  <a:srgbClr val="2B2B2B"/>
                </a:solidFill>
                <a:latin typeface="Courier New"/>
              </a:rPr>
              <a:t xml:space="preserve">something</a:t>
            </a:r>
            <a:r>
              <a:rPr sz="2700">
                <a:solidFill>
                  <a:srgbClr val="666666"/>
                </a:solidFill>
                <a:latin typeface="Courier New"/>
              </a:rPr>
              <a:t xml:space="preserve">[</a:t>
            </a:r>
            <a:r>
              <a:rPr sz="2700">
                <a:solidFill>
                  <a:srgbClr val="208050"/>
                </a:solidFill>
                <a:latin typeface="Courier New"/>
              </a:rPr>
              <a:t xml:space="preserve">0</a:t>
            </a:r>
            <a:r>
              <a:rPr sz="2700">
                <a:solidFill>
                  <a:srgbClr val="666666"/>
                </a:solidFill>
                <a:latin typeface="Courier New"/>
              </a:rPr>
              <a:t xml:space="preserve">:</a:t>
            </a:r>
            <a:r>
              <a:rPr sz="2700">
                <a:solidFill>
                  <a:srgbClr val="208050"/>
                </a:solidFill>
                <a:latin typeface="Courier New"/>
              </a:rPr>
              <a:t xml:space="preserve">4</a:t>
            </a:r>
            <a:r>
              <a:rPr sz="2700">
                <a:solidFill>
                  <a:srgbClr val="666666"/>
                </a:solidFill>
                <a:latin typeface="Courier New"/>
              </a:rPr>
              <a:t xml:space="preserve">]</a:t>
            </a:r>
            <a:r>
              <a:rPr sz="2700">
                <a:solidFill>
                  <a:srgbClr val="2B2B2B"/>
                </a:solidFill>
                <a:latin typeface="Arial"/>
              </a:rPr>
              <a:t>.</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008000"/>
                </a:solidFill>
                <a:latin typeface="Courier New"/>
              </a:rPr>
              <a:t xml:space="preserve">len</a:t>
            </a:r>
            <a:r>
              <a:rPr sz="2000">
                <a:solidFill>
                  <a:srgbClr val="666666"/>
                </a:solidFill>
                <a:latin typeface="Courier New"/>
              </a:rPr>
              <a:t xml:space="preserve">(</a:t>
            </a:r>
            <a:r>
              <a:rPr sz="2000">
                <a:solidFill>
                  <a:srgbClr val="4070A0"/>
                </a:solidFill>
                <a:latin typeface="Courier New"/>
              </a:rPr>
              <a:t xml:space="preserve">"Something"</a:t>
            </a:r>
            <a:r>
              <a:rPr sz="2000">
                <a:solidFill>
                  <a:srgbClr val="666666"/>
                </a:solidFill>
                <a:latin typeface="Courier New"/>
              </a:rPr>
              <a:t xml:space="preserv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08050"/>
                </a:solidFill>
                <a:latin typeface="Courier New"/>
              </a:rPr>
              <a:t xml:space="preserve">1</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35</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expression</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Code that evaluates to a value, such as </a:t>
            </a:r>
            <a:r>
              <a:rPr sz="2700">
                <a:solidFill>
                  <a:srgbClr val="008000"/>
                </a:solidFill>
                <a:latin typeface="Courier New"/>
              </a:rPr>
              <a:t xml:space="preserve">len</a:t>
            </a:r>
            <a:r>
              <a:rPr sz="2700">
                <a:solidFill>
                  <a:srgbClr val="666666"/>
                </a:solidFill>
                <a:latin typeface="Courier New"/>
              </a:rPr>
              <a:t xml:space="preserve">(</a:t>
            </a:r>
            <a:r>
              <a:rPr sz="2700">
                <a:solidFill>
                  <a:srgbClr val="2B2B2B"/>
                </a:solidFill>
                <a:latin typeface="Courier New"/>
              </a:rPr>
              <a:t xml:space="preserve">firstName</a:t>
            </a:r>
            <a:r>
              <a:rPr sz="2700">
                <a:solidFill>
                  <a:srgbClr val="666666"/>
                </a:solidFill>
                <a:latin typeface="Courier New"/>
              </a:rPr>
              <a:t xml:space="preserve">)</a:t>
            </a:r>
            <a:r>
              <a:rPr sz="2700">
                <a:solidFill>
                  <a:srgbClr val="2B2B2B"/>
                </a:solidFill>
                <a:latin typeface="Arial"/>
              </a:rPr>
              <a:t> or </a:t>
            </a:r>
            <a:r>
              <a:rPr sz="2700">
                <a:solidFill>
                  <a:srgbClr val="2B2B2B"/>
                </a:solidFill>
                <a:latin typeface="Courier New"/>
              </a:rPr>
              <a:t xml:space="preserve">something</a:t>
            </a:r>
            <a:r>
              <a:rPr sz="2700">
                <a:solidFill>
                  <a:srgbClr val="666666"/>
                </a:solidFill>
                <a:latin typeface="Courier New"/>
              </a:rPr>
              <a:t xml:space="preserve">[</a:t>
            </a:r>
            <a:r>
              <a:rPr sz="2700">
                <a:solidFill>
                  <a:srgbClr val="208050"/>
                </a:solidFill>
                <a:latin typeface="Courier New"/>
              </a:rPr>
              <a:t xml:space="preserve">0</a:t>
            </a:r>
            <a:r>
              <a:rPr sz="2700">
                <a:solidFill>
                  <a:srgbClr val="666666"/>
                </a:solidFill>
                <a:latin typeface="Courier New"/>
              </a:rPr>
              <a:t xml:space="preserve">:</a:t>
            </a:r>
            <a:r>
              <a:rPr sz="2700">
                <a:solidFill>
                  <a:srgbClr val="208050"/>
                </a:solidFill>
                <a:latin typeface="Courier New"/>
              </a:rPr>
              <a:t xml:space="preserve">4</a:t>
            </a:r>
            <a:r>
              <a:rPr sz="2700">
                <a:solidFill>
                  <a:srgbClr val="666666"/>
                </a:solidFill>
                <a:latin typeface="Courier New"/>
              </a:rPr>
              <a:t xml:space="preserve">]</a:t>
            </a:r>
            <a:r>
              <a:rPr sz="2700">
                <a:solidFill>
                  <a:srgbClr val="2B2B2B"/>
                </a:solidFill>
                <a:latin typeface="Arial"/>
              </a:rPr>
              <a:t>.</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008000"/>
                </a:solidFill>
                <a:latin typeface="Courier New"/>
              </a:rPr>
              <a:t xml:space="preserve">len</a:t>
            </a:r>
            <a:r>
              <a:rPr sz="2000">
                <a:solidFill>
                  <a:srgbClr val="666666"/>
                </a:solidFill>
                <a:latin typeface="Courier New"/>
              </a:rPr>
              <a:t xml:space="preserve">(</a:t>
            </a:r>
            <a:r>
              <a:rPr sz="2000">
                <a:solidFill>
                  <a:srgbClr val="4070A0"/>
                </a:solidFill>
                <a:latin typeface="Courier New"/>
              </a:rPr>
              <a:t xml:space="preserve">"Something"</a:t>
            </a:r>
            <a:r>
              <a:rPr sz="2000">
                <a:solidFill>
                  <a:srgbClr val="666666"/>
                </a:solidFill>
                <a:latin typeface="Courier New"/>
              </a:rPr>
              <a:t xml:space="preserv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08050"/>
                </a:solidFill>
                <a:latin typeface="Courier New"/>
              </a:rPr>
              <a:t xml:space="preserve">1</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8</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36</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Slicing selects a substring</a:t>
            </a:r>
          </a:p>
        </p:txBody>
      </p:sp>
      <p:sp>
        <p:nvSpPr>
          <p:cNvPr id="16" name="Printed output panel 0"/>
          <p:cNvSpPr/>
          <p:nvPr/>
        </p:nvSpPr>
        <p:spPr>
          <a:xfrm>
            <a:off x="8183880" y="1920240"/>
            <a:ext cx="3383280" cy="1804416"/>
          </a:xfrm>
          <a:prstGeom prst="rect">
            <a:avLst/>
          </a:prstGeom>
          <a:solidFill>
            <a:srgbClr val="EEF6F3"/>
          </a:solidFill>
          <a:ln>
            <a:noFill/>
          </a:ln>
        </p:spPr>
      </p:sp>
      <p:sp>
        <p:nvSpPr>
          <p:cNvPr id="3" name="Body paragraph 3"/>
          <p:cNvSpPr txBox="1"/>
          <p:nvPr/>
        </p:nvSpPr>
        <p:spPr>
          <a:xfrm>
            <a:off x="594360" y="1417320"/>
            <a:ext cx="10972800" cy="39014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A </a:t>
            </a:r>
            <a:r>
              <a:rPr sz="2200" b="1">
                <a:solidFill>
                  <a:srgbClr val="2B2B2B"/>
                </a:solidFill>
                <a:latin typeface="Arial"/>
              </a:rPr>
              <a:t>slice</a:t>
            </a:r>
            <a:r>
              <a:rPr sz="2200">
                <a:solidFill>
                  <a:srgbClr val="2B2B2B"/>
                </a:solidFill>
                <a:latin typeface="Arial"/>
              </a:rPr>
              <a:t> uses </a:t>
            </a:r>
            <a:r>
              <a:rPr sz="2200">
                <a:solidFill>
                  <a:srgbClr val="2B2B2B"/>
                </a:solidFill>
                <a:latin typeface="Courier New"/>
              </a:rPr>
              <a:t xml:space="preserve">string</a:t>
            </a:r>
            <a:r>
              <a:rPr sz="2200">
                <a:solidFill>
                  <a:srgbClr val="666666"/>
                </a:solidFill>
                <a:latin typeface="Courier New"/>
              </a:rPr>
              <a:t xml:space="preserve">[</a:t>
            </a:r>
            <a:r>
              <a:rPr sz="2200">
                <a:solidFill>
                  <a:srgbClr val="2B2B2B"/>
                </a:solidFill>
                <a:latin typeface="Courier New"/>
              </a:rPr>
              <a:t xml:space="preserve">start</a:t>
            </a:r>
            <a:r>
              <a:rPr sz="2200">
                <a:solidFill>
                  <a:srgbClr val="666666"/>
                </a:solidFill>
                <a:latin typeface="Courier New"/>
              </a:rPr>
              <a:t xml:space="preserve">:</a:t>
            </a:r>
            <a:r>
              <a:rPr sz="2200">
                <a:solidFill>
                  <a:srgbClr val="2B2B2B"/>
                </a:solidFill>
                <a:latin typeface="Courier New"/>
              </a:rPr>
              <a:t xml:space="preserve">stop</a:t>
            </a:r>
            <a:r>
              <a:rPr sz="2200">
                <a:solidFill>
                  <a:srgbClr val="666666"/>
                </a:solidFill>
                <a:latin typeface="Courier New"/>
              </a:rPr>
              <a:t xml:space="preserve">]</a:t>
            </a:r>
            <a:r>
              <a:rPr sz="2200">
                <a:solidFill>
                  <a:srgbClr val="2B2B2B"/>
                </a:solidFill>
                <a:latin typeface="Arial"/>
              </a:rPr>
              <a:t>. Include the start. Exclude the stop.</a:t>
            </a:r>
          </a:p>
        </p:txBody>
      </p:sp>
      <p:sp>
        <p:nvSpPr>
          <p:cNvPr id="4" name="Code column header 0"/>
          <p:cNvSpPr txBox="1"/>
          <p:nvPr/>
        </p:nvSpPr>
        <p:spPr>
          <a:xfrm>
            <a:off x="594360" y="197510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197510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24942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24942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something</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"Something"</a:t>
            </a:r>
          </a:p>
        </p:txBody>
      </p:sp>
      <p:sp>
        <p:nvSpPr>
          <p:cNvPr id="8" name="Code number 0:2"/>
          <p:cNvSpPr txBox="1"/>
          <p:nvPr/>
        </p:nvSpPr>
        <p:spPr>
          <a:xfrm>
            <a:off x="164592" y="258622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586228"/>
            <a:ext cx="7315200" cy="336804"/>
          </a:xfrm>
          <a:prstGeom prst="rect">
            <a:avLst/>
          </a:prstGeom>
          <a:noFill/>
          <a:ln>
            <a:noFill/>
          </a:ln>
        </p:spPr>
        <p:txBody>
          <a:bodyPr wrap="square" lIns="0" rIns="0" tIns="0" bIns="0">
            <a:noAutofit/>
          </a:bodyPr>
          <a:lstStyle/>
          <a:p>
            <a:pPr marL="0" indent="0" algn="l">
              <a:lnSpc>
                <a:spcPct val="120000"/>
              </a:lnSpc>
              <a:buNone/>
            </a:pPr>
            <a:r>
              <a:rPr sz="2000" i="1">
                <a:solidFill>
                  <a:srgbClr val="555554"/>
                </a:solidFill>
                <a:latin typeface="Courier New"/>
              </a:rPr>
              <a:t xml:space="preserve">#            012345678</a:t>
            </a:r>
          </a:p>
        </p:txBody>
      </p:sp>
      <p:sp>
        <p:nvSpPr>
          <p:cNvPr id="10" name="Code number 0:3"/>
          <p:cNvSpPr txBox="1"/>
          <p:nvPr/>
        </p:nvSpPr>
        <p:spPr>
          <a:xfrm>
            <a:off x="164592" y="292303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1" name="Code line 0:3"/>
          <p:cNvSpPr txBox="1"/>
          <p:nvPr/>
        </p:nvSpPr>
        <p:spPr>
          <a:xfrm>
            <a:off x="594360" y="292303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something</a:t>
            </a:r>
            <a:r>
              <a:rPr sz="2000">
                <a:solidFill>
                  <a:srgbClr val="666666"/>
                </a:solidFill>
                <a:latin typeface="Courier New"/>
              </a:rPr>
              <a:t xml:space="preserve">[</a:t>
            </a:r>
            <a:r>
              <a:rPr sz="2000">
                <a:solidFill>
                  <a:srgbClr val="208050"/>
                </a:solidFill>
                <a:latin typeface="Courier New"/>
              </a:rPr>
              <a:t xml:space="preserve">0</a:t>
            </a:r>
            <a:r>
              <a:rPr sz="2000">
                <a:solidFill>
                  <a:srgbClr val="666666"/>
                </a:solidFill>
                <a:latin typeface="Courier New"/>
              </a:rPr>
              <a:t xml:space="preserve">:</a:t>
            </a:r>
            <a:r>
              <a:rPr sz="2000">
                <a:solidFill>
                  <a:srgbClr val="208050"/>
                </a:solidFill>
                <a:latin typeface="Courier New"/>
              </a:rPr>
              <a:t xml:space="preserve">4</a:t>
            </a:r>
            <a:r>
              <a:rPr sz="2000">
                <a:solidFill>
                  <a:srgbClr val="666666"/>
                </a:solidFill>
                <a:latin typeface="Courier New"/>
              </a:rPr>
              <a:t xml:space="preserve">]</a:t>
            </a:r>
            <a:r>
              <a:rPr sz="2000">
                <a:solidFill>
                  <a:srgbClr val="666666"/>
                </a:solidFill>
                <a:latin typeface="Courier New"/>
              </a:rPr>
              <a:t xml:space="preserve">)</a:t>
            </a:r>
          </a:p>
        </p:txBody>
      </p:sp>
      <p:sp>
        <p:nvSpPr>
          <p:cNvPr id="12" name="Printed output 0:3"/>
          <p:cNvSpPr txBox="1"/>
          <p:nvPr/>
        </p:nvSpPr>
        <p:spPr>
          <a:xfrm>
            <a:off x="8366760" y="294843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3" name="Code number 0:4"/>
          <p:cNvSpPr txBox="1"/>
          <p:nvPr/>
        </p:nvSpPr>
        <p:spPr>
          <a:xfrm>
            <a:off x="164592" y="3259836"/>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4</a:t>
            </a:r>
          </a:p>
        </p:txBody>
      </p:sp>
      <p:sp>
        <p:nvSpPr>
          <p:cNvPr id="14" name="Code line 0:4"/>
          <p:cNvSpPr txBox="1"/>
          <p:nvPr/>
        </p:nvSpPr>
        <p:spPr>
          <a:xfrm>
            <a:off x="594360" y="3259836"/>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something</a:t>
            </a:r>
            <a:r>
              <a:rPr sz="2000">
                <a:solidFill>
                  <a:srgbClr val="666666"/>
                </a:solidFill>
                <a:latin typeface="Courier New"/>
              </a:rPr>
              <a:t xml:space="preserve">[</a:t>
            </a:r>
            <a:r>
              <a:rPr sz="2000">
                <a:solidFill>
                  <a:srgbClr val="208050"/>
                </a:solidFill>
                <a:latin typeface="Courier New"/>
              </a:rPr>
              <a:t xml:space="preserve">4</a:t>
            </a:r>
            <a:r>
              <a:rPr sz="2000">
                <a:solidFill>
                  <a:srgbClr val="666666"/>
                </a:solidFill>
                <a:latin typeface="Courier New"/>
              </a:rPr>
              <a:t xml:space="preserve">:</a:t>
            </a:r>
            <a:r>
              <a:rPr sz="2000">
                <a:solidFill>
                  <a:srgbClr val="208050"/>
                </a:solidFill>
                <a:latin typeface="Courier New"/>
              </a:rPr>
              <a:t xml:space="preserve">9</a:t>
            </a:r>
            <a:r>
              <a:rPr sz="2000">
                <a:solidFill>
                  <a:srgbClr val="666666"/>
                </a:solidFill>
                <a:latin typeface="Courier New"/>
              </a:rPr>
              <a:t xml:space="preserve">]</a:t>
            </a:r>
            <a:r>
              <a:rPr sz="2000">
                <a:solidFill>
                  <a:srgbClr val="666666"/>
                </a:solidFill>
                <a:latin typeface="Courier New"/>
              </a:rPr>
              <a:t xml:space="preserve">)</a:t>
            </a:r>
          </a:p>
        </p:txBody>
      </p:sp>
      <p:sp>
        <p:nvSpPr>
          <p:cNvPr id="15" name="Printed output 0:4"/>
          <p:cNvSpPr txBox="1"/>
          <p:nvPr/>
        </p:nvSpPr>
        <p:spPr>
          <a:xfrm>
            <a:off x="8366760" y="3285236"/>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7" name="Pi515 accent"/>
          <p:cNvSpPr/>
          <p:nvPr/>
        </p:nvSpPr>
        <p:spPr>
          <a:xfrm>
            <a:off x="0" y="0"/>
            <a:ext cx="12192000" cy="54864"/>
          </a:xfrm>
          <a:prstGeom prst="rect">
            <a:avLst/>
          </a:prstGeom>
          <a:solidFill>
            <a:srgbClr val="39DC78"/>
          </a:solidFill>
          <a:ln>
            <a:noFill/>
          </a:ln>
        </p:spPr>
      </p:sp>
      <p:sp>
        <p:nvSpPr>
          <p:cNvPr id="18"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19" name="Footer rule"/>
          <p:cNvSpPr/>
          <p:nvPr/>
        </p:nvSpPr>
        <p:spPr>
          <a:xfrm>
            <a:off x="594360" y="6400800"/>
            <a:ext cx="10972800" cy="10973"/>
          </a:xfrm>
          <a:prstGeom prst="rect">
            <a:avLst/>
          </a:prstGeom>
          <a:solidFill>
            <a:srgbClr val="E6E6E6"/>
          </a:solidFill>
          <a:ln>
            <a:noFill/>
          </a:ln>
        </p:spPr>
      </p:sp>
      <p:sp>
        <p:nvSpPr>
          <p:cNvPr id="20"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37</a:t>
            </a:r>
          </a:p>
        </p:txBody>
      </p:sp>
      <p:pic>
        <p:nvPicPr>
          <p:cNvPr id="21"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Slicing selects a substring</a:t>
            </a:r>
          </a:p>
        </p:txBody>
      </p:sp>
      <p:sp>
        <p:nvSpPr>
          <p:cNvPr id="16" name="Printed output panel 0"/>
          <p:cNvSpPr/>
          <p:nvPr/>
        </p:nvSpPr>
        <p:spPr>
          <a:xfrm>
            <a:off x="8183880" y="1920240"/>
            <a:ext cx="3383280" cy="1804416"/>
          </a:xfrm>
          <a:prstGeom prst="rect">
            <a:avLst/>
          </a:prstGeom>
          <a:solidFill>
            <a:srgbClr val="EEF6F3"/>
          </a:solidFill>
          <a:ln>
            <a:noFill/>
          </a:ln>
        </p:spPr>
      </p:sp>
      <p:sp>
        <p:nvSpPr>
          <p:cNvPr id="3" name="Body paragraph 3"/>
          <p:cNvSpPr txBox="1"/>
          <p:nvPr/>
        </p:nvSpPr>
        <p:spPr>
          <a:xfrm>
            <a:off x="594360" y="1417320"/>
            <a:ext cx="10972800" cy="39014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A </a:t>
            </a:r>
            <a:r>
              <a:rPr sz="2200" b="1">
                <a:solidFill>
                  <a:srgbClr val="2B2B2B"/>
                </a:solidFill>
                <a:latin typeface="Arial"/>
              </a:rPr>
              <a:t>slice</a:t>
            </a:r>
            <a:r>
              <a:rPr sz="2200">
                <a:solidFill>
                  <a:srgbClr val="2B2B2B"/>
                </a:solidFill>
                <a:latin typeface="Arial"/>
              </a:rPr>
              <a:t> uses </a:t>
            </a:r>
            <a:r>
              <a:rPr sz="2200">
                <a:solidFill>
                  <a:srgbClr val="2B2B2B"/>
                </a:solidFill>
                <a:latin typeface="Courier New"/>
              </a:rPr>
              <a:t xml:space="preserve">string</a:t>
            </a:r>
            <a:r>
              <a:rPr sz="2200">
                <a:solidFill>
                  <a:srgbClr val="666666"/>
                </a:solidFill>
                <a:latin typeface="Courier New"/>
              </a:rPr>
              <a:t xml:space="preserve">[</a:t>
            </a:r>
            <a:r>
              <a:rPr sz="2200">
                <a:solidFill>
                  <a:srgbClr val="2B2B2B"/>
                </a:solidFill>
                <a:latin typeface="Courier New"/>
              </a:rPr>
              <a:t xml:space="preserve">start</a:t>
            </a:r>
            <a:r>
              <a:rPr sz="2200">
                <a:solidFill>
                  <a:srgbClr val="666666"/>
                </a:solidFill>
                <a:latin typeface="Courier New"/>
              </a:rPr>
              <a:t xml:space="preserve">:</a:t>
            </a:r>
            <a:r>
              <a:rPr sz="2200">
                <a:solidFill>
                  <a:srgbClr val="2B2B2B"/>
                </a:solidFill>
                <a:latin typeface="Courier New"/>
              </a:rPr>
              <a:t xml:space="preserve">stop</a:t>
            </a:r>
            <a:r>
              <a:rPr sz="2200">
                <a:solidFill>
                  <a:srgbClr val="666666"/>
                </a:solidFill>
                <a:latin typeface="Courier New"/>
              </a:rPr>
              <a:t xml:space="preserve">]</a:t>
            </a:r>
            <a:r>
              <a:rPr sz="2200">
                <a:solidFill>
                  <a:srgbClr val="2B2B2B"/>
                </a:solidFill>
                <a:latin typeface="Arial"/>
              </a:rPr>
              <a:t>. Include the start. Exclude the stop.</a:t>
            </a:r>
          </a:p>
        </p:txBody>
      </p:sp>
      <p:sp>
        <p:nvSpPr>
          <p:cNvPr id="4" name="Code column header 0"/>
          <p:cNvSpPr txBox="1"/>
          <p:nvPr/>
        </p:nvSpPr>
        <p:spPr>
          <a:xfrm>
            <a:off x="594360" y="197510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197510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24942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24942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something</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"Something"</a:t>
            </a:r>
          </a:p>
        </p:txBody>
      </p:sp>
      <p:sp>
        <p:nvSpPr>
          <p:cNvPr id="8" name="Code number 0:2"/>
          <p:cNvSpPr txBox="1"/>
          <p:nvPr/>
        </p:nvSpPr>
        <p:spPr>
          <a:xfrm>
            <a:off x="164592" y="258622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586228"/>
            <a:ext cx="7315200" cy="336804"/>
          </a:xfrm>
          <a:prstGeom prst="rect">
            <a:avLst/>
          </a:prstGeom>
          <a:noFill/>
          <a:ln>
            <a:noFill/>
          </a:ln>
        </p:spPr>
        <p:txBody>
          <a:bodyPr wrap="square" lIns="0" rIns="0" tIns="0" bIns="0">
            <a:noAutofit/>
          </a:bodyPr>
          <a:lstStyle/>
          <a:p>
            <a:pPr marL="0" indent="0" algn="l">
              <a:lnSpc>
                <a:spcPct val="120000"/>
              </a:lnSpc>
              <a:buNone/>
            </a:pPr>
            <a:r>
              <a:rPr sz="2000" i="1">
                <a:solidFill>
                  <a:srgbClr val="555554"/>
                </a:solidFill>
                <a:latin typeface="Courier New"/>
              </a:rPr>
              <a:t xml:space="preserve">#            012345678</a:t>
            </a:r>
          </a:p>
        </p:txBody>
      </p:sp>
      <p:sp>
        <p:nvSpPr>
          <p:cNvPr id="10" name="Code number 0:3"/>
          <p:cNvSpPr txBox="1"/>
          <p:nvPr/>
        </p:nvSpPr>
        <p:spPr>
          <a:xfrm>
            <a:off x="164592" y="292303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1" name="Code line 0:3"/>
          <p:cNvSpPr txBox="1"/>
          <p:nvPr/>
        </p:nvSpPr>
        <p:spPr>
          <a:xfrm>
            <a:off x="594360" y="292303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something</a:t>
            </a:r>
            <a:r>
              <a:rPr sz="2000">
                <a:solidFill>
                  <a:srgbClr val="666666"/>
                </a:solidFill>
                <a:latin typeface="Courier New"/>
              </a:rPr>
              <a:t xml:space="preserve">[</a:t>
            </a:r>
            <a:r>
              <a:rPr sz="2000">
                <a:solidFill>
                  <a:srgbClr val="208050"/>
                </a:solidFill>
                <a:latin typeface="Courier New"/>
              </a:rPr>
              <a:t xml:space="preserve">0</a:t>
            </a:r>
            <a:r>
              <a:rPr sz="2000">
                <a:solidFill>
                  <a:srgbClr val="666666"/>
                </a:solidFill>
                <a:latin typeface="Courier New"/>
              </a:rPr>
              <a:t xml:space="preserve">:</a:t>
            </a:r>
            <a:r>
              <a:rPr sz="2000">
                <a:solidFill>
                  <a:srgbClr val="208050"/>
                </a:solidFill>
                <a:latin typeface="Courier New"/>
              </a:rPr>
              <a:t xml:space="preserve">4</a:t>
            </a:r>
            <a:r>
              <a:rPr sz="2000">
                <a:solidFill>
                  <a:srgbClr val="666666"/>
                </a:solidFill>
                <a:latin typeface="Courier New"/>
              </a:rPr>
              <a:t xml:space="preserve">]</a:t>
            </a:r>
            <a:r>
              <a:rPr sz="2000">
                <a:solidFill>
                  <a:srgbClr val="666666"/>
                </a:solidFill>
                <a:latin typeface="Courier New"/>
              </a:rPr>
              <a:t xml:space="preserve">)</a:t>
            </a:r>
          </a:p>
        </p:txBody>
      </p:sp>
      <p:sp>
        <p:nvSpPr>
          <p:cNvPr id="12" name="Printed output 0:3"/>
          <p:cNvSpPr txBox="1"/>
          <p:nvPr/>
        </p:nvSpPr>
        <p:spPr>
          <a:xfrm>
            <a:off x="8366760" y="294843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Some</a:t>
            </a:r>
          </a:p>
        </p:txBody>
      </p:sp>
      <p:sp>
        <p:nvSpPr>
          <p:cNvPr id="13" name="Code number 0:4"/>
          <p:cNvSpPr txBox="1"/>
          <p:nvPr/>
        </p:nvSpPr>
        <p:spPr>
          <a:xfrm>
            <a:off x="164592" y="3259836"/>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4</a:t>
            </a:r>
          </a:p>
        </p:txBody>
      </p:sp>
      <p:sp>
        <p:nvSpPr>
          <p:cNvPr id="14" name="Code line 0:4"/>
          <p:cNvSpPr txBox="1"/>
          <p:nvPr/>
        </p:nvSpPr>
        <p:spPr>
          <a:xfrm>
            <a:off x="594360" y="3259836"/>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something</a:t>
            </a:r>
            <a:r>
              <a:rPr sz="2000">
                <a:solidFill>
                  <a:srgbClr val="666666"/>
                </a:solidFill>
                <a:latin typeface="Courier New"/>
              </a:rPr>
              <a:t xml:space="preserve">[</a:t>
            </a:r>
            <a:r>
              <a:rPr sz="2000">
                <a:solidFill>
                  <a:srgbClr val="208050"/>
                </a:solidFill>
                <a:latin typeface="Courier New"/>
              </a:rPr>
              <a:t xml:space="preserve">4</a:t>
            </a:r>
            <a:r>
              <a:rPr sz="2000">
                <a:solidFill>
                  <a:srgbClr val="666666"/>
                </a:solidFill>
                <a:latin typeface="Courier New"/>
              </a:rPr>
              <a:t xml:space="preserve">:</a:t>
            </a:r>
            <a:r>
              <a:rPr sz="2000">
                <a:solidFill>
                  <a:srgbClr val="208050"/>
                </a:solidFill>
                <a:latin typeface="Courier New"/>
              </a:rPr>
              <a:t xml:space="preserve">9</a:t>
            </a:r>
            <a:r>
              <a:rPr sz="2000">
                <a:solidFill>
                  <a:srgbClr val="666666"/>
                </a:solidFill>
                <a:latin typeface="Courier New"/>
              </a:rPr>
              <a:t xml:space="preserve">]</a:t>
            </a:r>
            <a:r>
              <a:rPr sz="2000">
                <a:solidFill>
                  <a:srgbClr val="666666"/>
                </a:solidFill>
                <a:latin typeface="Courier New"/>
              </a:rPr>
              <a:t xml:space="preserve">)</a:t>
            </a:r>
          </a:p>
        </p:txBody>
      </p:sp>
      <p:sp>
        <p:nvSpPr>
          <p:cNvPr id="15" name="Printed output 0:4"/>
          <p:cNvSpPr txBox="1"/>
          <p:nvPr/>
        </p:nvSpPr>
        <p:spPr>
          <a:xfrm>
            <a:off x="8366760" y="3285236"/>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thing</a:t>
            </a:r>
          </a:p>
        </p:txBody>
      </p:sp>
      <p:sp>
        <p:nvSpPr>
          <p:cNvPr id="17" name="Pi515 accent"/>
          <p:cNvSpPr/>
          <p:nvPr/>
        </p:nvSpPr>
        <p:spPr>
          <a:xfrm>
            <a:off x="0" y="0"/>
            <a:ext cx="12192000" cy="54864"/>
          </a:xfrm>
          <a:prstGeom prst="rect">
            <a:avLst/>
          </a:prstGeom>
          <a:solidFill>
            <a:srgbClr val="39DC78"/>
          </a:solidFill>
          <a:ln>
            <a:noFill/>
          </a:ln>
        </p:spPr>
      </p:sp>
      <p:sp>
        <p:nvSpPr>
          <p:cNvPr id="18"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19" name="Footer rule"/>
          <p:cNvSpPr/>
          <p:nvPr/>
        </p:nvSpPr>
        <p:spPr>
          <a:xfrm>
            <a:off x="594360" y="6400800"/>
            <a:ext cx="10972800" cy="10973"/>
          </a:xfrm>
          <a:prstGeom prst="rect">
            <a:avLst/>
          </a:prstGeom>
          <a:solidFill>
            <a:srgbClr val="E6E6E6"/>
          </a:solidFill>
          <a:ln>
            <a:noFill/>
          </a:ln>
        </p:spPr>
      </p:sp>
      <p:sp>
        <p:nvSpPr>
          <p:cNvPr id="20"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38</a:t>
            </a:r>
          </a:p>
        </p:txBody>
      </p:sp>
      <p:pic>
        <p:nvPicPr>
          <p:cNvPr id="21"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Exercise 4 — Slicing selects a substring</a:t>
            </a:r>
          </a:p>
        </p:txBody>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Print </a:t>
            </a:r>
            <a:r>
              <a:rPr sz="2200">
                <a:solidFill>
                  <a:srgbClr val="4070A0"/>
                </a:solidFill>
                <a:latin typeface="Courier New"/>
              </a:rPr>
              <a:t xml:space="preserve">"Some"</a:t>
            </a:r>
            <a:r>
              <a:rPr sz="2200">
                <a:solidFill>
                  <a:srgbClr val="2B2B2B"/>
                </a:solidFill>
                <a:latin typeface="Arial"/>
              </a:rPr>
              <a:t> using a slice. Then </a:t>
            </a:r>
            <a:r>
              <a:rPr sz="2200">
                <a:solidFill>
                  <a:srgbClr val="008000"/>
                </a:solidFill>
                <a:latin typeface="Courier New"/>
              </a:rPr>
              <a:t xml:space="preserve">print</a:t>
            </a:r>
            <a:r>
              <a:rPr sz="2200">
                <a:solidFill>
                  <a:srgbClr val="2B2B2B"/>
                </a:solidFill>
                <a:latin typeface="Arial"/>
              </a:rPr>
              <a:t> </a:t>
            </a:r>
            <a:r>
              <a:rPr sz="2200">
                <a:solidFill>
                  <a:srgbClr val="4070A0"/>
                </a:solidFill>
                <a:latin typeface="Courier New"/>
              </a:rPr>
              <a:t xml:space="preserve">"thing"</a:t>
            </a:r>
            <a:r>
              <a:rPr sz="2200">
                <a:solidFill>
                  <a:srgbClr val="2B2B2B"/>
                </a:solidFill>
                <a:latin typeface="Arial"/>
              </a:rPr>
              <a:t> with another slice and explain your start and stop.</a:t>
            </a:r>
          </a:p>
        </p:txBody>
      </p:sp>
      <p:sp>
        <p:nvSpPr>
          <p:cNvPr id="4" name="Code number 0:1"/>
          <p:cNvSpPr txBox="1"/>
          <p:nvPr/>
        </p:nvSpPr>
        <p:spPr>
          <a:xfrm>
            <a:off x="164592" y="231038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5" name="Code line 0:1"/>
          <p:cNvSpPr txBox="1"/>
          <p:nvPr/>
        </p:nvSpPr>
        <p:spPr>
          <a:xfrm>
            <a:off x="594360" y="2310384"/>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something</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"Something"</a:t>
            </a:r>
          </a:p>
        </p:txBody>
      </p:sp>
      <p:sp>
        <p:nvSpPr>
          <p:cNvPr id="6" name="Code number 0:2"/>
          <p:cNvSpPr txBox="1"/>
          <p:nvPr/>
        </p:nvSpPr>
        <p:spPr>
          <a:xfrm>
            <a:off x="164592" y="264718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7" name="Code line 0:2"/>
          <p:cNvSpPr txBox="1"/>
          <p:nvPr/>
        </p:nvSpPr>
        <p:spPr>
          <a:xfrm>
            <a:off x="594360" y="2647188"/>
            <a:ext cx="10972800" cy="336804"/>
          </a:xfrm>
          <a:prstGeom prst="rect">
            <a:avLst/>
          </a:prstGeom>
          <a:noFill/>
          <a:ln>
            <a:noFill/>
          </a:ln>
        </p:spPr>
        <p:txBody>
          <a:bodyPr wrap="square" lIns="0" rIns="0" tIns="0" bIns="0">
            <a:noAutofit/>
          </a:bodyPr>
          <a:lstStyle/>
          <a:p>
            <a:pPr marL="0" indent="0" algn="l">
              <a:lnSpc>
                <a:spcPct val="120000"/>
              </a:lnSpc>
              <a:buNone/>
            </a:pPr>
            <a:r>
              <a:rPr sz="2000" i="1">
                <a:solidFill>
                  <a:srgbClr val="555554"/>
                </a:solidFill>
                <a:latin typeface="Courier New"/>
              </a:rPr>
              <a:t xml:space="preserve"># YOUR CODE HERE: print two slices.</a:t>
            </a:r>
          </a:p>
        </p:txBody>
      </p:sp>
      <p:sp>
        <p:nvSpPr>
          <p:cNvPr id="8" name="Pi515 accent"/>
          <p:cNvSpPr/>
          <p:nvPr/>
        </p:nvSpPr>
        <p:spPr>
          <a:xfrm>
            <a:off x="0" y="0"/>
            <a:ext cx="12192000" cy="54864"/>
          </a:xfrm>
          <a:prstGeom prst="rect">
            <a:avLst/>
          </a:prstGeom>
          <a:solidFill>
            <a:srgbClr val="39DC78"/>
          </a:solidFill>
          <a:ln>
            <a:noFill/>
          </a:ln>
        </p:spPr>
      </p:sp>
      <p:sp>
        <p:nvSpPr>
          <p:cNvPr id="9"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EXERCISE</a:t>
            </a:r>
          </a:p>
        </p:txBody>
      </p:sp>
      <p:sp>
        <p:nvSpPr>
          <p:cNvPr id="10" name="Footer rule"/>
          <p:cNvSpPr/>
          <p:nvPr/>
        </p:nvSpPr>
        <p:spPr>
          <a:xfrm>
            <a:off x="594360" y="6400800"/>
            <a:ext cx="10972800" cy="10973"/>
          </a:xfrm>
          <a:prstGeom prst="rect">
            <a:avLst/>
          </a:prstGeom>
          <a:solidFill>
            <a:srgbClr val="E6E6E6"/>
          </a:solidFill>
          <a:ln>
            <a:noFill/>
          </a:ln>
        </p:spPr>
      </p:sp>
      <p:sp>
        <p:nvSpPr>
          <p:cNvPr id="11"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39</a:t>
            </a:r>
          </a:p>
        </p:txBody>
      </p:sp>
      <p:pic>
        <p:nvPicPr>
          <p:cNvPr id="12"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method</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A function accessed through a value using a dot, such as </a:t>
            </a:r>
            <a:r>
              <a:rPr sz="2700">
                <a:solidFill>
                  <a:srgbClr val="2B2B2B"/>
                </a:solidFill>
                <a:latin typeface="Courier New"/>
              </a:rPr>
              <a:t xml:space="preserve">firstName</a:t>
            </a:r>
            <a:r>
              <a:rPr sz="2700">
                <a:solidFill>
                  <a:srgbClr val="666666"/>
                </a:solidFill>
                <a:latin typeface="Courier New"/>
              </a:rPr>
              <a:t xml:space="preserve">.</a:t>
            </a:r>
            <a:r>
              <a:rPr sz="2700">
                <a:solidFill>
                  <a:srgbClr val="06287E"/>
                </a:solidFill>
                <a:latin typeface="Courier New"/>
              </a:rPr>
              <a:t xml:space="preserve">upper</a:t>
            </a:r>
            <a:r>
              <a:rPr sz="2700">
                <a:solidFill>
                  <a:srgbClr val="666666"/>
                </a:solidFill>
                <a:latin typeface="Courier New"/>
              </a:rPr>
              <a:t xml:space="preserve">(</a:t>
            </a:r>
            <a:r>
              <a:rPr sz="2700">
                <a:solidFill>
                  <a:srgbClr val="666666"/>
                </a:solidFill>
                <a:latin typeface="Courier New"/>
              </a:rPr>
              <a:t xml:space="preserve">)</a:t>
            </a:r>
            <a:r>
              <a:rPr sz="2700">
                <a:solidFill>
                  <a:srgbClr val="2B2B2B"/>
                </a:solidFill>
                <a:latin typeface="Arial"/>
              </a:rPr>
              <a:t>.</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"NoIce"</a:t>
            </a:r>
            <a:r>
              <a:rPr sz="2000">
                <a:solidFill>
                  <a:srgbClr val="666666"/>
                </a:solidFill>
                <a:latin typeface="Courier New"/>
              </a:rPr>
              <a:t xml:space="preserve">.</a:t>
            </a:r>
            <a:r>
              <a:rPr sz="2000">
                <a:solidFill>
                  <a:srgbClr val="06287E"/>
                </a:solidFill>
                <a:latin typeface="Courier New"/>
              </a:rPr>
              <a:t xml:space="preserve">lower</a:t>
            </a:r>
            <a:r>
              <a:rPr sz="2000">
                <a:solidFill>
                  <a:srgbClr val="666666"/>
                </a:solidFill>
                <a:latin typeface="Courier New"/>
              </a:rPr>
              <a:t xml:space="preserve">(</a:t>
            </a:r>
            <a:r>
              <a:rPr sz="2000">
                <a:solidFill>
                  <a:srgbClr val="666666"/>
                </a:solidFill>
                <a:latin typeface="Courier New"/>
              </a:rPr>
              <a:t xml:space="preserve">)</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40</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method</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A function accessed through a value using a dot, such as </a:t>
            </a:r>
            <a:r>
              <a:rPr sz="2700">
                <a:solidFill>
                  <a:srgbClr val="2B2B2B"/>
                </a:solidFill>
                <a:latin typeface="Courier New"/>
              </a:rPr>
              <a:t xml:space="preserve">firstName</a:t>
            </a:r>
            <a:r>
              <a:rPr sz="2700">
                <a:solidFill>
                  <a:srgbClr val="666666"/>
                </a:solidFill>
                <a:latin typeface="Courier New"/>
              </a:rPr>
              <a:t xml:space="preserve">.</a:t>
            </a:r>
            <a:r>
              <a:rPr sz="2700">
                <a:solidFill>
                  <a:srgbClr val="06287E"/>
                </a:solidFill>
                <a:latin typeface="Courier New"/>
              </a:rPr>
              <a:t xml:space="preserve">upper</a:t>
            </a:r>
            <a:r>
              <a:rPr sz="2700">
                <a:solidFill>
                  <a:srgbClr val="666666"/>
                </a:solidFill>
                <a:latin typeface="Courier New"/>
              </a:rPr>
              <a:t xml:space="preserve">(</a:t>
            </a:r>
            <a:r>
              <a:rPr sz="2700">
                <a:solidFill>
                  <a:srgbClr val="666666"/>
                </a:solidFill>
                <a:latin typeface="Courier New"/>
              </a:rPr>
              <a:t xml:space="preserve">)</a:t>
            </a:r>
            <a:r>
              <a:rPr sz="2700">
                <a:solidFill>
                  <a:srgbClr val="2B2B2B"/>
                </a:solidFill>
                <a:latin typeface="Arial"/>
              </a:rPr>
              <a:t>.</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"NoIce"</a:t>
            </a:r>
            <a:r>
              <a:rPr sz="2000">
                <a:solidFill>
                  <a:srgbClr val="666666"/>
                </a:solidFill>
                <a:latin typeface="Courier New"/>
              </a:rPr>
              <a:t xml:space="preserve">.</a:t>
            </a:r>
            <a:r>
              <a:rPr sz="2000">
                <a:solidFill>
                  <a:srgbClr val="06287E"/>
                </a:solidFill>
                <a:latin typeface="Courier New"/>
              </a:rPr>
              <a:t xml:space="preserve">lower</a:t>
            </a:r>
            <a:r>
              <a:rPr sz="2000">
                <a:solidFill>
                  <a:srgbClr val="666666"/>
                </a:solidFill>
                <a:latin typeface="Courier New"/>
              </a:rPr>
              <a:t xml:space="preserve">(</a:t>
            </a:r>
            <a:r>
              <a:rPr sz="2000">
                <a:solidFill>
                  <a:srgbClr val="666666"/>
                </a:solidFill>
                <a:latin typeface="Courier New"/>
              </a:rPr>
              <a:t xml:space="preserve">)</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noice</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41</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chaining</a:t>
            </a:r>
          </a:p>
        </p:txBody>
      </p:sp>
      <p:sp>
        <p:nvSpPr>
          <p:cNvPr id="9" name="Printed output panel 0"/>
          <p:cNvSpPr/>
          <p:nvPr/>
        </p:nvSpPr>
        <p:spPr>
          <a:xfrm>
            <a:off x="8183880" y="2034540"/>
            <a:ext cx="3383280" cy="794004"/>
          </a:xfrm>
          <a:prstGeom prst="rect">
            <a:avLst/>
          </a:prstGeom>
          <a:solidFill>
            <a:srgbClr val="EEF6F3"/>
          </a:solidFill>
          <a:ln>
            <a:noFill/>
          </a:ln>
        </p:spPr>
      </p:sp>
      <p:sp>
        <p:nvSpPr>
          <p:cNvPr id="3" name="Body paragraph 3"/>
          <p:cNvSpPr txBox="1"/>
          <p:nvPr/>
        </p:nvSpPr>
        <p:spPr>
          <a:xfrm>
            <a:off x="594360" y="1417320"/>
            <a:ext cx="10972800" cy="46634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Applying another method to the result of a method call.</a:t>
            </a:r>
          </a:p>
        </p:txBody>
      </p:sp>
      <p:sp>
        <p:nvSpPr>
          <p:cNvPr id="4" name="Code column header 0"/>
          <p:cNvSpPr txBox="1"/>
          <p:nvPr/>
        </p:nvSpPr>
        <p:spPr>
          <a:xfrm>
            <a:off x="594360" y="208940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08940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36372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36372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"NoIce"</a:t>
            </a:r>
            <a:r>
              <a:rPr sz="2000">
                <a:solidFill>
                  <a:srgbClr val="666666"/>
                </a:solidFill>
                <a:latin typeface="Courier New"/>
              </a:rPr>
              <a:t xml:space="preserve">.</a:t>
            </a:r>
            <a:r>
              <a:rPr sz="2000">
                <a:solidFill>
                  <a:srgbClr val="06287E"/>
                </a:solidFill>
                <a:latin typeface="Courier New"/>
              </a:rPr>
              <a:t xml:space="preserve">lower</a:t>
            </a:r>
            <a:r>
              <a:rPr sz="2000">
                <a:solidFill>
                  <a:srgbClr val="666666"/>
                </a:solidFill>
                <a:latin typeface="Courier New"/>
              </a:rPr>
              <a:t xml:space="preserve">(</a:t>
            </a:r>
            <a:r>
              <a:rPr sz="2000">
                <a:solidFill>
                  <a:srgbClr val="666666"/>
                </a:solidFill>
                <a:latin typeface="Courier New"/>
              </a:rPr>
              <a:t xml:space="preserve">)</a:t>
            </a:r>
            <a:r>
              <a:rPr sz="2000">
                <a:solidFill>
                  <a:srgbClr val="666666"/>
                </a:solidFill>
                <a:latin typeface="Courier New"/>
              </a:rPr>
              <a:t xml:space="preserve">.</a:t>
            </a:r>
            <a:r>
              <a:rPr sz="2000">
                <a:solidFill>
                  <a:srgbClr val="06287E"/>
                </a:solidFill>
                <a:latin typeface="Courier New"/>
              </a:rPr>
              <a:t xml:space="preserve">capitalize</a:t>
            </a:r>
            <a:r>
              <a:rPr sz="2000">
                <a:solidFill>
                  <a:srgbClr val="666666"/>
                </a:solidFill>
                <a:latin typeface="Courier New"/>
              </a:rPr>
              <a:t xml:space="preserve">(</a:t>
            </a:r>
            <a:r>
              <a:rPr sz="2000">
                <a:solidFill>
                  <a:srgbClr val="666666"/>
                </a:solidFill>
                <a:latin typeface="Courier New"/>
              </a:rPr>
              <a:t xml:space="preserve">)</a:t>
            </a:r>
            <a:r>
              <a:rPr sz="2000">
                <a:solidFill>
                  <a:srgbClr val="666666"/>
                </a:solidFill>
                <a:latin typeface="Courier New"/>
              </a:rPr>
              <a:t xml:space="preserve">)</a:t>
            </a:r>
          </a:p>
        </p:txBody>
      </p:sp>
      <p:sp>
        <p:nvSpPr>
          <p:cNvPr id="8" name="Printed output 0:1"/>
          <p:cNvSpPr txBox="1"/>
          <p:nvPr/>
        </p:nvSpPr>
        <p:spPr>
          <a:xfrm>
            <a:off x="8366760" y="238912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42</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chaining</a:t>
            </a:r>
          </a:p>
        </p:txBody>
      </p:sp>
      <p:sp>
        <p:nvSpPr>
          <p:cNvPr id="9" name="Printed output panel 0"/>
          <p:cNvSpPr/>
          <p:nvPr/>
        </p:nvSpPr>
        <p:spPr>
          <a:xfrm>
            <a:off x="8183880" y="2034540"/>
            <a:ext cx="3383280" cy="794004"/>
          </a:xfrm>
          <a:prstGeom prst="rect">
            <a:avLst/>
          </a:prstGeom>
          <a:solidFill>
            <a:srgbClr val="EEF6F3"/>
          </a:solidFill>
          <a:ln>
            <a:noFill/>
          </a:ln>
        </p:spPr>
      </p:sp>
      <p:sp>
        <p:nvSpPr>
          <p:cNvPr id="3" name="Body paragraph 3"/>
          <p:cNvSpPr txBox="1"/>
          <p:nvPr/>
        </p:nvSpPr>
        <p:spPr>
          <a:xfrm>
            <a:off x="594360" y="1417320"/>
            <a:ext cx="10972800" cy="46634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Applying another method to the result of a method call.</a:t>
            </a:r>
          </a:p>
        </p:txBody>
      </p:sp>
      <p:sp>
        <p:nvSpPr>
          <p:cNvPr id="4" name="Code column header 0"/>
          <p:cNvSpPr txBox="1"/>
          <p:nvPr/>
        </p:nvSpPr>
        <p:spPr>
          <a:xfrm>
            <a:off x="594360" y="208940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08940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36372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36372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"NoIce"</a:t>
            </a:r>
            <a:r>
              <a:rPr sz="2000">
                <a:solidFill>
                  <a:srgbClr val="666666"/>
                </a:solidFill>
                <a:latin typeface="Courier New"/>
              </a:rPr>
              <a:t xml:space="preserve">.</a:t>
            </a:r>
            <a:r>
              <a:rPr sz="2000">
                <a:solidFill>
                  <a:srgbClr val="06287E"/>
                </a:solidFill>
                <a:latin typeface="Courier New"/>
              </a:rPr>
              <a:t xml:space="preserve">lower</a:t>
            </a:r>
            <a:r>
              <a:rPr sz="2000">
                <a:solidFill>
                  <a:srgbClr val="666666"/>
                </a:solidFill>
                <a:latin typeface="Courier New"/>
              </a:rPr>
              <a:t xml:space="preserve">(</a:t>
            </a:r>
            <a:r>
              <a:rPr sz="2000">
                <a:solidFill>
                  <a:srgbClr val="666666"/>
                </a:solidFill>
                <a:latin typeface="Courier New"/>
              </a:rPr>
              <a:t xml:space="preserve">)</a:t>
            </a:r>
            <a:r>
              <a:rPr sz="2000">
                <a:solidFill>
                  <a:srgbClr val="666666"/>
                </a:solidFill>
                <a:latin typeface="Courier New"/>
              </a:rPr>
              <a:t xml:space="preserve">.</a:t>
            </a:r>
            <a:r>
              <a:rPr sz="2000">
                <a:solidFill>
                  <a:srgbClr val="06287E"/>
                </a:solidFill>
                <a:latin typeface="Courier New"/>
              </a:rPr>
              <a:t xml:space="preserve">capitalize</a:t>
            </a:r>
            <a:r>
              <a:rPr sz="2000">
                <a:solidFill>
                  <a:srgbClr val="666666"/>
                </a:solidFill>
                <a:latin typeface="Courier New"/>
              </a:rPr>
              <a:t xml:space="preserve">(</a:t>
            </a:r>
            <a:r>
              <a:rPr sz="2000">
                <a:solidFill>
                  <a:srgbClr val="666666"/>
                </a:solidFill>
                <a:latin typeface="Courier New"/>
              </a:rPr>
              <a:t xml:space="preserve">)</a:t>
            </a:r>
            <a:r>
              <a:rPr sz="2000">
                <a:solidFill>
                  <a:srgbClr val="666666"/>
                </a:solidFill>
                <a:latin typeface="Courier New"/>
              </a:rPr>
              <a:t xml:space="preserve">)</a:t>
            </a:r>
          </a:p>
        </p:txBody>
      </p:sp>
      <p:sp>
        <p:nvSpPr>
          <p:cNvPr id="8" name="Printed output 0:1"/>
          <p:cNvSpPr txBox="1"/>
          <p:nvPr/>
        </p:nvSpPr>
        <p:spPr>
          <a:xfrm>
            <a:off x="8366760" y="238912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Noice</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43</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immutable</a:t>
            </a:r>
          </a:p>
        </p:txBody>
      </p:sp>
      <p:sp>
        <p:nvSpPr>
          <p:cNvPr id="13" name="Printed output panel 0"/>
          <p:cNvSpPr/>
          <p:nvPr/>
        </p:nvSpPr>
        <p:spPr>
          <a:xfrm>
            <a:off x="8183880" y="2446020"/>
            <a:ext cx="3383280" cy="1467612"/>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Cannot be changed in place. String methods return new strings.</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original</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"NoIce"</a:t>
            </a:r>
          </a:p>
        </p:txBody>
      </p:sp>
      <p:sp>
        <p:nvSpPr>
          <p:cNvPr id="8" name="Code number 0:2"/>
          <p:cNvSpPr txBox="1"/>
          <p:nvPr/>
        </p:nvSpPr>
        <p:spPr>
          <a:xfrm>
            <a:off x="164592" y="311200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311200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changed</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original</a:t>
            </a:r>
            <a:r>
              <a:rPr sz="2000">
                <a:solidFill>
                  <a:srgbClr val="666666"/>
                </a:solidFill>
                <a:latin typeface="Courier New"/>
              </a:rPr>
              <a:t xml:space="preserve">.</a:t>
            </a:r>
            <a:r>
              <a:rPr sz="2000">
                <a:solidFill>
                  <a:srgbClr val="06287E"/>
                </a:solidFill>
                <a:latin typeface="Courier New"/>
              </a:rPr>
              <a:t xml:space="preserve">lower</a:t>
            </a:r>
            <a:r>
              <a:rPr sz="2000">
                <a:solidFill>
                  <a:srgbClr val="666666"/>
                </a:solidFill>
                <a:latin typeface="Courier New"/>
              </a:rPr>
              <a:t xml:space="preserve">(</a:t>
            </a:r>
            <a:r>
              <a:rPr sz="2000">
                <a:solidFill>
                  <a:srgbClr val="666666"/>
                </a:solidFill>
                <a:latin typeface="Courier New"/>
              </a:rPr>
              <a:t xml:space="preserve">)</a:t>
            </a:r>
          </a:p>
        </p:txBody>
      </p:sp>
      <p:sp>
        <p:nvSpPr>
          <p:cNvPr id="10" name="Code number 0:3"/>
          <p:cNvSpPr txBox="1"/>
          <p:nvPr/>
        </p:nvSpPr>
        <p:spPr>
          <a:xfrm>
            <a:off x="164592" y="344881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1" name="Code line 0:3"/>
          <p:cNvSpPr txBox="1"/>
          <p:nvPr/>
        </p:nvSpPr>
        <p:spPr>
          <a:xfrm>
            <a:off x="594360" y="344881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original</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changed</a:t>
            </a:r>
            <a:r>
              <a:rPr sz="2000">
                <a:solidFill>
                  <a:srgbClr val="666666"/>
                </a:solidFill>
                <a:latin typeface="Courier New"/>
              </a:rPr>
              <a:t xml:space="preserve">)</a:t>
            </a:r>
          </a:p>
        </p:txBody>
      </p:sp>
      <p:sp>
        <p:nvSpPr>
          <p:cNvPr id="12" name="Printed output 0:3"/>
          <p:cNvSpPr txBox="1"/>
          <p:nvPr/>
        </p:nvSpPr>
        <p:spPr>
          <a:xfrm>
            <a:off x="8366760" y="347421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4" name="Pi515 accent"/>
          <p:cNvSpPr/>
          <p:nvPr/>
        </p:nvSpPr>
        <p:spPr>
          <a:xfrm>
            <a:off x="0" y="0"/>
            <a:ext cx="12192000" cy="54864"/>
          </a:xfrm>
          <a:prstGeom prst="rect">
            <a:avLst/>
          </a:prstGeom>
          <a:solidFill>
            <a:srgbClr val="39DC78"/>
          </a:solidFill>
          <a:ln>
            <a:noFill/>
          </a:ln>
        </p:spPr>
      </p:sp>
      <p:sp>
        <p:nvSpPr>
          <p:cNvPr id="15"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6" name="Footer rule"/>
          <p:cNvSpPr/>
          <p:nvPr/>
        </p:nvSpPr>
        <p:spPr>
          <a:xfrm>
            <a:off x="594360" y="6400800"/>
            <a:ext cx="10972800" cy="10973"/>
          </a:xfrm>
          <a:prstGeom prst="rect">
            <a:avLst/>
          </a:prstGeom>
          <a:solidFill>
            <a:srgbClr val="E6E6E6"/>
          </a:solidFill>
          <a:ln>
            <a:noFill/>
          </a:ln>
        </p:spPr>
      </p:sp>
      <p:sp>
        <p:nvSpPr>
          <p:cNvPr id="17"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44</a:t>
            </a:r>
          </a:p>
        </p:txBody>
      </p:sp>
      <p:pic>
        <p:nvPicPr>
          <p:cNvPr id="18"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immutable</a:t>
            </a:r>
          </a:p>
        </p:txBody>
      </p:sp>
      <p:sp>
        <p:nvSpPr>
          <p:cNvPr id="13" name="Printed output panel 0"/>
          <p:cNvSpPr/>
          <p:nvPr/>
        </p:nvSpPr>
        <p:spPr>
          <a:xfrm>
            <a:off x="8183880" y="2446020"/>
            <a:ext cx="3383280" cy="1467612"/>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Cannot be changed in place. String methods return new strings.</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original</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"NoIce"</a:t>
            </a:r>
          </a:p>
        </p:txBody>
      </p:sp>
      <p:sp>
        <p:nvSpPr>
          <p:cNvPr id="8" name="Code number 0:2"/>
          <p:cNvSpPr txBox="1"/>
          <p:nvPr/>
        </p:nvSpPr>
        <p:spPr>
          <a:xfrm>
            <a:off x="164592" y="311200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311200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changed</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original</a:t>
            </a:r>
            <a:r>
              <a:rPr sz="2000">
                <a:solidFill>
                  <a:srgbClr val="666666"/>
                </a:solidFill>
                <a:latin typeface="Courier New"/>
              </a:rPr>
              <a:t xml:space="preserve">.</a:t>
            </a:r>
            <a:r>
              <a:rPr sz="2000">
                <a:solidFill>
                  <a:srgbClr val="06287E"/>
                </a:solidFill>
                <a:latin typeface="Courier New"/>
              </a:rPr>
              <a:t xml:space="preserve">lower</a:t>
            </a:r>
            <a:r>
              <a:rPr sz="2000">
                <a:solidFill>
                  <a:srgbClr val="666666"/>
                </a:solidFill>
                <a:latin typeface="Courier New"/>
              </a:rPr>
              <a:t xml:space="preserve">(</a:t>
            </a:r>
            <a:r>
              <a:rPr sz="2000">
                <a:solidFill>
                  <a:srgbClr val="666666"/>
                </a:solidFill>
                <a:latin typeface="Courier New"/>
              </a:rPr>
              <a:t xml:space="preserve">)</a:t>
            </a:r>
          </a:p>
        </p:txBody>
      </p:sp>
      <p:sp>
        <p:nvSpPr>
          <p:cNvPr id="10" name="Code number 0:3"/>
          <p:cNvSpPr txBox="1"/>
          <p:nvPr/>
        </p:nvSpPr>
        <p:spPr>
          <a:xfrm>
            <a:off x="164592" y="344881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1" name="Code line 0:3"/>
          <p:cNvSpPr txBox="1"/>
          <p:nvPr/>
        </p:nvSpPr>
        <p:spPr>
          <a:xfrm>
            <a:off x="594360" y="344881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original</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changed</a:t>
            </a:r>
            <a:r>
              <a:rPr sz="2000">
                <a:solidFill>
                  <a:srgbClr val="666666"/>
                </a:solidFill>
                <a:latin typeface="Courier New"/>
              </a:rPr>
              <a:t xml:space="preserve">)</a:t>
            </a:r>
          </a:p>
        </p:txBody>
      </p:sp>
      <p:sp>
        <p:nvSpPr>
          <p:cNvPr id="12" name="Printed output 0:3"/>
          <p:cNvSpPr txBox="1"/>
          <p:nvPr/>
        </p:nvSpPr>
        <p:spPr>
          <a:xfrm>
            <a:off x="8366760" y="347421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NoIce noice</a:t>
            </a:r>
          </a:p>
        </p:txBody>
      </p:sp>
      <p:sp>
        <p:nvSpPr>
          <p:cNvPr id="14" name="Pi515 accent"/>
          <p:cNvSpPr/>
          <p:nvPr/>
        </p:nvSpPr>
        <p:spPr>
          <a:xfrm>
            <a:off x="0" y="0"/>
            <a:ext cx="12192000" cy="54864"/>
          </a:xfrm>
          <a:prstGeom prst="rect">
            <a:avLst/>
          </a:prstGeom>
          <a:solidFill>
            <a:srgbClr val="39DC78"/>
          </a:solidFill>
          <a:ln>
            <a:noFill/>
          </a:ln>
        </p:spPr>
      </p:sp>
      <p:sp>
        <p:nvSpPr>
          <p:cNvPr id="15"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6" name="Footer rule"/>
          <p:cNvSpPr/>
          <p:nvPr/>
        </p:nvSpPr>
        <p:spPr>
          <a:xfrm>
            <a:off x="594360" y="6400800"/>
            <a:ext cx="10972800" cy="10973"/>
          </a:xfrm>
          <a:prstGeom prst="rect">
            <a:avLst/>
          </a:prstGeom>
          <a:solidFill>
            <a:srgbClr val="E6E6E6"/>
          </a:solidFill>
          <a:ln>
            <a:noFill/>
          </a:ln>
        </p:spPr>
      </p:sp>
      <p:sp>
        <p:nvSpPr>
          <p:cNvPr id="17"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45</a:t>
            </a:r>
          </a:p>
        </p:txBody>
      </p:sp>
      <p:pic>
        <p:nvPicPr>
          <p:cNvPr id="18"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Methods, chaining, and immutability</a:t>
            </a:r>
          </a:p>
        </p:txBody>
      </p:sp>
      <p:sp>
        <p:nvSpPr>
          <p:cNvPr id="16" name="Printed output panel 0"/>
          <p:cNvSpPr/>
          <p:nvPr/>
        </p:nvSpPr>
        <p:spPr>
          <a:xfrm>
            <a:off x="8183880" y="2255520"/>
            <a:ext cx="3383280" cy="1804416"/>
          </a:xfrm>
          <a:prstGeom prst="rect">
            <a:avLst/>
          </a:prstGeom>
          <a:solidFill>
            <a:srgbClr val="EEF6F3"/>
          </a:solidFill>
          <a:ln>
            <a:noFill/>
          </a:ln>
        </p:spPr>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Predict each result. Methods return new strings. The original stays unchanged.</a:t>
            </a:r>
          </a:p>
        </p:txBody>
      </p:sp>
      <p:sp>
        <p:nvSpPr>
          <p:cNvPr id="4" name="Code column header 0"/>
          <p:cNvSpPr txBox="1"/>
          <p:nvPr/>
        </p:nvSpPr>
        <p:spPr>
          <a:xfrm>
            <a:off x="594360" y="23103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3103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5847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5847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noIce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"NoIce"</a:t>
            </a:r>
          </a:p>
        </p:txBody>
      </p:sp>
      <p:sp>
        <p:nvSpPr>
          <p:cNvPr id="8" name="Code number 0:2"/>
          <p:cNvSpPr txBox="1"/>
          <p:nvPr/>
        </p:nvSpPr>
        <p:spPr>
          <a:xfrm>
            <a:off x="164592" y="292150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92150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result</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noIce</a:t>
            </a:r>
            <a:r>
              <a:rPr sz="2000">
                <a:solidFill>
                  <a:srgbClr val="666666"/>
                </a:solidFill>
                <a:latin typeface="Courier New"/>
              </a:rPr>
              <a:t xml:space="preserve">.</a:t>
            </a:r>
            <a:r>
              <a:rPr sz="2000">
                <a:solidFill>
                  <a:srgbClr val="06287E"/>
                </a:solidFill>
                <a:latin typeface="Courier New"/>
              </a:rPr>
              <a:t xml:space="preserve">lower</a:t>
            </a:r>
            <a:r>
              <a:rPr sz="2000">
                <a:solidFill>
                  <a:srgbClr val="666666"/>
                </a:solidFill>
                <a:latin typeface="Courier New"/>
              </a:rPr>
              <a:t xml:space="preserve">(</a:t>
            </a:r>
            <a:r>
              <a:rPr sz="2000">
                <a:solidFill>
                  <a:srgbClr val="666666"/>
                </a:solidFill>
                <a:latin typeface="Courier New"/>
              </a:rPr>
              <a:t xml:space="preserve">)</a:t>
            </a:r>
            <a:r>
              <a:rPr sz="2000">
                <a:solidFill>
                  <a:srgbClr val="666666"/>
                </a:solidFill>
                <a:latin typeface="Courier New"/>
              </a:rPr>
              <a:t xml:space="preserve">.</a:t>
            </a:r>
            <a:r>
              <a:rPr sz="2000">
                <a:solidFill>
                  <a:srgbClr val="06287E"/>
                </a:solidFill>
                <a:latin typeface="Courier New"/>
              </a:rPr>
              <a:t xml:space="preserve">capitalize</a:t>
            </a:r>
            <a:r>
              <a:rPr sz="2000">
                <a:solidFill>
                  <a:srgbClr val="666666"/>
                </a:solidFill>
                <a:latin typeface="Courier New"/>
              </a:rPr>
              <a:t xml:space="preserve">(</a:t>
            </a:r>
            <a:r>
              <a:rPr sz="2000">
                <a:solidFill>
                  <a:srgbClr val="666666"/>
                </a:solidFill>
                <a:latin typeface="Courier New"/>
              </a:rPr>
              <a:t xml:space="preserve">)</a:t>
            </a:r>
          </a:p>
        </p:txBody>
      </p:sp>
      <p:sp>
        <p:nvSpPr>
          <p:cNvPr id="10" name="Code number 0:3"/>
          <p:cNvSpPr txBox="1"/>
          <p:nvPr/>
        </p:nvSpPr>
        <p:spPr>
          <a:xfrm>
            <a:off x="164592" y="325831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1" name="Code line 0:3"/>
          <p:cNvSpPr txBox="1"/>
          <p:nvPr/>
        </p:nvSpPr>
        <p:spPr>
          <a:xfrm>
            <a:off x="594360" y="325831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result</a:t>
            </a:r>
            <a:r>
              <a:rPr sz="2000">
                <a:solidFill>
                  <a:srgbClr val="666666"/>
                </a:solidFill>
                <a:latin typeface="Courier New"/>
              </a:rPr>
              <a:t xml:space="preserve">)</a:t>
            </a:r>
          </a:p>
        </p:txBody>
      </p:sp>
      <p:sp>
        <p:nvSpPr>
          <p:cNvPr id="12" name="Printed output 0:3"/>
          <p:cNvSpPr txBox="1"/>
          <p:nvPr/>
        </p:nvSpPr>
        <p:spPr>
          <a:xfrm>
            <a:off x="8366760" y="328371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3" name="Code number 0:4"/>
          <p:cNvSpPr txBox="1"/>
          <p:nvPr/>
        </p:nvSpPr>
        <p:spPr>
          <a:xfrm>
            <a:off x="164592" y="3595116"/>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4</a:t>
            </a:r>
          </a:p>
        </p:txBody>
      </p:sp>
      <p:sp>
        <p:nvSpPr>
          <p:cNvPr id="14" name="Code line 0:4"/>
          <p:cNvSpPr txBox="1"/>
          <p:nvPr/>
        </p:nvSpPr>
        <p:spPr>
          <a:xfrm>
            <a:off x="594360" y="3595116"/>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noIce</a:t>
            </a:r>
            <a:r>
              <a:rPr sz="2000">
                <a:solidFill>
                  <a:srgbClr val="666666"/>
                </a:solidFill>
                <a:latin typeface="Courier New"/>
              </a:rPr>
              <a:t xml:space="preserve">)</a:t>
            </a:r>
          </a:p>
        </p:txBody>
      </p:sp>
      <p:sp>
        <p:nvSpPr>
          <p:cNvPr id="15" name="Printed output 0:4"/>
          <p:cNvSpPr txBox="1"/>
          <p:nvPr/>
        </p:nvSpPr>
        <p:spPr>
          <a:xfrm>
            <a:off x="8366760" y="3620516"/>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7" name="Pi515 accent"/>
          <p:cNvSpPr/>
          <p:nvPr/>
        </p:nvSpPr>
        <p:spPr>
          <a:xfrm>
            <a:off x="0" y="0"/>
            <a:ext cx="12192000" cy="54864"/>
          </a:xfrm>
          <a:prstGeom prst="rect">
            <a:avLst/>
          </a:prstGeom>
          <a:solidFill>
            <a:srgbClr val="39DC78"/>
          </a:solidFill>
          <a:ln>
            <a:noFill/>
          </a:ln>
        </p:spPr>
      </p:sp>
      <p:sp>
        <p:nvSpPr>
          <p:cNvPr id="18"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 RESULTS</a:t>
            </a:r>
          </a:p>
        </p:txBody>
      </p:sp>
      <p:sp>
        <p:nvSpPr>
          <p:cNvPr id="19" name="Footer rule"/>
          <p:cNvSpPr/>
          <p:nvPr/>
        </p:nvSpPr>
        <p:spPr>
          <a:xfrm>
            <a:off x="594360" y="6400800"/>
            <a:ext cx="10972800" cy="10973"/>
          </a:xfrm>
          <a:prstGeom prst="rect">
            <a:avLst/>
          </a:prstGeom>
          <a:solidFill>
            <a:srgbClr val="E6E6E6"/>
          </a:solidFill>
          <a:ln>
            <a:noFill/>
          </a:ln>
        </p:spPr>
      </p:sp>
      <p:sp>
        <p:nvSpPr>
          <p:cNvPr id="20"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46</a:t>
            </a:r>
          </a:p>
        </p:txBody>
      </p:sp>
      <p:pic>
        <p:nvPicPr>
          <p:cNvPr id="21"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Methods, chaining, and immutability</a:t>
            </a:r>
          </a:p>
        </p:txBody>
      </p:sp>
      <p:sp>
        <p:nvSpPr>
          <p:cNvPr id="16" name="Printed output panel 0"/>
          <p:cNvSpPr/>
          <p:nvPr/>
        </p:nvSpPr>
        <p:spPr>
          <a:xfrm>
            <a:off x="8183880" y="2255520"/>
            <a:ext cx="3383280" cy="1804416"/>
          </a:xfrm>
          <a:prstGeom prst="rect">
            <a:avLst/>
          </a:prstGeom>
          <a:solidFill>
            <a:srgbClr val="EEF6F3"/>
          </a:solidFill>
          <a:ln>
            <a:noFill/>
          </a:ln>
        </p:spPr>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Predict each result. Methods return new strings. The original stays unchanged.</a:t>
            </a:r>
          </a:p>
        </p:txBody>
      </p:sp>
      <p:sp>
        <p:nvSpPr>
          <p:cNvPr id="4" name="Code column header 0"/>
          <p:cNvSpPr txBox="1"/>
          <p:nvPr/>
        </p:nvSpPr>
        <p:spPr>
          <a:xfrm>
            <a:off x="594360" y="23103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3103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5847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5847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noIce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"NoIce"</a:t>
            </a:r>
          </a:p>
        </p:txBody>
      </p:sp>
      <p:sp>
        <p:nvSpPr>
          <p:cNvPr id="8" name="Code number 0:2"/>
          <p:cNvSpPr txBox="1"/>
          <p:nvPr/>
        </p:nvSpPr>
        <p:spPr>
          <a:xfrm>
            <a:off x="164592" y="292150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92150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result</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noIce</a:t>
            </a:r>
            <a:r>
              <a:rPr sz="2000">
                <a:solidFill>
                  <a:srgbClr val="666666"/>
                </a:solidFill>
                <a:latin typeface="Courier New"/>
              </a:rPr>
              <a:t xml:space="preserve">.</a:t>
            </a:r>
            <a:r>
              <a:rPr sz="2000">
                <a:solidFill>
                  <a:srgbClr val="06287E"/>
                </a:solidFill>
                <a:latin typeface="Courier New"/>
              </a:rPr>
              <a:t xml:space="preserve">lower</a:t>
            </a:r>
            <a:r>
              <a:rPr sz="2000">
                <a:solidFill>
                  <a:srgbClr val="666666"/>
                </a:solidFill>
                <a:latin typeface="Courier New"/>
              </a:rPr>
              <a:t xml:space="preserve">(</a:t>
            </a:r>
            <a:r>
              <a:rPr sz="2000">
                <a:solidFill>
                  <a:srgbClr val="666666"/>
                </a:solidFill>
                <a:latin typeface="Courier New"/>
              </a:rPr>
              <a:t xml:space="preserve">)</a:t>
            </a:r>
            <a:r>
              <a:rPr sz="2000">
                <a:solidFill>
                  <a:srgbClr val="666666"/>
                </a:solidFill>
                <a:latin typeface="Courier New"/>
              </a:rPr>
              <a:t xml:space="preserve">.</a:t>
            </a:r>
            <a:r>
              <a:rPr sz="2000">
                <a:solidFill>
                  <a:srgbClr val="06287E"/>
                </a:solidFill>
                <a:latin typeface="Courier New"/>
              </a:rPr>
              <a:t xml:space="preserve">capitalize</a:t>
            </a:r>
            <a:r>
              <a:rPr sz="2000">
                <a:solidFill>
                  <a:srgbClr val="666666"/>
                </a:solidFill>
                <a:latin typeface="Courier New"/>
              </a:rPr>
              <a:t xml:space="preserve">(</a:t>
            </a:r>
            <a:r>
              <a:rPr sz="2000">
                <a:solidFill>
                  <a:srgbClr val="666666"/>
                </a:solidFill>
                <a:latin typeface="Courier New"/>
              </a:rPr>
              <a:t xml:space="preserve">)</a:t>
            </a:r>
          </a:p>
        </p:txBody>
      </p:sp>
      <p:sp>
        <p:nvSpPr>
          <p:cNvPr id="10" name="Code number 0:3"/>
          <p:cNvSpPr txBox="1"/>
          <p:nvPr/>
        </p:nvSpPr>
        <p:spPr>
          <a:xfrm>
            <a:off x="164592" y="325831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1" name="Code line 0:3"/>
          <p:cNvSpPr txBox="1"/>
          <p:nvPr/>
        </p:nvSpPr>
        <p:spPr>
          <a:xfrm>
            <a:off x="594360" y="325831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result</a:t>
            </a:r>
            <a:r>
              <a:rPr sz="2000">
                <a:solidFill>
                  <a:srgbClr val="666666"/>
                </a:solidFill>
                <a:latin typeface="Courier New"/>
              </a:rPr>
              <a:t xml:space="preserve">)</a:t>
            </a:r>
          </a:p>
        </p:txBody>
      </p:sp>
      <p:sp>
        <p:nvSpPr>
          <p:cNvPr id="12" name="Printed output 0:3"/>
          <p:cNvSpPr txBox="1"/>
          <p:nvPr/>
        </p:nvSpPr>
        <p:spPr>
          <a:xfrm>
            <a:off x="8366760" y="328371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Noice</a:t>
            </a:r>
          </a:p>
        </p:txBody>
      </p:sp>
      <p:sp>
        <p:nvSpPr>
          <p:cNvPr id="13" name="Code number 0:4"/>
          <p:cNvSpPr txBox="1"/>
          <p:nvPr/>
        </p:nvSpPr>
        <p:spPr>
          <a:xfrm>
            <a:off x="164592" y="3595116"/>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4</a:t>
            </a:r>
          </a:p>
        </p:txBody>
      </p:sp>
      <p:sp>
        <p:nvSpPr>
          <p:cNvPr id="14" name="Code line 0:4"/>
          <p:cNvSpPr txBox="1"/>
          <p:nvPr/>
        </p:nvSpPr>
        <p:spPr>
          <a:xfrm>
            <a:off x="594360" y="3595116"/>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noIce</a:t>
            </a:r>
            <a:r>
              <a:rPr sz="2000">
                <a:solidFill>
                  <a:srgbClr val="666666"/>
                </a:solidFill>
                <a:latin typeface="Courier New"/>
              </a:rPr>
              <a:t xml:space="preserve">)</a:t>
            </a:r>
          </a:p>
        </p:txBody>
      </p:sp>
      <p:sp>
        <p:nvSpPr>
          <p:cNvPr id="15" name="Printed output 0:4"/>
          <p:cNvSpPr txBox="1"/>
          <p:nvPr/>
        </p:nvSpPr>
        <p:spPr>
          <a:xfrm>
            <a:off x="8366760" y="3620516"/>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NoIce</a:t>
            </a:r>
          </a:p>
        </p:txBody>
      </p:sp>
      <p:sp>
        <p:nvSpPr>
          <p:cNvPr id="17" name="Pi515 accent"/>
          <p:cNvSpPr/>
          <p:nvPr/>
        </p:nvSpPr>
        <p:spPr>
          <a:xfrm>
            <a:off x="0" y="0"/>
            <a:ext cx="12192000" cy="54864"/>
          </a:xfrm>
          <a:prstGeom prst="rect">
            <a:avLst/>
          </a:prstGeom>
          <a:solidFill>
            <a:srgbClr val="39DC78"/>
          </a:solidFill>
          <a:ln>
            <a:noFill/>
          </a:ln>
        </p:spPr>
      </p:sp>
      <p:sp>
        <p:nvSpPr>
          <p:cNvPr id="18"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 RESULTS</a:t>
            </a:r>
          </a:p>
        </p:txBody>
      </p:sp>
      <p:sp>
        <p:nvSpPr>
          <p:cNvPr id="19" name="Footer rule"/>
          <p:cNvSpPr/>
          <p:nvPr/>
        </p:nvSpPr>
        <p:spPr>
          <a:xfrm>
            <a:off x="594360" y="6400800"/>
            <a:ext cx="10972800" cy="10973"/>
          </a:xfrm>
          <a:prstGeom prst="rect">
            <a:avLst/>
          </a:prstGeom>
          <a:solidFill>
            <a:srgbClr val="E6E6E6"/>
          </a:solidFill>
          <a:ln>
            <a:noFill/>
          </a:ln>
        </p:spPr>
      </p:sp>
      <p:sp>
        <p:nvSpPr>
          <p:cNvPr id="20"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47</a:t>
            </a:r>
          </a:p>
        </p:txBody>
      </p:sp>
      <p:pic>
        <p:nvPicPr>
          <p:cNvPr id="21"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Exercise 5 — Methods, chaining, and immutability</a:t>
            </a:r>
          </a:p>
        </p:txBody>
      </p:sp>
      <p:sp>
        <p:nvSpPr>
          <p:cNvPr id="3" name="Body paragraph 3"/>
          <p:cNvSpPr txBox="1"/>
          <p:nvPr/>
        </p:nvSpPr>
        <p:spPr>
          <a:xfrm>
            <a:off x="594360" y="1417320"/>
            <a:ext cx="10972800" cy="106070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Print capitalized, uppercase, and lowercase versions of </a:t>
            </a:r>
            <a:r>
              <a:rPr sz="2200">
                <a:solidFill>
                  <a:srgbClr val="2B2B2B"/>
                </a:solidFill>
                <a:latin typeface="Courier New"/>
              </a:rPr>
              <a:t xml:space="preserve">firstName</a:t>
            </a:r>
            <a:r>
              <a:rPr sz="2200">
                <a:solidFill>
                  <a:srgbClr val="2B2B2B"/>
                </a:solidFill>
                <a:latin typeface="Arial"/>
              </a:rPr>
              <a:t>. Then transform </a:t>
            </a:r>
            <a:r>
              <a:rPr sz="2200">
                <a:solidFill>
                  <a:srgbClr val="4070A0"/>
                </a:solidFill>
                <a:latin typeface="Courier New"/>
              </a:rPr>
              <a:t xml:space="preserve">"NoIce"</a:t>
            </a:r>
            <a:r>
              <a:rPr sz="2200">
                <a:solidFill>
                  <a:srgbClr val="2B2B2B"/>
                </a:solidFill>
                <a:latin typeface="Arial"/>
              </a:rPr>
              <a:t> into </a:t>
            </a:r>
            <a:r>
              <a:rPr sz="2200">
                <a:solidFill>
                  <a:srgbClr val="4070A0"/>
                </a:solidFill>
                <a:latin typeface="Courier New"/>
              </a:rPr>
              <a:t xml:space="preserve">"Noice"</a:t>
            </a:r>
            <a:r>
              <a:rPr sz="2200">
                <a:solidFill>
                  <a:srgbClr val="2B2B2B"/>
                </a:solidFill>
                <a:latin typeface="Arial"/>
              </a:rPr>
              <a:t> in one line. Print the original name afterward.</a:t>
            </a:r>
          </a:p>
        </p:txBody>
      </p:sp>
      <p:sp>
        <p:nvSpPr>
          <p:cNvPr id="4" name="Code number 0:1"/>
          <p:cNvSpPr txBox="1"/>
          <p:nvPr/>
        </p:nvSpPr>
        <p:spPr>
          <a:xfrm>
            <a:off x="164592" y="264566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5" name="Code line 0:1"/>
          <p:cNvSpPr txBox="1"/>
          <p:nvPr/>
        </p:nvSpPr>
        <p:spPr>
          <a:xfrm>
            <a:off x="594360" y="2645664"/>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noIce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"NoIce"</a:t>
            </a:r>
          </a:p>
        </p:txBody>
      </p:sp>
      <p:sp>
        <p:nvSpPr>
          <p:cNvPr id="6" name="Code number 0:2"/>
          <p:cNvSpPr txBox="1"/>
          <p:nvPr/>
        </p:nvSpPr>
        <p:spPr>
          <a:xfrm>
            <a:off x="164592" y="298246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7" name="Code line 0:2"/>
          <p:cNvSpPr txBox="1"/>
          <p:nvPr/>
        </p:nvSpPr>
        <p:spPr>
          <a:xfrm>
            <a:off x="594360" y="2982468"/>
            <a:ext cx="10972800" cy="336804"/>
          </a:xfrm>
          <a:prstGeom prst="rect">
            <a:avLst/>
          </a:prstGeom>
          <a:noFill/>
          <a:ln>
            <a:noFill/>
          </a:ln>
        </p:spPr>
        <p:txBody>
          <a:bodyPr wrap="square" lIns="0" rIns="0" tIns="0" bIns="0">
            <a:noAutofit/>
          </a:bodyPr>
          <a:lstStyle/>
          <a:p>
            <a:pPr marL="0" indent="0" algn="l">
              <a:lnSpc>
                <a:spcPct val="120000"/>
              </a:lnSpc>
              <a:buNone/>
            </a:pPr>
            <a:r>
              <a:rPr sz="2000" i="1">
                <a:solidFill>
                  <a:srgbClr val="555554"/>
                </a:solidFill>
                <a:latin typeface="Courier New"/>
              </a:rPr>
              <a:t xml:space="preserve"># YOUR CODE HERE: try case methods on firstName and noIce.</a:t>
            </a:r>
          </a:p>
        </p:txBody>
      </p:sp>
      <p:sp>
        <p:nvSpPr>
          <p:cNvPr id="8" name="Pi515 accent"/>
          <p:cNvSpPr/>
          <p:nvPr/>
        </p:nvSpPr>
        <p:spPr>
          <a:xfrm>
            <a:off x="0" y="0"/>
            <a:ext cx="12192000" cy="54864"/>
          </a:xfrm>
          <a:prstGeom prst="rect">
            <a:avLst/>
          </a:prstGeom>
          <a:solidFill>
            <a:srgbClr val="39DC78"/>
          </a:solidFill>
          <a:ln>
            <a:noFill/>
          </a:ln>
        </p:spPr>
      </p:sp>
      <p:sp>
        <p:nvSpPr>
          <p:cNvPr id="9"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EXERCISE</a:t>
            </a:r>
          </a:p>
        </p:txBody>
      </p:sp>
      <p:sp>
        <p:nvSpPr>
          <p:cNvPr id="10" name="Footer rule"/>
          <p:cNvSpPr/>
          <p:nvPr/>
        </p:nvSpPr>
        <p:spPr>
          <a:xfrm>
            <a:off x="594360" y="6400800"/>
            <a:ext cx="10972800" cy="10973"/>
          </a:xfrm>
          <a:prstGeom prst="rect">
            <a:avLst/>
          </a:prstGeom>
          <a:solidFill>
            <a:srgbClr val="E6E6E6"/>
          </a:solidFill>
          <a:ln>
            <a:noFill/>
          </a:ln>
        </p:spPr>
      </p:sp>
      <p:sp>
        <p:nvSpPr>
          <p:cNvPr id="11"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48</a:t>
            </a:r>
          </a:p>
        </p:txBody>
      </p:sp>
      <p:pic>
        <p:nvPicPr>
          <p:cNvPr id="12"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negative index</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A position counted from the end of a string. </a:t>
            </a:r>
            <a:r>
              <a:rPr sz="2700">
                <a:solidFill>
                  <a:srgbClr val="666666"/>
                </a:solidFill>
                <a:latin typeface="Courier New"/>
              </a:rPr>
              <a:t xml:space="preserve">-</a:t>
            </a:r>
            <a:r>
              <a:rPr sz="2700">
                <a:solidFill>
                  <a:srgbClr val="208050"/>
                </a:solidFill>
                <a:latin typeface="Courier New"/>
              </a:rPr>
              <a:t xml:space="preserve">1</a:t>
            </a:r>
            <a:r>
              <a:rPr sz="2700">
                <a:solidFill>
                  <a:srgbClr val="2B2B2B"/>
                </a:solidFill>
                <a:latin typeface="Arial"/>
              </a:rPr>
              <a:t> selects its last character.</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"Something"</a:t>
            </a:r>
            <a:r>
              <a:rPr sz="2000">
                <a:solidFill>
                  <a:srgbClr val="666666"/>
                </a:solidFill>
                <a:latin typeface="Courier New"/>
              </a:rPr>
              <a:t xml:space="preserve">[</a:t>
            </a:r>
            <a:r>
              <a:rPr sz="2000">
                <a:solidFill>
                  <a:srgbClr val="666666"/>
                </a:solidFill>
                <a:latin typeface="Courier New"/>
              </a:rPr>
              <a:t xml:space="preserve">-</a:t>
            </a:r>
            <a:r>
              <a:rPr sz="2000">
                <a:solidFill>
                  <a:srgbClr val="208050"/>
                </a:solidFill>
                <a:latin typeface="Courier New"/>
              </a:rPr>
              <a:t xml:space="preserve">1</a:t>
            </a:r>
            <a:r>
              <a:rPr sz="2000">
                <a:solidFill>
                  <a:srgbClr val="666666"/>
                </a:solidFill>
                <a:latin typeface="Courier New"/>
              </a:rPr>
              <a:t xml:space="preserve">]</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49</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negative index</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A position counted from the end of a string. </a:t>
            </a:r>
            <a:r>
              <a:rPr sz="2700">
                <a:solidFill>
                  <a:srgbClr val="666666"/>
                </a:solidFill>
                <a:latin typeface="Courier New"/>
              </a:rPr>
              <a:t xml:space="preserve">-</a:t>
            </a:r>
            <a:r>
              <a:rPr sz="2700">
                <a:solidFill>
                  <a:srgbClr val="208050"/>
                </a:solidFill>
                <a:latin typeface="Courier New"/>
              </a:rPr>
              <a:t xml:space="preserve">1</a:t>
            </a:r>
            <a:r>
              <a:rPr sz="2700">
                <a:solidFill>
                  <a:srgbClr val="2B2B2B"/>
                </a:solidFill>
                <a:latin typeface="Arial"/>
              </a:rPr>
              <a:t> selects its last character.</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"Something"</a:t>
            </a:r>
            <a:r>
              <a:rPr sz="2000">
                <a:solidFill>
                  <a:srgbClr val="666666"/>
                </a:solidFill>
                <a:latin typeface="Courier New"/>
              </a:rPr>
              <a:t xml:space="preserve">[</a:t>
            </a:r>
            <a:r>
              <a:rPr sz="2000">
                <a:solidFill>
                  <a:srgbClr val="666666"/>
                </a:solidFill>
                <a:latin typeface="Courier New"/>
              </a:rPr>
              <a:t xml:space="preserve">-</a:t>
            </a:r>
            <a:r>
              <a:rPr sz="2000">
                <a:solidFill>
                  <a:srgbClr val="208050"/>
                </a:solidFill>
                <a:latin typeface="Courier New"/>
              </a:rPr>
              <a:t xml:space="preserve">1</a:t>
            </a:r>
            <a:r>
              <a:rPr sz="2000">
                <a:solidFill>
                  <a:srgbClr val="666666"/>
                </a:solidFill>
                <a:latin typeface="Courier New"/>
              </a:rPr>
              <a:t xml:space="preserve">]</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g</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50</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Practice reference: omitted bounds and negative indices</a:t>
            </a:r>
          </a:p>
        </p:txBody>
      </p:sp>
      <p:sp>
        <p:nvSpPr>
          <p:cNvPr id="17" name="Printed output panel 0"/>
          <p:cNvSpPr/>
          <p:nvPr/>
        </p:nvSpPr>
        <p:spPr>
          <a:xfrm>
            <a:off x="8183880" y="2255520"/>
            <a:ext cx="3383280" cy="1804416"/>
          </a:xfrm>
          <a:prstGeom prst="rect">
            <a:avLst/>
          </a:prstGeom>
          <a:solidFill>
            <a:srgbClr val="EEF6F3"/>
          </a:solidFill>
          <a:ln>
            <a:noFill/>
          </a:ln>
        </p:spPr>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Omit a bound to use that end of the string. Negative indices count from the end. </a:t>
            </a:r>
            <a:r>
              <a:rPr sz="2200">
                <a:solidFill>
                  <a:srgbClr val="666666"/>
                </a:solidFill>
                <a:latin typeface="Courier New"/>
              </a:rPr>
              <a:t xml:space="preserve">-</a:t>
            </a:r>
            <a:r>
              <a:rPr sz="2200">
                <a:solidFill>
                  <a:srgbClr val="208050"/>
                </a:solidFill>
                <a:latin typeface="Courier New"/>
              </a:rPr>
              <a:t xml:space="preserve">1</a:t>
            </a:r>
            <a:r>
              <a:rPr sz="2200">
                <a:solidFill>
                  <a:srgbClr val="2B2B2B"/>
                </a:solidFill>
                <a:latin typeface="Arial"/>
              </a:rPr>
              <a:t> is the last character.</a:t>
            </a:r>
          </a:p>
        </p:txBody>
      </p:sp>
      <p:sp>
        <p:nvSpPr>
          <p:cNvPr id="4" name="Code column header 0"/>
          <p:cNvSpPr txBox="1"/>
          <p:nvPr/>
        </p:nvSpPr>
        <p:spPr>
          <a:xfrm>
            <a:off x="594360" y="23103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3103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5847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5847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something</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"Something"</a:t>
            </a:r>
          </a:p>
        </p:txBody>
      </p:sp>
      <p:sp>
        <p:nvSpPr>
          <p:cNvPr id="8" name="Code number 0:2"/>
          <p:cNvSpPr txBox="1"/>
          <p:nvPr/>
        </p:nvSpPr>
        <p:spPr>
          <a:xfrm>
            <a:off x="164592" y="292150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92150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something</a:t>
            </a:r>
            <a:r>
              <a:rPr sz="2000">
                <a:solidFill>
                  <a:srgbClr val="666666"/>
                </a:solidFill>
                <a:latin typeface="Courier New"/>
              </a:rPr>
              <a:t xml:space="preserve">[</a:t>
            </a:r>
            <a:r>
              <a:rPr sz="2000">
                <a:solidFill>
                  <a:srgbClr val="666666"/>
                </a:solidFill>
                <a:latin typeface="Courier New"/>
              </a:rPr>
              <a:t xml:space="preserve">:</a:t>
            </a:r>
            <a:r>
              <a:rPr sz="2000">
                <a:solidFill>
                  <a:srgbClr val="208050"/>
                </a:solidFill>
                <a:latin typeface="Courier New"/>
              </a:rPr>
              <a:t xml:space="preserve">4</a:t>
            </a:r>
            <a:r>
              <a:rPr sz="2000">
                <a:solidFill>
                  <a:srgbClr val="666666"/>
                </a:solidFill>
                <a:latin typeface="Courier New"/>
              </a:rPr>
              <a:t xml:space="preserve">]</a:t>
            </a:r>
            <a:r>
              <a:rPr sz="2000">
                <a:solidFill>
                  <a:srgbClr val="666666"/>
                </a:solidFill>
                <a:latin typeface="Courier New"/>
              </a:rPr>
              <a:t xml:space="preserve">)</a:t>
            </a:r>
          </a:p>
        </p:txBody>
      </p:sp>
      <p:sp>
        <p:nvSpPr>
          <p:cNvPr id="10" name="Printed output 0:2"/>
          <p:cNvSpPr txBox="1"/>
          <p:nvPr/>
        </p:nvSpPr>
        <p:spPr>
          <a:xfrm>
            <a:off x="8366760" y="2946908"/>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1" name="Code number 0:3"/>
          <p:cNvSpPr txBox="1"/>
          <p:nvPr/>
        </p:nvSpPr>
        <p:spPr>
          <a:xfrm>
            <a:off x="164592" y="325831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2" name="Code line 0:3"/>
          <p:cNvSpPr txBox="1"/>
          <p:nvPr/>
        </p:nvSpPr>
        <p:spPr>
          <a:xfrm>
            <a:off x="594360" y="325831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something</a:t>
            </a:r>
            <a:r>
              <a:rPr sz="2000">
                <a:solidFill>
                  <a:srgbClr val="666666"/>
                </a:solidFill>
                <a:latin typeface="Courier New"/>
              </a:rPr>
              <a:t xml:space="preserve">[</a:t>
            </a:r>
            <a:r>
              <a:rPr sz="2000">
                <a:solidFill>
                  <a:srgbClr val="208050"/>
                </a:solidFill>
                <a:latin typeface="Courier New"/>
              </a:rPr>
              <a:t xml:space="preserve">4</a:t>
            </a:r>
            <a:r>
              <a:rPr sz="2000">
                <a:solidFill>
                  <a:srgbClr val="666666"/>
                </a:solidFill>
                <a:latin typeface="Courier New"/>
              </a:rPr>
              <a:t xml:space="preserve">:</a:t>
            </a:r>
            <a:r>
              <a:rPr sz="2000">
                <a:solidFill>
                  <a:srgbClr val="666666"/>
                </a:solidFill>
                <a:latin typeface="Courier New"/>
              </a:rPr>
              <a:t xml:space="preserve">]</a:t>
            </a:r>
            <a:r>
              <a:rPr sz="2000">
                <a:solidFill>
                  <a:srgbClr val="666666"/>
                </a:solidFill>
                <a:latin typeface="Courier New"/>
              </a:rPr>
              <a:t xml:space="preserve">)</a:t>
            </a:r>
          </a:p>
        </p:txBody>
      </p:sp>
      <p:sp>
        <p:nvSpPr>
          <p:cNvPr id="13" name="Printed output 0:3"/>
          <p:cNvSpPr txBox="1"/>
          <p:nvPr/>
        </p:nvSpPr>
        <p:spPr>
          <a:xfrm>
            <a:off x="8366760" y="328371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4" name="Code number 0:4"/>
          <p:cNvSpPr txBox="1"/>
          <p:nvPr/>
        </p:nvSpPr>
        <p:spPr>
          <a:xfrm>
            <a:off x="164592" y="3595116"/>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4</a:t>
            </a:r>
          </a:p>
        </p:txBody>
      </p:sp>
      <p:sp>
        <p:nvSpPr>
          <p:cNvPr id="15" name="Code line 0:4"/>
          <p:cNvSpPr txBox="1"/>
          <p:nvPr/>
        </p:nvSpPr>
        <p:spPr>
          <a:xfrm>
            <a:off x="594360" y="3595116"/>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something</a:t>
            </a:r>
            <a:r>
              <a:rPr sz="2000">
                <a:solidFill>
                  <a:srgbClr val="666666"/>
                </a:solidFill>
                <a:latin typeface="Courier New"/>
              </a:rPr>
              <a:t xml:space="preserve">[</a:t>
            </a:r>
            <a:r>
              <a:rPr sz="2000">
                <a:solidFill>
                  <a:srgbClr val="666666"/>
                </a:solidFill>
                <a:latin typeface="Courier New"/>
              </a:rPr>
              <a:t xml:space="preserve">-</a:t>
            </a:r>
            <a:r>
              <a:rPr sz="2000">
                <a:solidFill>
                  <a:srgbClr val="208050"/>
                </a:solidFill>
                <a:latin typeface="Courier New"/>
              </a:rPr>
              <a:t xml:space="preserve">5</a:t>
            </a:r>
            <a:r>
              <a:rPr sz="2000">
                <a:solidFill>
                  <a:srgbClr val="666666"/>
                </a:solidFill>
                <a:latin typeface="Courier New"/>
              </a:rPr>
              <a:t xml:space="preserve">:</a:t>
            </a:r>
            <a:r>
              <a:rPr sz="2000">
                <a:solidFill>
                  <a:srgbClr val="666666"/>
                </a:solidFill>
                <a:latin typeface="Courier New"/>
              </a:rPr>
              <a:t xml:space="preserve">]</a:t>
            </a:r>
            <a:r>
              <a:rPr sz="2000">
                <a:solidFill>
                  <a:srgbClr val="666666"/>
                </a:solidFill>
                <a:latin typeface="Courier New"/>
              </a:rPr>
              <a:t xml:space="preserve">)</a:t>
            </a:r>
          </a:p>
        </p:txBody>
      </p:sp>
      <p:sp>
        <p:nvSpPr>
          <p:cNvPr id="16" name="Printed output 0:4"/>
          <p:cNvSpPr txBox="1"/>
          <p:nvPr/>
        </p:nvSpPr>
        <p:spPr>
          <a:xfrm>
            <a:off x="8366760" y="3620516"/>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8" name="Pi515 accent"/>
          <p:cNvSpPr/>
          <p:nvPr/>
        </p:nvSpPr>
        <p:spPr>
          <a:xfrm>
            <a:off x="0" y="0"/>
            <a:ext cx="12192000" cy="54864"/>
          </a:xfrm>
          <a:prstGeom prst="rect">
            <a:avLst/>
          </a:prstGeom>
          <a:solidFill>
            <a:srgbClr val="39DC78"/>
          </a:solidFill>
          <a:ln>
            <a:noFill/>
          </a:ln>
        </p:spPr>
      </p:sp>
      <p:sp>
        <p:nvSpPr>
          <p:cNvPr id="19"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20" name="Footer rule"/>
          <p:cNvSpPr/>
          <p:nvPr/>
        </p:nvSpPr>
        <p:spPr>
          <a:xfrm>
            <a:off x="594360" y="6400800"/>
            <a:ext cx="10972800" cy="10973"/>
          </a:xfrm>
          <a:prstGeom prst="rect">
            <a:avLst/>
          </a:prstGeom>
          <a:solidFill>
            <a:srgbClr val="E6E6E6"/>
          </a:solidFill>
          <a:ln>
            <a:noFill/>
          </a:ln>
        </p:spPr>
      </p:sp>
      <p:sp>
        <p:nvSpPr>
          <p:cNvPr id="21"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51</a:t>
            </a:r>
          </a:p>
        </p:txBody>
      </p:sp>
      <p:pic>
        <p:nvPicPr>
          <p:cNvPr id="22"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Practice reference: omitted bounds and negative indices</a:t>
            </a:r>
          </a:p>
        </p:txBody>
      </p:sp>
      <p:sp>
        <p:nvSpPr>
          <p:cNvPr id="17" name="Printed output panel 0"/>
          <p:cNvSpPr/>
          <p:nvPr/>
        </p:nvSpPr>
        <p:spPr>
          <a:xfrm>
            <a:off x="8183880" y="2255520"/>
            <a:ext cx="3383280" cy="1804416"/>
          </a:xfrm>
          <a:prstGeom prst="rect">
            <a:avLst/>
          </a:prstGeom>
          <a:solidFill>
            <a:srgbClr val="EEF6F3"/>
          </a:solidFill>
          <a:ln>
            <a:noFill/>
          </a:ln>
        </p:spPr>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Omit a bound to use that end of the string. Negative indices count from the end. </a:t>
            </a:r>
            <a:r>
              <a:rPr sz="2200">
                <a:solidFill>
                  <a:srgbClr val="666666"/>
                </a:solidFill>
                <a:latin typeface="Courier New"/>
              </a:rPr>
              <a:t xml:space="preserve">-</a:t>
            </a:r>
            <a:r>
              <a:rPr sz="2200">
                <a:solidFill>
                  <a:srgbClr val="208050"/>
                </a:solidFill>
                <a:latin typeface="Courier New"/>
              </a:rPr>
              <a:t xml:space="preserve">1</a:t>
            </a:r>
            <a:r>
              <a:rPr sz="2200">
                <a:solidFill>
                  <a:srgbClr val="2B2B2B"/>
                </a:solidFill>
                <a:latin typeface="Arial"/>
              </a:rPr>
              <a:t> is the last character.</a:t>
            </a:r>
          </a:p>
        </p:txBody>
      </p:sp>
      <p:sp>
        <p:nvSpPr>
          <p:cNvPr id="4" name="Code column header 0"/>
          <p:cNvSpPr txBox="1"/>
          <p:nvPr/>
        </p:nvSpPr>
        <p:spPr>
          <a:xfrm>
            <a:off x="594360" y="23103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3103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5847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5847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something</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"Something"</a:t>
            </a:r>
          </a:p>
        </p:txBody>
      </p:sp>
      <p:sp>
        <p:nvSpPr>
          <p:cNvPr id="8" name="Code number 0:2"/>
          <p:cNvSpPr txBox="1"/>
          <p:nvPr/>
        </p:nvSpPr>
        <p:spPr>
          <a:xfrm>
            <a:off x="164592" y="292150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92150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something</a:t>
            </a:r>
            <a:r>
              <a:rPr sz="2000">
                <a:solidFill>
                  <a:srgbClr val="666666"/>
                </a:solidFill>
                <a:latin typeface="Courier New"/>
              </a:rPr>
              <a:t xml:space="preserve">[</a:t>
            </a:r>
            <a:r>
              <a:rPr sz="2000">
                <a:solidFill>
                  <a:srgbClr val="666666"/>
                </a:solidFill>
                <a:latin typeface="Courier New"/>
              </a:rPr>
              <a:t xml:space="preserve">:</a:t>
            </a:r>
            <a:r>
              <a:rPr sz="2000">
                <a:solidFill>
                  <a:srgbClr val="208050"/>
                </a:solidFill>
                <a:latin typeface="Courier New"/>
              </a:rPr>
              <a:t xml:space="preserve">4</a:t>
            </a:r>
            <a:r>
              <a:rPr sz="2000">
                <a:solidFill>
                  <a:srgbClr val="666666"/>
                </a:solidFill>
                <a:latin typeface="Courier New"/>
              </a:rPr>
              <a:t xml:space="preserve">]</a:t>
            </a:r>
            <a:r>
              <a:rPr sz="2000">
                <a:solidFill>
                  <a:srgbClr val="666666"/>
                </a:solidFill>
                <a:latin typeface="Courier New"/>
              </a:rPr>
              <a:t xml:space="preserve">)</a:t>
            </a:r>
          </a:p>
        </p:txBody>
      </p:sp>
      <p:sp>
        <p:nvSpPr>
          <p:cNvPr id="10" name="Printed output 0:2"/>
          <p:cNvSpPr txBox="1"/>
          <p:nvPr/>
        </p:nvSpPr>
        <p:spPr>
          <a:xfrm>
            <a:off x="8366760" y="2946908"/>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Some</a:t>
            </a:r>
          </a:p>
        </p:txBody>
      </p:sp>
      <p:sp>
        <p:nvSpPr>
          <p:cNvPr id="11" name="Code number 0:3"/>
          <p:cNvSpPr txBox="1"/>
          <p:nvPr/>
        </p:nvSpPr>
        <p:spPr>
          <a:xfrm>
            <a:off x="164592" y="325831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2" name="Code line 0:3"/>
          <p:cNvSpPr txBox="1"/>
          <p:nvPr/>
        </p:nvSpPr>
        <p:spPr>
          <a:xfrm>
            <a:off x="594360" y="325831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something</a:t>
            </a:r>
            <a:r>
              <a:rPr sz="2000">
                <a:solidFill>
                  <a:srgbClr val="666666"/>
                </a:solidFill>
                <a:latin typeface="Courier New"/>
              </a:rPr>
              <a:t xml:space="preserve">[</a:t>
            </a:r>
            <a:r>
              <a:rPr sz="2000">
                <a:solidFill>
                  <a:srgbClr val="208050"/>
                </a:solidFill>
                <a:latin typeface="Courier New"/>
              </a:rPr>
              <a:t xml:space="preserve">4</a:t>
            </a:r>
            <a:r>
              <a:rPr sz="2000">
                <a:solidFill>
                  <a:srgbClr val="666666"/>
                </a:solidFill>
                <a:latin typeface="Courier New"/>
              </a:rPr>
              <a:t xml:space="preserve">:</a:t>
            </a:r>
            <a:r>
              <a:rPr sz="2000">
                <a:solidFill>
                  <a:srgbClr val="666666"/>
                </a:solidFill>
                <a:latin typeface="Courier New"/>
              </a:rPr>
              <a:t xml:space="preserve">]</a:t>
            </a:r>
            <a:r>
              <a:rPr sz="2000">
                <a:solidFill>
                  <a:srgbClr val="666666"/>
                </a:solidFill>
                <a:latin typeface="Courier New"/>
              </a:rPr>
              <a:t xml:space="preserve">)</a:t>
            </a:r>
          </a:p>
        </p:txBody>
      </p:sp>
      <p:sp>
        <p:nvSpPr>
          <p:cNvPr id="13" name="Printed output 0:3"/>
          <p:cNvSpPr txBox="1"/>
          <p:nvPr/>
        </p:nvSpPr>
        <p:spPr>
          <a:xfrm>
            <a:off x="8366760" y="328371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thing</a:t>
            </a:r>
          </a:p>
        </p:txBody>
      </p:sp>
      <p:sp>
        <p:nvSpPr>
          <p:cNvPr id="14" name="Code number 0:4"/>
          <p:cNvSpPr txBox="1"/>
          <p:nvPr/>
        </p:nvSpPr>
        <p:spPr>
          <a:xfrm>
            <a:off x="164592" y="3595116"/>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4</a:t>
            </a:r>
          </a:p>
        </p:txBody>
      </p:sp>
      <p:sp>
        <p:nvSpPr>
          <p:cNvPr id="15" name="Code line 0:4"/>
          <p:cNvSpPr txBox="1"/>
          <p:nvPr/>
        </p:nvSpPr>
        <p:spPr>
          <a:xfrm>
            <a:off x="594360" y="3595116"/>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something</a:t>
            </a:r>
            <a:r>
              <a:rPr sz="2000">
                <a:solidFill>
                  <a:srgbClr val="666666"/>
                </a:solidFill>
                <a:latin typeface="Courier New"/>
              </a:rPr>
              <a:t xml:space="preserve">[</a:t>
            </a:r>
            <a:r>
              <a:rPr sz="2000">
                <a:solidFill>
                  <a:srgbClr val="666666"/>
                </a:solidFill>
                <a:latin typeface="Courier New"/>
              </a:rPr>
              <a:t xml:space="preserve">-</a:t>
            </a:r>
            <a:r>
              <a:rPr sz="2000">
                <a:solidFill>
                  <a:srgbClr val="208050"/>
                </a:solidFill>
                <a:latin typeface="Courier New"/>
              </a:rPr>
              <a:t xml:space="preserve">5</a:t>
            </a:r>
            <a:r>
              <a:rPr sz="2000">
                <a:solidFill>
                  <a:srgbClr val="666666"/>
                </a:solidFill>
                <a:latin typeface="Courier New"/>
              </a:rPr>
              <a:t xml:space="preserve">:</a:t>
            </a:r>
            <a:r>
              <a:rPr sz="2000">
                <a:solidFill>
                  <a:srgbClr val="666666"/>
                </a:solidFill>
                <a:latin typeface="Courier New"/>
              </a:rPr>
              <a:t xml:space="preserve">]</a:t>
            </a:r>
            <a:r>
              <a:rPr sz="2000">
                <a:solidFill>
                  <a:srgbClr val="666666"/>
                </a:solidFill>
                <a:latin typeface="Courier New"/>
              </a:rPr>
              <a:t xml:space="preserve">)</a:t>
            </a:r>
          </a:p>
        </p:txBody>
      </p:sp>
      <p:sp>
        <p:nvSpPr>
          <p:cNvPr id="16" name="Printed output 0:4"/>
          <p:cNvSpPr txBox="1"/>
          <p:nvPr/>
        </p:nvSpPr>
        <p:spPr>
          <a:xfrm>
            <a:off x="8366760" y="3620516"/>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thing</a:t>
            </a:r>
          </a:p>
        </p:txBody>
      </p:sp>
      <p:sp>
        <p:nvSpPr>
          <p:cNvPr id="18" name="Pi515 accent"/>
          <p:cNvSpPr/>
          <p:nvPr/>
        </p:nvSpPr>
        <p:spPr>
          <a:xfrm>
            <a:off x="0" y="0"/>
            <a:ext cx="12192000" cy="54864"/>
          </a:xfrm>
          <a:prstGeom prst="rect">
            <a:avLst/>
          </a:prstGeom>
          <a:solidFill>
            <a:srgbClr val="39DC78"/>
          </a:solidFill>
          <a:ln>
            <a:noFill/>
          </a:ln>
        </p:spPr>
      </p:sp>
      <p:sp>
        <p:nvSpPr>
          <p:cNvPr id="19"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20" name="Footer rule"/>
          <p:cNvSpPr/>
          <p:nvPr/>
        </p:nvSpPr>
        <p:spPr>
          <a:xfrm>
            <a:off x="594360" y="6400800"/>
            <a:ext cx="10972800" cy="10973"/>
          </a:xfrm>
          <a:prstGeom prst="rect">
            <a:avLst/>
          </a:prstGeom>
          <a:solidFill>
            <a:srgbClr val="E6E6E6"/>
          </a:solidFill>
          <a:ln>
            <a:noFill/>
          </a:ln>
        </p:spPr>
      </p:sp>
      <p:sp>
        <p:nvSpPr>
          <p:cNvPr id="21"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52</a:t>
            </a:r>
          </a:p>
        </p:txBody>
      </p:sp>
      <p:pic>
        <p:nvPicPr>
          <p:cNvPr id="22"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delimiter</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Text used to separate pieces when splitting or joining a string.</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"No ice"</a:t>
            </a:r>
            <a:r>
              <a:rPr sz="2000">
                <a:solidFill>
                  <a:srgbClr val="666666"/>
                </a:solidFill>
                <a:latin typeface="Courier New"/>
              </a:rPr>
              <a:t xml:space="preserve">.</a:t>
            </a:r>
            <a:r>
              <a:rPr sz="2000">
                <a:solidFill>
                  <a:srgbClr val="06287E"/>
                </a:solidFill>
                <a:latin typeface="Courier New"/>
              </a:rPr>
              <a:t xml:space="preserve">split</a:t>
            </a:r>
            <a:r>
              <a:rPr sz="2000">
                <a:solidFill>
                  <a:srgbClr val="666666"/>
                </a:solidFill>
                <a:latin typeface="Courier New"/>
              </a:rPr>
              <a:t xml:space="preserve">(</a:t>
            </a:r>
            <a:r>
              <a:rPr sz="2000">
                <a:solidFill>
                  <a:srgbClr val="4070A0"/>
                </a:solidFill>
                <a:latin typeface="Courier New"/>
              </a:rPr>
              <a:t xml:space="preserve">" "</a:t>
            </a:r>
            <a:r>
              <a:rPr sz="2000">
                <a:solidFill>
                  <a:srgbClr val="666666"/>
                </a:solidFill>
                <a:latin typeface="Courier New"/>
              </a:rPr>
              <a:t xml:space="preserve">)</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53</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delimiter</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Text used to separate pieces when splitting or joining a string.</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"No ice"</a:t>
            </a:r>
            <a:r>
              <a:rPr sz="2000">
                <a:solidFill>
                  <a:srgbClr val="666666"/>
                </a:solidFill>
                <a:latin typeface="Courier New"/>
              </a:rPr>
              <a:t xml:space="preserve">.</a:t>
            </a:r>
            <a:r>
              <a:rPr sz="2000">
                <a:solidFill>
                  <a:srgbClr val="06287E"/>
                </a:solidFill>
                <a:latin typeface="Courier New"/>
              </a:rPr>
              <a:t xml:space="preserve">split</a:t>
            </a:r>
            <a:r>
              <a:rPr sz="2000">
                <a:solidFill>
                  <a:srgbClr val="666666"/>
                </a:solidFill>
                <a:latin typeface="Courier New"/>
              </a:rPr>
              <a:t xml:space="preserve">(</a:t>
            </a:r>
            <a:r>
              <a:rPr sz="2000">
                <a:solidFill>
                  <a:srgbClr val="4070A0"/>
                </a:solidFill>
                <a:latin typeface="Courier New"/>
              </a:rPr>
              <a:t xml:space="preserve">" "</a:t>
            </a:r>
            <a:r>
              <a:rPr sz="2000">
                <a:solidFill>
                  <a:srgbClr val="666666"/>
                </a:solidFill>
                <a:latin typeface="Courier New"/>
              </a:rPr>
              <a:t xml:space="preserve">)</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['No', 'ice']</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54</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list</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An ordered collection of values. </a:t>
            </a:r>
            <a:r>
              <a:rPr sz="2700">
                <a:solidFill>
                  <a:srgbClr val="06287E"/>
                </a:solidFill>
                <a:latin typeface="Courier New"/>
              </a:rPr>
              <a:t xml:space="preserve">split</a:t>
            </a:r>
            <a:r>
              <a:rPr sz="2700">
                <a:solidFill>
                  <a:srgbClr val="2B2B2B"/>
                </a:solidFill>
                <a:latin typeface="Arial"/>
              </a:rPr>
              <a:t> returns a list of string pieces.</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"No ice"</a:t>
            </a:r>
            <a:r>
              <a:rPr sz="2000">
                <a:solidFill>
                  <a:srgbClr val="666666"/>
                </a:solidFill>
                <a:latin typeface="Courier New"/>
              </a:rPr>
              <a:t xml:space="preserve">.</a:t>
            </a:r>
            <a:r>
              <a:rPr sz="2000">
                <a:solidFill>
                  <a:srgbClr val="06287E"/>
                </a:solidFill>
                <a:latin typeface="Courier New"/>
              </a:rPr>
              <a:t xml:space="preserve">split</a:t>
            </a:r>
            <a:r>
              <a:rPr sz="2000">
                <a:solidFill>
                  <a:srgbClr val="666666"/>
                </a:solidFill>
                <a:latin typeface="Courier New"/>
              </a:rPr>
              <a:t xml:space="preserve">(</a:t>
            </a:r>
            <a:r>
              <a:rPr sz="2000">
                <a:solidFill>
                  <a:srgbClr val="4070A0"/>
                </a:solidFill>
                <a:latin typeface="Courier New"/>
              </a:rPr>
              <a:t xml:space="preserve">" "</a:t>
            </a:r>
            <a:r>
              <a:rPr sz="2000">
                <a:solidFill>
                  <a:srgbClr val="666666"/>
                </a:solidFill>
                <a:latin typeface="Courier New"/>
              </a:rPr>
              <a:t xml:space="preserve">)</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55</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list</a:t>
            </a:r>
          </a:p>
        </p:txBody>
      </p:sp>
      <p:sp>
        <p:nvSpPr>
          <p:cNvPr id="9" name="Printed output panel 0"/>
          <p:cNvSpPr/>
          <p:nvPr/>
        </p:nvSpPr>
        <p:spPr>
          <a:xfrm>
            <a:off x="8183880" y="2446020"/>
            <a:ext cx="3383280" cy="794004"/>
          </a:xfrm>
          <a:prstGeom prst="rect">
            <a:avLst/>
          </a:prstGeom>
          <a:solidFill>
            <a:srgbClr val="EEF6F3"/>
          </a:solidFill>
          <a:ln>
            <a:noFill/>
          </a:ln>
        </p:spPr>
      </p:sp>
      <p:sp>
        <p:nvSpPr>
          <p:cNvPr id="3" name="Body paragraph 3"/>
          <p:cNvSpPr txBox="1"/>
          <p:nvPr/>
        </p:nvSpPr>
        <p:spPr>
          <a:xfrm>
            <a:off x="594360" y="1417320"/>
            <a:ext cx="10972800" cy="877824"/>
          </a:xfrm>
          <a:prstGeom prst="rect">
            <a:avLst/>
          </a:prstGeom>
          <a:noFill/>
          <a:ln>
            <a:noFill/>
          </a:ln>
        </p:spPr>
        <p:txBody>
          <a:bodyPr wrap="square" lIns="0" rIns="0" tIns="0" bIns="0">
            <a:noAutofit/>
          </a:bodyPr>
          <a:lstStyle/>
          <a:p>
            <a:pPr marL="0" indent="0">
              <a:lnSpc>
                <a:spcPct val="120000"/>
              </a:lnSpc>
              <a:buNone/>
            </a:pPr>
            <a:r>
              <a:rPr sz="2700">
                <a:solidFill>
                  <a:srgbClr val="2B2B2B"/>
                </a:solidFill>
                <a:latin typeface="Arial"/>
              </a:rPr>
              <a:t>An ordered collection of values. </a:t>
            </a:r>
            <a:r>
              <a:rPr sz="2700">
                <a:solidFill>
                  <a:srgbClr val="06287E"/>
                </a:solidFill>
                <a:latin typeface="Courier New"/>
              </a:rPr>
              <a:t xml:space="preserve">split</a:t>
            </a:r>
            <a:r>
              <a:rPr sz="2700">
                <a:solidFill>
                  <a:srgbClr val="2B2B2B"/>
                </a:solidFill>
                <a:latin typeface="Arial"/>
              </a:rPr>
              <a:t> returns a list of string pieces.</a:t>
            </a:r>
          </a:p>
        </p:txBody>
      </p:sp>
      <p:sp>
        <p:nvSpPr>
          <p:cNvPr id="4" name="Code column header 0"/>
          <p:cNvSpPr txBox="1"/>
          <p:nvPr/>
        </p:nvSpPr>
        <p:spPr>
          <a:xfrm>
            <a:off x="594360" y="25008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5008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7752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7752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"No ice"</a:t>
            </a:r>
            <a:r>
              <a:rPr sz="2000">
                <a:solidFill>
                  <a:srgbClr val="666666"/>
                </a:solidFill>
                <a:latin typeface="Courier New"/>
              </a:rPr>
              <a:t xml:space="preserve">.</a:t>
            </a:r>
            <a:r>
              <a:rPr sz="2000">
                <a:solidFill>
                  <a:srgbClr val="06287E"/>
                </a:solidFill>
                <a:latin typeface="Courier New"/>
              </a:rPr>
              <a:t xml:space="preserve">split</a:t>
            </a:r>
            <a:r>
              <a:rPr sz="2000">
                <a:solidFill>
                  <a:srgbClr val="666666"/>
                </a:solidFill>
                <a:latin typeface="Courier New"/>
              </a:rPr>
              <a:t xml:space="preserve">(</a:t>
            </a:r>
            <a:r>
              <a:rPr sz="2000">
                <a:solidFill>
                  <a:srgbClr val="4070A0"/>
                </a:solidFill>
                <a:latin typeface="Courier New"/>
              </a:rPr>
              <a:t xml:space="preserve">" "</a:t>
            </a:r>
            <a:r>
              <a:rPr sz="2000">
                <a:solidFill>
                  <a:srgbClr val="666666"/>
                </a:solidFill>
                <a:latin typeface="Courier New"/>
              </a:rPr>
              <a:t xml:space="preserve">)</a:t>
            </a:r>
            <a:r>
              <a:rPr sz="2000">
                <a:solidFill>
                  <a:srgbClr val="666666"/>
                </a:solidFill>
                <a:latin typeface="Courier New"/>
              </a:rPr>
              <a:t xml:space="preserve">)</a:t>
            </a:r>
          </a:p>
        </p:txBody>
      </p:sp>
      <p:sp>
        <p:nvSpPr>
          <p:cNvPr id="8" name="Printed output 0:1"/>
          <p:cNvSpPr txBox="1"/>
          <p:nvPr/>
        </p:nvSpPr>
        <p:spPr>
          <a:xfrm>
            <a:off x="8366760" y="2800604"/>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['No', 'ice']</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TERMINOLOGY</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56</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Practice reference: split, join, and delimiter</a:t>
            </a:r>
          </a:p>
        </p:txBody>
      </p:sp>
      <p:sp>
        <p:nvSpPr>
          <p:cNvPr id="16" name="Printed output panel 0"/>
          <p:cNvSpPr/>
          <p:nvPr/>
        </p:nvSpPr>
        <p:spPr>
          <a:xfrm>
            <a:off x="8183880" y="2255520"/>
            <a:ext cx="3383280" cy="2292096"/>
          </a:xfrm>
          <a:prstGeom prst="rect">
            <a:avLst/>
          </a:prstGeom>
          <a:solidFill>
            <a:srgbClr val="EEF6F3"/>
          </a:solidFill>
          <a:ln>
            <a:noFill/>
          </a:ln>
        </p:spPr>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A </a:t>
            </a:r>
            <a:r>
              <a:rPr sz="2200" b="1">
                <a:solidFill>
                  <a:srgbClr val="2B2B2B"/>
                </a:solidFill>
                <a:latin typeface="Arial"/>
              </a:rPr>
              <a:t>delimiter</a:t>
            </a:r>
            <a:r>
              <a:rPr sz="2200">
                <a:solidFill>
                  <a:srgbClr val="2B2B2B"/>
                </a:solidFill>
                <a:latin typeface="Arial"/>
              </a:rPr>
              <a:t> separates pieces. </a:t>
            </a:r>
            <a:r>
              <a:rPr sz="2200">
                <a:solidFill>
                  <a:srgbClr val="06287E"/>
                </a:solidFill>
                <a:latin typeface="Courier New"/>
              </a:rPr>
              <a:t xml:space="preserve">split</a:t>
            </a:r>
            <a:r>
              <a:rPr sz="2200">
                <a:solidFill>
                  <a:srgbClr val="2B2B2B"/>
                </a:solidFill>
                <a:latin typeface="Arial"/>
              </a:rPr>
              <a:t> returns a list of strings. </a:t>
            </a:r>
            <a:r>
              <a:rPr sz="2200">
                <a:solidFill>
                  <a:srgbClr val="06287E"/>
                </a:solidFill>
                <a:latin typeface="Courier New"/>
              </a:rPr>
              <a:t xml:space="preserve">join</a:t>
            </a:r>
            <a:r>
              <a:rPr sz="2200">
                <a:solidFill>
                  <a:srgbClr val="2B2B2B"/>
                </a:solidFill>
                <a:latin typeface="Arial"/>
              </a:rPr>
              <a:t> combines pieces with the delimiter between them.</a:t>
            </a:r>
          </a:p>
        </p:txBody>
      </p:sp>
      <p:sp>
        <p:nvSpPr>
          <p:cNvPr id="4" name="Code column header 0"/>
          <p:cNvSpPr txBox="1"/>
          <p:nvPr/>
        </p:nvSpPr>
        <p:spPr>
          <a:xfrm>
            <a:off x="594360" y="23103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3103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5847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5847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text</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"Make like a banana and split!"</a:t>
            </a:r>
          </a:p>
        </p:txBody>
      </p:sp>
      <p:sp>
        <p:nvSpPr>
          <p:cNvPr id="8" name="Code number 0:2"/>
          <p:cNvSpPr txBox="1"/>
          <p:nvPr/>
        </p:nvSpPr>
        <p:spPr>
          <a:xfrm>
            <a:off x="164592" y="292150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92150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pieces</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text</a:t>
            </a:r>
            <a:r>
              <a:rPr sz="2000">
                <a:solidFill>
                  <a:srgbClr val="666666"/>
                </a:solidFill>
                <a:latin typeface="Courier New"/>
              </a:rPr>
              <a:t xml:space="preserve">.</a:t>
            </a:r>
            <a:r>
              <a:rPr sz="2000">
                <a:solidFill>
                  <a:srgbClr val="06287E"/>
                </a:solidFill>
                <a:latin typeface="Courier New"/>
              </a:rPr>
              <a:t xml:space="preserve">split</a:t>
            </a:r>
            <a:r>
              <a:rPr sz="2000">
                <a:solidFill>
                  <a:srgbClr val="666666"/>
                </a:solidFill>
                <a:latin typeface="Courier New"/>
              </a:rPr>
              <a:t xml:space="preserve">(</a:t>
            </a:r>
            <a:r>
              <a:rPr sz="2000">
                <a:solidFill>
                  <a:srgbClr val="4070A0"/>
                </a:solidFill>
                <a:latin typeface="Courier New"/>
              </a:rPr>
              <a:t xml:space="preserve">"banana"</a:t>
            </a:r>
            <a:r>
              <a:rPr sz="2000">
                <a:solidFill>
                  <a:srgbClr val="666666"/>
                </a:solidFill>
                <a:latin typeface="Courier New"/>
              </a:rPr>
              <a:t xml:space="preserve">)</a:t>
            </a:r>
          </a:p>
        </p:txBody>
      </p:sp>
      <p:sp>
        <p:nvSpPr>
          <p:cNvPr id="10" name="Code number 0:3"/>
          <p:cNvSpPr txBox="1"/>
          <p:nvPr/>
        </p:nvSpPr>
        <p:spPr>
          <a:xfrm>
            <a:off x="164592" y="3258312"/>
            <a:ext cx="320040" cy="58064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1" name="Code line 0:3"/>
          <p:cNvSpPr txBox="1"/>
          <p:nvPr/>
        </p:nvSpPr>
        <p:spPr>
          <a:xfrm>
            <a:off x="594360" y="3258312"/>
            <a:ext cx="7315200" cy="58064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pieces</a:t>
            </a:r>
            <a:r>
              <a:rPr sz="2000">
                <a:solidFill>
                  <a:srgbClr val="666666"/>
                </a:solidFill>
                <a:latin typeface="Courier New"/>
              </a:rPr>
              <a:t xml:space="preserve">)</a:t>
            </a:r>
          </a:p>
        </p:txBody>
      </p:sp>
      <p:sp>
        <p:nvSpPr>
          <p:cNvPr id="12" name="Printed output 0:3"/>
          <p:cNvSpPr txBox="1"/>
          <p:nvPr/>
        </p:nvSpPr>
        <p:spPr>
          <a:xfrm>
            <a:off x="8366760" y="3283712"/>
            <a:ext cx="3017520" cy="58064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3" name="Code number 0:4"/>
          <p:cNvSpPr txBox="1"/>
          <p:nvPr/>
        </p:nvSpPr>
        <p:spPr>
          <a:xfrm>
            <a:off x="164592" y="3838956"/>
            <a:ext cx="320040" cy="58064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4</a:t>
            </a:r>
          </a:p>
        </p:txBody>
      </p:sp>
      <p:sp>
        <p:nvSpPr>
          <p:cNvPr id="14" name="Code line 0:4"/>
          <p:cNvSpPr txBox="1"/>
          <p:nvPr/>
        </p:nvSpPr>
        <p:spPr>
          <a:xfrm>
            <a:off x="594360" y="3838956"/>
            <a:ext cx="7315200" cy="58064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"banana"</a:t>
            </a:r>
            <a:r>
              <a:rPr sz="2000">
                <a:solidFill>
                  <a:srgbClr val="666666"/>
                </a:solidFill>
                <a:latin typeface="Courier New"/>
              </a:rPr>
              <a:t xml:space="preserve">.</a:t>
            </a:r>
            <a:r>
              <a:rPr sz="2000">
                <a:solidFill>
                  <a:srgbClr val="06287E"/>
                </a:solidFill>
                <a:latin typeface="Courier New"/>
              </a:rPr>
              <a:t xml:space="preserve">join</a:t>
            </a:r>
            <a:r>
              <a:rPr sz="2000">
                <a:solidFill>
                  <a:srgbClr val="666666"/>
                </a:solidFill>
                <a:latin typeface="Courier New"/>
              </a:rPr>
              <a:t xml:space="preserve">(</a:t>
            </a:r>
            <a:r>
              <a:rPr sz="2000">
                <a:solidFill>
                  <a:srgbClr val="2B2B2B"/>
                </a:solidFill>
                <a:latin typeface="Courier New"/>
              </a:rPr>
              <a:t xml:space="preserve">pieces</a:t>
            </a:r>
            <a:r>
              <a:rPr sz="2000">
                <a:solidFill>
                  <a:srgbClr val="666666"/>
                </a:solidFill>
                <a:latin typeface="Courier New"/>
              </a:rPr>
              <a:t xml:space="preserve">)</a:t>
            </a:r>
            <a:r>
              <a:rPr sz="2000">
                <a:solidFill>
                  <a:srgbClr val="666666"/>
                </a:solidFill>
                <a:latin typeface="Courier New"/>
              </a:rPr>
              <a:t xml:space="preserve">)</a:t>
            </a:r>
          </a:p>
        </p:txBody>
      </p:sp>
      <p:sp>
        <p:nvSpPr>
          <p:cNvPr id="15" name="Printed output 0:4"/>
          <p:cNvSpPr txBox="1"/>
          <p:nvPr/>
        </p:nvSpPr>
        <p:spPr>
          <a:xfrm>
            <a:off x="8366760" y="3864356"/>
            <a:ext cx="3017520" cy="58064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7" name="Pi515 accent"/>
          <p:cNvSpPr/>
          <p:nvPr/>
        </p:nvSpPr>
        <p:spPr>
          <a:xfrm>
            <a:off x="0" y="0"/>
            <a:ext cx="12192000" cy="54864"/>
          </a:xfrm>
          <a:prstGeom prst="rect">
            <a:avLst/>
          </a:prstGeom>
          <a:solidFill>
            <a:srgbClr val="39DC78"/>
          </a:solidFill>
          <a:ln>
            <a:noFill/>
          </a:ln>
        </p:spPr>
      </p:sp>
      <p:sp>
        <p:nvSpPr>
          <p:cNvPr id="18"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19" name="Footer rule"/>
          <p:cNvSpPr/>
          <p:nvPr/>
        </p:nvSpPr>
        <p:spPr>
          <a:xfrm>
            <a:off x="594360" y="6400800"/>
            <a:ext cx="10972800" cy="10973"/>
          </a:xfrm>
          <a:prstGeom prst="rect">
            <a:avLst/>
          </a:prstGeom>
          <a:solidFill>
            <a:srgbClr val="E6E6E6"/>
          </a:solidFill>
          <a:ln>
            <a:noFill/>
          </a:ln>
        </p:spPr>
      </p:sp>
      <p:sp>
        <p:nvSpPr>
          <p:cNvPr id="20"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57</a:t>
            </a:r>
          </a:p>
        </p:txBody>
      </p:sp>
      <p:pic>
        <p:nvPicPr>
          <p:cNvPr id="21"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Practice reference: split, join, and delimiter</a:t>
            </a:r>
          </a:p>
        </p:txBody>
      </p:sp>
      <p:sp>
        <p:nvSpPr>
          <p:cNvPr id="16" name="Printed output panel 0"/>
          <p:cNvSpPr/>
          <p:nvPr/>
        </p:nvSpPr>
        <p:spPr>
          <a:xfrm>
            <a:off x="8183880" y="2255520"/>
            <a:ext cx="3383280" cy="2292096"/>
          </a:xfrm>
          <a:prstGeom prst="rect">
            <a:avLst/>
          </a:prstGeom>
          <a:solidFill>
            <a:srgbClr val="EEF6F3"/>
          </a:solidFill>
          <a:ln>
            <a:noFill/>
          </a:ln>
        </p:spPr>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A </a:t>
            </a:r>
            <a:r>
              <a:rPr sz="2200" b="1">
                <a:solidFill>
                  <a:srgbClr val="2B2B2B"/>
                </a:solidFill>
                <a:latin typeface="Arial"/>
              </a:rPr>
              <a:t>delimiter</a:t>
            </a:r>
            <a:r>
              <a:rPr sz="2200">
                <a:solidFill>
                  <a:srgbClr val="2B2B2B"/>
                </a:solidFill>
                <a:latin typeface="Arial"/>
              </a:rPr>
              <a:t> separates pieces. </a:t>
            </a:r>
            <a:r>
              <a:rPr sz="2200">
                <a:solidFill>
                  <a:srgbClr val="06287E"/>
                </a:solidFill>
                <a:latin typeface="Courier New"/>
              </a:rPr>
              <a:t xml:space="preserve">split</a:t>
            </a:r>
            <a:r>
              <a:rPr sz="2200">
                <a:solidFill>
                  <a:srgbClr val="2B2B2B"/>
                </a:solidFill>
                <a:latin typeface="Arial"/>
              </a:rPr>
              <a:t> returns a list of strings. </a:t>
            </a:r>
            <a:r>
              <a:rPr sz="2200">
                <a:solidFill>
                  <a:srgbClr val="06287E"/>
                </a:solidFill>
                <a:latin typeface="Courier New"/>
              </a:rPr>
              <a:t xml:space="preserve">join</a:t>
            </a:r>
            <a:r>
              <a:rPr sz="2200">
                <a:solidFill>
                  <a:srgbClr val="2B2B2B"/>
                </a:solidFill>
                <a:latin typeface="Arial"/>
              </a:rPr>
              <a:t> combines pieces with the delimiter between them.</a:t>
            </a:r>
          </a:p>
        </p:txBody>
      </p:sp>
      <p:sp>
        <p:nvSpPr>
          <p:cNvPr id="4" name="Code column header 0"/>
          <p:cNvSpPr txBox="1"/>
          <p:nvPr/>
        </p:nvSpPr>
        <p:spPr>
          <a:xfrm>
            <a:off x="594360" y="23103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3103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5847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5847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text</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"Make like a banana and split!"</a:t>
            </a:r>
          </a:p>
        </p:txBody>
      </p:sp>
      <p:sp>
        <p:nvSpPr>
          <p:cNvPr id="8" name="Code number 0:2"/>
          <p:cNvSpPr txBox="1"/>
          <p:nvPr/>
        </p:nvSpPr>
        <p:spPr>
          <a:xfrm>
            <a:off x="164592" y="292150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92150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pieces</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text</a:t>
            </a:r>
            <a:r>
              <a:rPr sz="2000">
                <a:solidFill>
                  <a:srgbClr val="666666"/>
                </a:solidFill>
                <a:latin typeface="Courier New"/>
              </a:rPr>
              <a:t xml:space="preserve">.</a:t>
            </a:r>
            <a:r>
              <a:rPr sz="2000">
                <a:solidFill>
                  <a:srgbClr val="06287E"/>
                </a:solidFill>
                <a:latin typeface="Courier New"/>
              </a:rPr>
              <a:t xml:space="preserve">split</a:t>
            </a:r>
            <a:r>
              <a:rPr sz="2000">
                <a:solidFill>
                  <a:srgbClr val="666666"/>
                </a:solidFill>
                <a:latin typeface="Courier New"/>
              </a:rPr>
              <a:t xml:space="preserve">(</a:t>
            </a:r>
            <a:r>
              <a:rPr sz="2000">
                <a:solidFill>
                  <a:srgbClr val="4070A0"/>
                </a:solidFill>
                <a:latin typeface="Courier New"/>
              </a:rPr>
              <a:t xml:space="preserve">"banana"</a:t>
            </a:r>
            <a:r>
              <a:rPr sz="2000">
                <a:solidFill>
                  <a:srgbClr val="666666"/>
                </a:solidFill>
                <a:latin typeface="Courier New"/>
              </a:rPr>
              <a:t xml:space="preserve">)</a:t>
            </a:r>
          </a:p>
        </p:txBody>
      </p:sp>
      <p:sp>
        <p:nvSpPr>
          <p:cNvPr id="10" name="Code number 0:3"/>
          <p:cNvSpPr txBox="1"/>
          <p:nvPr/>
        </p:nvSpPr>
        <p:spPr>
          <a:xfrm>
            <a:off x="164592" y="3258312"/>
            <a:ext cx="320040" cy="58064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1" name="Code line 0:3"/>
          <p:cNvSpPr txBox="1"/>
          <p:nvPr/>
        </p:nvSpPr>
        <p:spPr>
          <a:xfrm>
            <a:off x="594360" y="3258312"/>
            <a:ext cx="7315200" cy="58064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pieces</a:t>
            </a:r>
            <a:r>
              <a:rPr sz="2000">
                <a:solidFill>
                  <a:srgbClr val="666666"/>
                </a:solidFill>
                <a:latin typeface="Courier New"/>
              </a:rPr>
              <a:t xml:space="preserve">)</a:t>
            </a:r>
          </a:p>
        </p:txBody>
      </p:sp>
      <p:sp>
        <p:nvSpPr>
          <p:cNvPr id="12" name="Printed output 0:3"/>
          <p:cNvSpPr txBox="1"/>
          <p:nvPr/>
        </p:nvSpPr>
        <p:spPr>
          <a:xfrm>
            <a:off x="8366760" y="3283712"/>
            <a:ext cx="3017520" cy="58064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['Make like a ', ' and split!']</a:t>
            </a:r>
          </a:p>
        </p:txBody>
      </p:sp>
      <p:sp>
        <p:nvSpPr>
          <p:cNvPr id="13" name="Code number 0:4"/>
          <p:cNvSpPr txBox="1"/>
          <p:nvPr/>
        </p:nvSpPr>
        <p:spPr>
          <a:xfrm>
            <a:off x="164592" y="3838956"/>
            <a:ext cx="320040" cy="58064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4</a:t>
            </a:r>
          </a:p>
        </p:txBody>
      </p:sp>
      <p:sp>
        <p:nvSpPr>
          <p:cNvPr id="14" name="Code line 0:4"/>
          <p:cNvSpPr txBox="1"/>
          <p:nvPr/>
        </p:nvSpPr>
        <p:spPr>
          <a:xfrm>
            <a:off x="594360" y="3838956"/>
            <a:ext cx="7315200" cy="58064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4070A0"/>
                </a:solidFill>
                <a:latin typeface="Courier New"/>
              </a:rPr>
              <a:t xml:space="preserve">"banana"</a:t>
            </a:r>
            <a:r>
              <a:rPr sz="2000">
                <a:solidFill>
                  <a:srgbClr val="666666"/>
                </a:solidFill>
                <a:latin typeface="Courier New"/>
              </a:rPr>
              <a:t xml:space="preserve">.</a:t>
            </a:r>
            <a:r>
              <a:rPr sz="2000">
                <a:solidFill>
                  <a:srgbClr val="06287E"/>
                </a:solidFill>
                <a:latin typeface="Courier New"/>
              </a:rPr>
              <a:t xml:space="preserve">join</a:t>
            </a:r>
            <a:r>
              <a:rPr sz="2000">
                <a:solidFill>
                  <a:srgbClr val="666666"/>
                </a:solidFill>
                <a:latin typeface="Courier New"/>
              </a:rPr>
              <a:t xml:space="preserve">(</a:t>
            </a:r>
            <a:r>
              <a:rPr sz="2000">
                <a:solidFill>
                  <a:srgbClr val="2B2B2B"/>
                </a:solidFill>
                <a:latin typeface="Courier New"/>
              </a:rPr>
              <a:t xml:space="preserve">pieces</a:t>
            </a:r>
            <a:r>
              <a:rPr sz="2000">
                <a:solidFill>
                  <a:srgbClr val="666666"/>
                </a:solidFill>
                <a:latin typeface="Courier New"/>
              </a:rPr>
              <a:t xml:space="preserve">)</a:t>
            </a:r>
            <a:r>
              <a:rPr sz="2000">
                <a:solidFill>
                  <a:srgbClr val="666666"/>
                </a:solidFill>
                <a:latin typeface="Courier New"/>
              </a:rPr>
              <a:t xml:space="preserve">)</a:t>
            </a:r>
          </a:p>
        </p:txBody>
      </p:sp>
      <p:sp>
        <p:nvSpPr>
          <p:cNvPr id="15" name="Printed output 0:4"/>
          <p:cNvSpPr txBox="1"/>
          <p:nvPr/>
        </p:nvSpPr>
        <p:spPr>
          <a:xfrm>
            <a:off x="8366760" y="3864356"/>
            <a:ext cx="3017520" cy="58064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Make like a banana and split!</a:t>
            </a:r>
          </a:p>
        </p:txBody>
      </p:sp>
      <p:sp>
        <p:nvSpPr>
          <p:cNvPr id="17" name="Pi515 accent"/>
          <p:cNvSpPr/>
          <p:nvPr/>
        </p:nvSpPr>
        <p:spPr>
          <a:xfrm>
            <a:off x="0" y="0"/>
            <a:ext cx="12192000" cy="54864"/>
          </a:xfrm>
          <a:prstGeom prst="rect">
            <a:avLst/>
          </a:prstGeom>
          <a:solidFill>
            <a:srgbClr val="39DC78"/>
          </a:solidFill>
          <a:ln>
            <a:noFill/>
          </a:ln>
        </p:spPr>
      </p:sp>
      <p:sp>
        <p:nvSpPr>
          <p:cNvPr id="18"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19" name="Footer rule"/>
          <p:cNvSpPr/>
          <p:nvPr/>
        </p:nvSpPr>
        <p:spPr>
          <a:xfrm>
            <a:off x="594360" y="6400800"/>
            <a:ext cx="10972800" cy="10973"/>
          </a:xfrm>
          <a:prstGeom prst="rect">
            <a:avLst/>
          </a:prstGeom>
          <a:solidFill>
            <a:srgbClr val="E6E6E6"/>
          </a:solidFill>
          <a:ln>
            <a:noFill/>
          </a:ln>
        </p:spPr>
      </p:sp>
      <p:sp>
        <p:nvSpPr>
          <p:cNvPr id="20"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58</a:t>
            </a:r>
          </a:p>
        </p:txBody>
      </p:sp>
      <p:pic>
        <p:nvPicPr>
          <p:cNvPr id="21"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Practice reference: replace</a:t>
            </a:r>
          </a:p>
        </p:txBody>
      </p:sp>
      <p:sp>
        <p:nvSpPr>
          <p:cNvPr id="14" name="Printed output panel 0"/>
          <p:cNvSpPr/>
          <p:nvPr/>
        </p:nvSpPr>
        <p:spPr>
          <a:xfrm>
            <a:off x="8183880" y="2255520"/>
            <a:ext cx="3383280" cy="1955292"/>
          </a:xfrm>
          <a:prstGeom prst="rect">
            <a:avLst/>
          </a:prstGeom>
          <a:solidFill>
            <a:srgbClr val="EEF6F3"/>
          </a:solidFill>
          <a:ln>
            <a:noFill/>
          </a:ln>
        </p:spPr>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06287E"/>
                </a:solidFill>
                <a:latin typeface="Courier New"/>
              </a:rPr>
              <a:t xml:space="preserve">replace</a:t>
            </a:r>
            <a:r>
              <a:rPr sz="2200">
                <a:solidFill>
                  <a:srgbClr val="666666"/>
                </a:solidFill>
                <a:latin typeface="Courier New"/>
              </a:rPr>
              <a:t xml:space="preserve">(</a:t>
            </a:r>
            <a:r>
              <a:rPr sz="2200">
                <a:solidFill>
                  <a:srgbClr val="2B2B2B"/>
                </a:solidFill>
                <a:latin typeface="Courier New"/>
              </a:rPr>
              <a:t xml:space="preserve">search</a:t>
            </a:r>
            <a:r>
              <a:rPr sz="2200">
                <a:solidFill>
                  <a:srgbClr val="666666"/>
                </a:solidFill>
                <a:latin typeface="Courier New"/>
              </a:rPr>
              <a:t xml:space="preserve">,</a:t>
            </a:r>
            <a:r>
              <a:rPr sz="2200">
                <a:solidFill>
                  <a:srgbClr val="2B2B2B"/>
                </a:solidFill>
                <a:latin typeface="Courier New"/>
              </a:rPr>
              <a:t xml:space="preserve"> </a:t>
            </a:r>
            <a:r>
              <a:rPr sz="2200">
                <a:solidFill>
                  <a:srgbClr val="2B2B2B"/>
                </a:solidFill>
                <a:latin typeface="Courier New"/>
              </a:rPr>
              <a:t xml:space="preserve">replacement</a:t>
            </a:r>
            <a:r>
              <a:rPr sz="2200">
                <a:solidFill>
                  <a:srgbClr val="666666"/>
                </a:solidFill>
                <a:latin typeface="Courier New"/>
              </a:rPr>
              <a:t xml:space="preserve">)</a:t>
            </a:r>
            <a:r>
              <a:rPr sz="2200">
                <a:solidFill>
                  <a:srgbClr val="2B2B2B"/>
                </a:solidFill>
                <a:latin typeface="Arial"/>
              </a:rPr>
              <a:t> returns text with matching substrings replaced. Search text is case-sensitive.</a:t>
            </a:r>
          </a:p>
        </p:txBody>
      </p:sp>
      <p:sp>
        <p:nvSpPr>
          <p:cNvPr id="4" name="Code column header 0"/>
          <p:cNvSpPr txBox="1"/>
          <p:nvPr/>
        </p:nvSpPr>
        <p:spPr>
          <a:xfrm>
            <a:off x="594360" y="23103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3103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5847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5847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text</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"Make like a banana and split!"</a:t>
            </a:r>
          </a:p>
        </p:txBody>
      </p:sp>
      <p:sp>
        <p:nvSpPr>
          <p:cNvPr id="8" name="Code number 0:2"/>
          <p:cNvSpPr txBox="1"/>
          <p:nvPr/>
        </p:nvSpPr>
        <p:spPr>
          <a:xfrm>
            <a:off x="164592" y="2921508"/>
            <a:ext cx="320040" cy="58064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921508"/>
            <a:ext cx="7315200" cy="58064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text</a:t>
            </a:r>
            <a:r>
              <a:rPr sz="2000">
                <a:solidFill>
                  <a:srgbClr val="666666"/>
                </a:solidFill>
                <a:latin typeface="Courier New"/>
              </a:rPr>
              <a:t xml:space="preserve">.</a:t>
            </a:r>
            <a:r>
              <a:rPr sz="2000">
                <a:solidFill>
                  <a:srgbClr val="06287E"/>
                </a:solidFill>
                <a:latin typeface="Courier New"/>
              </a:rPr>
              <a:t xml:space="preserve">replace</a:t>
            </a:r>
            <a:r>
              <a:rPr sz="2000">
                <a:solidFill>
                  <a:srgbClr val="666666"/>
                </a:solidFill>
                <a:latin typeface="Courier New"/>
              </a:rPr>
              <a:t xml:space="preserve">(</a:t>
            </a:r>
            <a:r>
              <a:rPr sz="2000">
                <a:solidFill>
                  <a:srgbClr val="4070A0"/>
                </a:solidFill>
                <a:latin typeface="Courier New"/>
              </a:rPr>
              <a:t xml:space="preserve">"banana"</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"pear"</a:t>
            </a:r>
            <a:r>
              <a:rPr sz="2000">
                <a:solidFill>
                  <a:srgbClr val="666666"/>
                </a:solidFill>
                <a:latin typeface="Courier New"/>
              </a:rPr>
              <a:t xml:space="preserve">)</a:t>
            </a:r>
            <a:r>
              <a:rPr sz="2000">
                <a:solidFill>
                  <a:srgbClr val="666666"/>
                </a:solidFill>
                <a:latin typeface="Courier New"/>
              </a:rPr>
              <a:t xml:space="preserve">)</a:t>
            </a:r>
          </a:p>
        </p:txBody>
      </p:sp>
      <p:sp>
        <p:nvSpPr>
          <p:cNvPr id="10" name="Printed output 0:2"/>
          <p:cNvSpPr txBox="1"/>
          <p:nvPr/>
        </p:nvSpPr>
        <p:spPr>
          <a:xfrm>
            <a:off x="8366760" y="2946908"/>
            <a:ext cx="3017520" cy="58064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1" name="Code number 0:3"/>
          <p:cNvSpPr txBox="1"/>
          <p:nvPr/>
        </p:nvSpPr>
        <p:spPr>
          <a:xfrm>
            <a:off x="164592" y="3502152"/>
            <a:ext cx="320040" cy="58064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2" name="Code line 0:3"/>
          <p:cNvSpPr txBox="1"/>
          <p:nvPr/>
        </p:nvSpPr>
        <p:spPr>
          <a:xfrm>
            <a:off x="594360" y="3502152"/>
            <a:ext cx="7315200" cy="58064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text</a:t>
            </a:r>
            <a:r>
              <a:rPr sz="2000">
                <a:solidFill>
                  <a:srgbClr val="666666"/>
                </a:solidFill>
                <a:latin typeface="Courier New"/>
              </a:rPr>
              <a:t xml:space="preserve">)</a:t>
            </a:r>
          </a:p>
        </p:txBody>
      </p:sp>
      <p:sp>
        <p:nvSpPr>
          <p:cNvPr id="13" name="Printed output 0:3"/>
          <p:cNvSpPr txBox="1"/>
          <p:nvPr/>
        </p:nvSpPr>
        <p:spPr>
          <a:xfrm>
            <a:off x="8366760" y="3527552"/>
            <a:ext cx="3017520" cy="58064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5" name="Pi515 accent"/>
          <p:cNvSpPr/>
          <p:nvPr/>
        </p:nvSpPr>
        <p:spPr>
          <a:xfrm>
            <a:off x="0" y="0"/>
            <a:ext cx="12192000" cy="54864"/>
          </a:xfrm>
          <a:prstGeom prst="rect">
            <a:avLst/>
          </a:prstGeom>
          <a:solidFill>
            <a:srgbClr val="39DC78"/>
          </a:solidFill>
          <a:ln>
            <a:noFill/>
          </a:ln>
        </p:spPr>
      </p:sp>
      <p:sp>
        <p:nvSpPr>
          <p:cNvPr id="16"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17" name="Footer rule"/>
          <p:cNvSpPr/>
          <p:nvPr/>
        </p:nvSpPr>
        <p:spPr>
          <a:xfrm>
            <a:off x="594360" y="6400800"/>
            <a:ext cx="10972800" cy="10973"/>
          </a:xfrm>
          <a:prstGeom prst="rect">
            <a:avLst/>
          </a:prstGeom>
          <a:solidFill>
            <a:srgbClr val="E6E6E6"/>
          </a:solidFill>
          <a:ln>
            <a:noFill/>
          </a:ln>
        </p:spPr>
      </p:sp>
      <p:sp>
        <p:nvSpPr>
          <p:cNvPr id="18"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59</a:t>
            </a:r>
          </a:p>
        </p:txBody>
      </p:sp>
      <p:pic>
        <p:nvPicPr>
          <p:cNvPr id="19"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Practice reference: replace</a:t>
            </a:r>
          </a:p>
        </p:txBody>
      </p:sp>
      <p:sp>
        <p:nvSpPr>
          <p:cNvPr id="14" name="Printed output panel 0"/>
          <p:cNvSpPr/>
          <p:nvPr/>
        </p:nvSpPr>
        <p:spPr>
          <a:xfrm>
            <a:off x="8183880" y="2255520"/>
            <a:ext cx="3383280" cy="1955292"/>
          </a:xfrm>
          <a:prstGeom prst="rect">
            <a:avLst/>
          </a:prstGeom>
          <a:solidFill>
            <a:srgbClr val="EEF6F3"/>
          </a:solidFill>
          <a:ln>
            <a:noFill/>
          </a:ln>
        </p:spPr>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06287E"/>
                </a:solidFill>
                <a:latin typeface="Courier New"/>
              </a:rPr>
              <a:t xml:space="preserve">replace</a:t>
            </a:r>
            <a:r>
              <a:rPr sz="2200">
                <a:solidFill>
                  <a:srgbClr val="666666"/>
                </a:solidFill>
                <a:latin typeface="Courier New"/>
              </a:rPr>
              <a:t xml:space="preserve">(</a:t>
            </a:r>
            <a:r>
              <a:rPr sz="2200">
                <a:solidFill>
                  <a:srgbClr val="2B2B2B"/>
                </a:solidFill>
                <a:latin typeface="Courier New"/>
              </a:rPr>
              <a:t xml:space="preserve">search</a:t>
            </a:r>
            <a:r>
              <a:rPr sz="2200">
                <a:solidFill>
                  <a:srgbClr val="666666"/>
                </a:solidFill>
                <a:latin typeface="Courier New"/>
              </a:rPr>
              <a:t xml:space="preserve">,</a:t>
            </a:r>
            <a:r>
              <a:rPr sz="2200">
                <a:solidFill>
                  <a:srgbClr val="2B2B2B"/>
                </a:solidFill>
                <a:latin typeface="Courier New"/>
              </a:rPr>
              <a:t xml:space="preserve"> </a:t>
            </a:r>
            <a:r>
              <a:rPr sz="2200">
                <a:solidFill>
                  <a:srgbClr val="2B2B2B"/>
                </a:solidFill>
                <a:latin typeface="Courier New"/>
              </a:rPr>
              <a:t xml:space="preserve">replacement</a:t>
            </a:r>
            <a:r>
              <a:rPr sz="2200">
                <a:solidFill>
                  <a:srgbClr val="666666"/>
                </a:solidFill>
                <a:latin typeface="Courier New"/>
              </a:rPr>
              <a:t xml:space="preserve">)</a:t>
            </a:r>
            <a:r>
              <a:rPr sz="2200">
                <a:solidFill>
                  <a:srgbClr val="2B2B2B"/>
                </a:solidFill>
                <a:latin typeface="Arial"/>
              </a:rPr>
              <a:t> returns text with matching substrings replaced. Search text is case-sensitive.</a:t>
            </a:r>
          </a:p>
        </p:txBody>
      </p:sp>
      <p:sp>
        <p:nvSpPr>
          <p:cNvPr id="4" name="Code column header 0"/>
          <p:cNvSpPr txBox="1"/>
          <p:nvPr/>
        </p:nvSpPr>
        <p:spPr>
          <a:xfrm>
            <a:off x="594360" y="23103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3103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5847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5847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text</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"Make like a banana and split!"</a:t>
            </a:r>
          </a:p>
        </p:txBody>
      </p:sp>
      <p:sp>
        <p:nvSpPr>
          <p:cNvPr id="8" name="Code number 0:2"/>
          <p:cNvSpPr txBox="1"/>
          <p:nvPr/>
        </p:nvSpPr>
        <p:spPr>
          <a:xfrm>
            <a:off x="164592" y="2921508"/>
            <a:ext cx="320040" cy="58064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921508"/>
            <a:ext cx="7315200" cy="58064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text</a:t>
            </a:r>
            <a:r>
              <a:rPr sz="2000">
                <a:solidFill>
                  <a:srgbClr val="666666"/>
                </a:solidFill>
                <a:latin typeface="Courier New"/>
              </a:rPr>
              <a:t xml:space="preserve">.</a:t>
            </a:r>
            <a:r>
              <a:rPr sz="2000">
                <a:solidFill>
                  <a:srgbClr val="06287E"/>
                </a:solidFill>
                <a:latin typeface="Courier New"/>
              </a:rPr>
              <a:t xml:space="preserve">replace</a:t>
            </a:r>
            <a:r>
              <a:rPr sz="2000">
                <a:solidFill>
                  <a:srgbClr val="666666"/>
                </a:solidFill>
                <a:latin typeface="Courier New"/>
              </a:rPr>
              <a:t xml:space="preserve">(</a:t>
            </a:r>
            <a:r>
              <a:rPr sz="2000">
                <a:solidFill>
                  <a:srgbClr val="4070A0"/>
                </a:solidFill>
                <a:latin typeface="Courier New"/>
              </a:rPr>
              <a:t xml:space="preserve">"banana"</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"pear"</a:t>
            </a:r>
            <a:r>
              <a:rPr sz="2000">
                <a:solidFill>
                  <a:srgbClr val="666666"/>
                </a:solidFill>
                <a:latin typeface="Courier New"/>
              </a:rPr>
              <a:t xml:space="preserve">)</a:t>
            </a:r>
            <a:r>
              <a:rPr sz="2000">
                <a:solidFill>
                  <a:srgbClr val="666666"/>
                </a:solidFill>
                <a:latin typeface="Courier New"/>
              </a:rPr>
              <a:t xml:space="preserve">)</a:t>
            </a:r>
          </a:p>
        </p:txBody>
      </p:sp>
      <p:sp>
        <p:nvSpPr>
          <p:cNvPr id="10" name="Printed output 0:2"/>
          <p:cNvSpPr txBox="1"/>
          <p:nvPr/>
        </p:nvSpPr>
        <p:spPr>
          <a:xfrm>
            <a:off x="8366760" y="2946908"/>
            <a:ext cx="3017520" cy="58064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Make like a pear and split!</a:t>
            </a:r>
          </a:p>
        </p:txBody>
      </p:sp>
      <p:sp>
        <p:nvSpPr>
          <p:cNvPr id="11" name="Code number 0:3"/>
          <p:cNvSpPr txBox="1"/>
          <p:nvPr/>
        </p:nvSpPr>
        <p:spPr>
          <a:xfrm>
            <a:off x="164592" y="3502152"/>
            <a:ext cx="320040" cy="58064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2" name="Code line 0:3"/>
          <p:cNvSpPr txBox="1"/>
          <p:nvPr/>
        </p:nvSpPr>
        <p:spPr>
          <a:xfrm>
            <a:off x="594360" y="3502152"/>
            <a:ext cx="7315200" cy="58064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text</a:t>
            </a:r>
            <a:r>
              <a:rPr sz="2000">
                <a:solidFill>
                  <a:srgbClr val="666666"/>
                </a:solidFill>
                <a:latin typeface="Courier New"/>
              </a:rPr>
              <a:t xml:space="preserve">)</a:t>
            </a:r>
          </a:p>
        </p:txBody>
      </p:sp>
      <p:sp>
        <p:nvSpPr>
          <p:cNvPr id="13" name="Printed output 0:3"/>
          <p:cNvSpPr txBox="1"/>
          <p:nvPr/>
        </p:nvSpPr>
        <p:spPr>
          <a:xfrm>
            <a:off x="8366760" y="3527552"/>
            <a:ext cx="3017520" cy="58064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Make like a banana and split!</a:t>
            </a:r>
          </a:p>
        </p:txBody>
      </p:sp>
      <p:sp>
        <p:nvSpPr>
          <p:cNvPr id="15" name="Pi515 accent"/>
          <p:cNvSpPr/>
          <p:nvPr/>
        </p:nvSpPr>
        <p:spPr>
          <a:xfrm>
            <a:off x="0" y="0"/>
            <a:ext cx="12192000" cy="54864"/>
          </a:xfrm>
          <a:prstGeom prst="rect">
            <a:avLst/>
          </a:prstGeom>
          <a:solidFill>
            <a:srgbClr val="39DC78"/>
          </a:solidFill>
          <a:ln>
            <a:noFill/>
          </a:ln>
        </p:spPr>
      </p:sp>
      <p:sp>
        <p:nvSpPr>
          <p:cNvPr id="16"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17" name="Footer rule"/>
          <p:cNvSpPr/>
          <p:nvPr/>
        </p:nvSpPr>
        <p:spPr>
          <a:xfrm>
            <a:off x="594360" y="6400800"/>
            <a:ext cx="10972800" cy="10973"/>
          </a:xfrm>
          <a:prstGeom prst="rect">
            <a:avLst/>
          </a:prstGeom>
          <a:solidFill>
            <a:srgbClr val="E6E6E6"/>
          </a:solidFill>
          <a:ln>
            <a:noFill/>
          </a:ln>
        </p:spPr>
      </p:sp>
      <p:sp>
        <p:nvSpPr>
          <p:cNvPr id="18"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60</a:t>
            </a:r>
          </a:p>
        </p:txBody>
      </p:sp>
      <p:pic>
        <p:nvPicPr>
          <p:cNvPr id="19"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Application: finding text in documents</a:t>
            </a:r>
          </a:p>
        </p:txBody>
      </p:sp>
      <p:sp>
        <p:nvSpPr>
          <p:cNvPr id="13" name="Printed output panel 0"/>
          <p:cNvSpPr/>
          <p:nvPr/>
        </p:nvSpPr>
        <p:spPr>
          <a:xfrm>
            <a:off x="8183880" y="1920240"/>
            <a:ext cx="3383280" cy="1467612"/>
          </a:xfrm>
          <a:prstGeom prst="rect">
            <a:avLst/>
          </a:prstGeom>
          <a:solidFill>
            <a:srgbClr val="EEF6F3"/>
          </a:solidFill>
          <a:ln>
            <a:noFill/>
          </a:ln>
        </p:spPr>
      </p:sp>
      <p:sp>
        <p:nvSpPr>
          <p:cNvPr id="3" name="Body paragraph 3"/>
          <p:cNvSpPr txBox="1"/>
          <p:nvPr/>
        </p:nvSpPr>
        <p:spPr>
          <a:xfrm>
            <a:off x="594360" y="1417320"/>
            <a:ext cx="10972800" cy="39014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Document-processing tools search for phrases and extract nearby text.</a:t>
            </a:r>
          </a:p>
        </p:txBody>
      </p:sp>
      <p:sp>
        <p:nvSpPr>
          <p:cNvPr id="4" name="Code column header 0"/>
          <p:cNvSpPr txBox="1"/>
          <p:nvPr/>
        </p:nvSpPr>
        <p:spPr>
          <a:xfrm>
            <a:off x="594360" y="197510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197510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24942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24942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text</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"Student: Ryan"</a:t>
            </a:r>
          </a:p>
        </p:txBody>
      </p:sp>
      <p:sp>
        <p:nvSpPr>
          <p:cNvPr id="8" name="Code number 0:2"/>
          <p:cNvSpPr txBox="1"/>
          <p:nvPr/>
        </p:nvSpPr>
        <p:spPr>
          <a:xfrm>
            <a:off x="164592" y="258622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58622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name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text</a:t>
            </a:r>
            <a:r>
              <a:rPr sz="2000">
                <a:solidFill>
                  <a:srgbClr val="666666"/>
                </a:solidFill>
                <a:latin typeface="Courier New"/>
              </a:rPr>
              <a:t xml:space="preserve">[</a:t>
            </a:r>
            <a:r>
              <a:rPr sz="2000">
                <a:solidFill>
                  <a:srgbClr val="208050"/>
                </a:solidFill>
                <a:latin typeface="Courier New"/>
              </a:rPr>
              <a:t xml:space="preserve">9</a:t>
            </a:r>
            <a:r>
              <a:rPr sz="2000">
                <a:solidFill>
                  <a:srgbClr val="666666"/>
                </a:solidFill>
                <a:latin typeface="Courier New"/>
              </a:rPr>
              <a:t xml:space="preserve">:</a:t>
            </a:r>
            <a:r>
              <a:rPr sz="2000">
                <a:solidFill>
                  <a:srgbClr val="666666"/>
                </a:solidFill>
                <a:latin typeface="Courier New"/>
              </a:rPr>
              <a:t xml:space="preserve">]</a:t>
            </a:r>
          </a:p>
        </p:txBody>
      </p:sp>
      <p:sp>
        <p:nvSpPr>
          <p:cNvPr id="10" name="Code number 0:3"/>
          <p:cNvSpPr txBox="1"/>
          <p:nvPr/>
        </p:nvSpPr>
        <p:spPr>
          <a:xfrm>
            <a:off x="164592" y="292303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1" name="Code line 0:3"/>
          <p:cNvSpPr txBox="1"/>
          <p:nvPr/>
        </p:nvSpPr>
        <p:spPr>
          <a:xfrm>
            <a:off x="594360" y="292303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name</a:t>
            </a:r>
            <a:r>
              <a:rPr sz="2000">
                <a:solidFill>
                  <a:srgbClr val="666666"/>
                </a:solidFill>
                <a:latin typeface="Courier New"/>
              </a:rPr>
              <a:t xml:space="preserve">)</a:t>
            </a:r>
          </a:p>
        </p:txBody>
      </p:sp>
      <p:sp>
        <p:nvSpPr>
          <p:cNvPr id="12" name="Printed output 0:3"/>
          <p:cNvSpPr txBox="1"/>
          <p:nvPr/>
        </p:nvSpPr>
        <p:spPr>
          <a:xfrm>
            <a:off x="8366760" y="294843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4" name="Body paragraph 14"/>
          <p:cNvSpPr txBox="1"/>
          <p:nvPr/>
        </p:nvSpPr>
        <p:spPr>
          <a:xfrm>
            <a:off x="594360" y="3369564"/>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Which substring is extracted? How would a different prefix affect this slice?</a:t>
            </a:r>
          </a:p>
        </p:txBody>
      </p:sp>
      <p:sp>
        <p:nvSpPr>
          <p:cNvPr id="15" name="Pi515 accent"/>
          <p:cNvSpPr/>
          <p:nvPr/>
        </p:nvSpPr>
        <p:spPr>
          <a:xfrm>
            <a:off x="0" y="0"/>
            <a:ext cx="12192000" cy="54864"/>
          </a:xfrm>
          <a:prstGeom prst="rect">
            <a:avLst/>
          </a:prstGeom>
          <a:solidFill>
            <a:srgbClr val="39DC78"/>
          </a:solidFill>
          <a:ln>
            <a:noFill/>
          </a:ln>
        </p:spPr>
      </p:sp>
      <p:sp>
        <p:nvSpPr>
          <p:cNvPr id="16"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APPLICATION</a:t>
            </a:r>
          </a:p>
        </p:txBody>
      </p:sp>
      <p:sp>
        <p:nvSpPr>
          <p:cNvPr id="17" name="Footer rule"/>
          <p:cNvSpPr/>
          <p:nvPr/>
        </p:nvSpPr>
        <p:spPr>
          <a:xfrm>
            <a:off x="594360" y="6400800"/>
            <a:ext cx="10972800" cy="10973"/>
          </a:xfrm>
          <a:prstGeom prst="rect">
            <a:avLst/>
          </a:prstGeom>
          <a:solidFill>
            <a:srgbClr val="E6E6E6"/>
          </a:solidFill>
          <a:ln>
            <a:noFill/>
          </a:ln>
        </p:spPr>
      </p:sp>
      <p:sp>
        <p:nvSpPr>
          <p:cNvPr id="18"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61</a:t>
            </a:r>
          </a:p>
        </p:txBody>
      </p:sp>
      <p:pic>
        <p:nvPicPr>
          <p:cNvPr id="19"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Application: finding text in documents</a:t>
            </a:r>
          </a:p>
        </p:txBody>
      </p:sp>
      <p:sp>
        <p:nvSpPr>
          <p:cNvPr id="13" name="Printed output panel 0"/>
          <p:cNvSpPr/>
          <p:nvPr/>
        </p:nvSpPr>
        <p:spPr>
          <a:xfrm>
            <a:off x="8183880" y="1920240"/>
            <a:ext cx="3383280" cy="1467612"/>
          </a:xfrm>
          <a:prstGeom prst="rect">
            <a:avLst/>
          </a:prstGeom>
          <a:solidFill>
            <a:srgbClr val="EEF6F3"/>
          </a:solidFill>
          <a:ln>
            <a:noFill/>
          </a:ln>
        </p:spPr>
      </p:sp>
      <p:sp>
        <p:nvSpPr>
          <p:cNvPr id="3" name="Body paragraph 3"/>
          <p:cNvSpPr txBox="1"/>
          <p:nvPr/>
        </p:nvSpPr>
        <p:spPr>
          <a:xfrm>
            <a:off x="594360" y="1417320"/>
            <a:ext cx="10972800" cy="39014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Document-processing tools search for phrases and extract nearby text.</a:t>
            </a:r>
          </a:p>
        </p:txBody>
      </p:sp>
      <p:sp>
        <p:nvSpPr>
          <p:cNvPr id="4" name="Code column header 0"/>
          <p:cNvSpPr txBox="1"/>
          <p:nvPr/>
        </p:nvSpPr>
        <p:spPr>
          <a:xfrm>
            <a:off x="594360" y="197510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197510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24942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24942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text</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"Student: Ryan"</a:t>
            </a:r>
          </a:p>
        </p:txBody>
      </p:sp>
      <p:sp>
        <p:nvSpPr>
          <p:cNvPr id="8" name="Code number 0:2"/>
          <p:cNvSpPr txBox="1"/>
          <p:nvPr/>
        </p:nvSpPr>
        <p:spPr>
          <a:xfrm>
            <a:off x="164592" y="258622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58622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name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text</a:t>
            </a:r>
            <a:r>
              <a:rPr sz="2000">
                <a:solidFill>
                  <a:srgbClr val="666666"/>
                </a:solidFill>
                <a:latin typeface="Courier New"/>
              </a:rPr>
              <a:t xml:space="preserve">[</a:t>
            </a:r>
            <a:r>
              <a:rPr sz="2000">
                <a:solidFill>
                  <a:srgbClr val="208050"/>
                </a:solidFill>
                <a:latin typeface="Courier New"/>
              </a:rPr>
              <a:t xml:space="preserve">9</a:t>
            </a:r>
            <a:r>
              <a:rPr sz="2000">
                <a:solidFill>
                  <a:srgbClr val="666666"/>
                </a:solidFill>
                <a:latin typeface="Courier New"/>
              </a:rPr>
              <a:t xml:space="preserve">:</a:t>
            </a:r>
            <a:r>
              <a:rPr sz="2000">
                <a:solidFill>
                  <a:srgbClr val="666666"/>
                </a:solidFill>
                <a:latin typeface="Courier New"/>
              </a:rPr>
              <a:t xml:space="preserve">]</a:t>
            </a:r>
          </a:p>
        </p:txBody>
      </p:sp>
      <p:sp>
        <p:nvSpPr>
          <p:cNvPr id="10" name="Code number 0:3"/>
          <p:cNvSpPr txBox="1"/>
          <p:nvPr/>
        </p:nvSpPr>
        <p:spPr>
          <a:xfrm>
            <a:off x="164592" y="292303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1" name="Code line 0:3"/>
          <p:cNvSpPr txBox="1"/>
          <p:nvPr/>
        </p:nvSpPr>
        <p:spPr>
          <a:xfrm>
            <a:off x="594360" y="292303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name</a:t>
            </a:r>
            <a:r>
              <a:rPr sz="2000">
                <a:solidFill>
                  <a:srgbClr val="666666"/>
                </a:solidFill>
                <a:latin typeface="Courier New"/>
              </a:rPr>
              <a:t xml:space="preserve">)</a:t>
            </a:r>
          </a:p>
        </p:txBody>
      </p:sp>
      <p:sp>
        <p:nvSpPr>
          <p:cNvPr id="12" name="Printed output 0:3"/>
          <p:cNvSpPr txBox="1"/>
          <p:nvPr/>
        </p:nvSpPr>
        <p:spPr>
          <a:xfrm>
            <a:off x="8366760" y="294843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Ryan</a:t>
            </a:r>
          </a:p>
        </p:txBody>
      </p:sp>
      <p:sp>
        <p:nvSpPr>
          <p:cNvPr id="14" name="Body paragraph 14"/>
          <p:cNvSpPr txBox="1"/>
          <p:nvPr/>
        </p:nvSpPr>
        <p:spPr>
          <a:xfrm>
            <a:off x="594360" y="3369564"/>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Which substring is extracted? How would a different prefix affect this slice?</a:t>
            </a:r>
          </a:p>
        </p:txBody>
      </p:sp>
      <p:sp>
        <p:nvSpPr>
          <p:cNvPr id="15" name="Pi515 accent"/>
          <p:cNvSpPr/>
          <p:nvPr/>
        </p:nvSpPr>
        <p:spPr>
          <a:xfrm>
            <a:off x="0" y="0"/>
            <a:ext cx="12192000" cy="54864"/>
          </a:xfrm>
          <a:prstGeom prst="rect">
            <a:avLst/>
          </a:prstGeom>
          <a:solidFill>
            <a:srgbClr val="39DC78"/>
          </a:solidFill>
          <a:ln>
            <a:noFill/>
          </a:ln>
        </p:spPr>
      </p:sp>
      <p:sp>
        <p:nvSpPr>
          <p:cNvPr id="16"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APPLICATION</a:t>
            </a:r>
          </a:p>
        </p:txBody>
      </p:sp>
      <p:sp>
        <p:nvSpPr>
          <p:cNvPr id="17" name="Footer rule"/>
          <p:cNvSpPr/>
          <p:nvPr/>
        </p:nvSpPr>
        <p:spPr>
          <a:xfrm>
            <a:off x="594360" y="6400800"/>
            <a:ext cx="10972800" cy="10973"/>
          </a:xfrm>
          <a:prstGeom prst="rect">
            <a:avLst/>
          </a:prstGeom>
          <a:solidFill>
            <a:srgbClr val="E6E6E6"/>
          </a:solidFill>
          <a:ln>
            <a:noFill/>
          </a:ln>
        </p:spPr>
      </p:sp>
      <p:sp>
        <p:nvSpPr>
          <p:cNvPr id="18"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62</a:t>
            </a:r>
          </a:p>
        </p:txBody>
      </p:sp>
      <p:pic>
        <p:nvPicPr>
          <p:cNvPr id="19"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Exercise 6 — Negative slice indices</a:t>
            </a:r>
          </a:p>
        </p:txBody>
      </p:sp>
      <p:sp>
        <p:nvSpPr>
          <p:cNvPr id="3" name="Body paragraph 3"/>
          <p:cNvSpPr txBox="1"/>
          <p:nvPr/>
        </p:nvSpPr>
        <p:spPr>
          <a:xfrm>
            <a:off x="594360" y="1417320"/>
            <a:ext cx="10972800" cy="106070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Use negative slice indices to </a:t>
            </a:r>
            <a:r>
              <a:rPr sz="2200">
                <a:solidFill>
                  <a:srgbClr val="008000"/>
                </a:solidFill>
                <a:latin typeface="Courier New"/>
              </a:rPr>
              <a:t xml:space="preserve">print</a:t>
            </a:r>
            <a:r>
              <a:rPr sz="2200">
                <a:solidFill>
                  <a:srgbClr val="2B2B2B"/>
                </a:solidFill>
                <a:latin typeface="Arial"/>
              </a:rPr>
              <a:t> </a:t>
            </a:r>
            <a:r>
              <a:rPr sz="2200">
                <a:solidFill>
                  <a:srgbClr val="4070A0"/>
                </a:solidFill>
                <a:latin typeface="Courier New"/>
              </a:rPr>
              <a:t xml:space="preserve">"Some"</a:t>
            </a:r>
            <a:r>
              <a:rPr sz="2200">
                <a:solidFill>
                  <a:srgbClr val="2B2B2B"/>
                </a:solidFill>
                <a:latin typeface="Arial"/>
              </a:rPr>
              <a:t> from </a:t>
            </a:r>
            <a:r>
              <a:rPr sz="2200">
                <a:solidFill>
                  <a:srgbClr val="4070A0"/>
                </a:solidFill>
                <a:latin typeface="Courier New"/>
              </a:rPr>
              <a:t xml:space="preserve">"Something"</a:t>
            </a:r>
            <a:r>
              <a:rPr sz="2200">
                <a:solidFill>
                  <a:srgbClr val="2B2B2B"/>
                </a:solidFill>
                <a:latin typeface="Arial"/>
              </a:rPr>
              <a:t>. Then extract </a:t>
            </a:r>
            <a:r>
              <a:rPr sz="2200">
                <a:solidFill>
                  <a:srgbClr val="4070A0"/>
                </a:solidFill>
                <a:latin typeface="Courier New"/>
              </a:rPr>
              <a:t xml:space="preserve">"thing"</a:t>
            </a:r>
            <a:r>
              <a:rPr sz="2200">
                <a:solidFill>
                  <a:srgbClr val="2B2B2B"/>
                </a:solidFill>
                <a:latin typeface="Arial"/>
              </a:rPr>
              <a:t> with a negative start. Explain how the positions relate to the string’s length.</a:t>
            </a:r>
          </a:p>
        </p:txBody>
      </p:sp>
      <p:sp>
        <p:nvSpPr>
          <p:cNvPr id="4" name="Code number 0:1"/>
          <p:cNvSpPr txBox="1"/>
          <p:nvPr/>
        </p:nvSpPr>
        <p:spPr>
          <a:xfrm>
            <a:off x="164592" y="264566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5" name="Code line 0:1"/>
          <p:cNvSpPr txBox="1"/>
          <p:nvPr/>
        </p:nvSpPr>
        <p:spPr>
          <a:xfrm>
            <a:off x="594360" y="2645664"/>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something</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"Something"</a:t>
            </a:r>
          </a:p>
        </p:txBody>
      </p:sp>
      <p:sp>
        <p:nvSpPr>
          <p:cNvPr id="6" name="Code number 0:2"/>
          <p:cNvSpPr txBox="1"/>
          <p:nvPr/>
        </p:nvSpPr>
        <p:spPr>
          <a:xfrm>
            <a:off x="164592" y="298246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7" name="Code line 0:2"/>
          <p:cNvSpPr txBox="1"/>
          <p:nvPr/>
        </p:nvSpPr>
        <p:spPr>
          <a:xfrm>
            <a:off x="594360" y="2982468"/>
            <a:ext cx="10972800" cy="336804"/>
          </a:xfrm>
          <a:prstGeom prst="rect">
            <a:avLst/>
          </a:prstGeom>
          <a:noFill/>
          <a:ln>
            <a:noFill/>
          </a:ln>
        </p:spPr>
        <p:txBody>
          <a:bodyPr wrap="square" lIns="0" rIns="0" tIns="0" bIns="0">
            <a:noAutofit/>
          </a:bodyPr>
          <a:lstStyle/>
          <a:p>
            <a:pPr marL="0" indent="0" algn="l">
              <a:lnSpc>
                <a:spcPct val="120000"/>
              </a:lnSpc>
              <a:buNone/>
            </a:pPr>
            <a:r>
              <a:rPr sz="2000" i="1">
                <a:solidFill>
                  <a:srgbClr val="555554"/>
                </a:solidFill>
                <a:latin typeface="Courier New"/>
              </a:rPr>
              <a:t xml:space="preserve"># YOUR CODE HERE: select Some and thing with negative bounds.</a:t>
            </a:r>
          </a:p>
        </p:txBody>
      </p:sp>
      <p:sp>
        <p:nvSpPr>
          <p:cNvPr id="8" name="Body paragraph 8"/>
          <p:cNvSpPr txBox="1"/>
          <p:nvPr/>
        </p:nvSpPr>
        <p:spPr>
          <a:xfrm>
            <a:off x="594360" y="3429000"/>
            <a:ext cx="10972800" cy="390144"/>
          </a:xfrm>
          <a:prstGeom prst="rect">
            <a:avLst/>
          </a:prstGeom>
          <a:noFill/>
          <a:ln>
            <a:noFill/>
          </a:ln>
        </p:spPr>
        <p:txBody>
          <a:bodyPr wrap="square" lIns="0" rIns="0" tIns="0" bIns="0">
            <a:noAutofit/>
          </a:bodyPr>
          <a:lstStyle/>
          <a:p>
            <a:pPr marL="0" indent="0">
              <a:lnSpc>
                <a:spcPct val="120000"/>
              </a:lnSpc>
              <a:buNone/>
            </a:pPr>
            <a:r>
              <a:rPr sz="2200" b="1">
                <a:solidFill>
                  <a:srgbClr val="2B2B2B"/>
                </a:solidFill>
                <a:latin typeface="Arial"/>
              </a:rPr>
              <a:t>Optional extension</a:t>
            </a:r>
          </a:p>
        </p:txBody>
      </p:sp>
      <p:sp>
        <p:nvSpPr>
          <p:cNvPr id="9" name="Body paragraph 9"/>
          <p:cNvSpPr txBox="1"/>
          <p:nvPr/>
        </p:nvSpPr>
        <p:spPr>
          <a:xfrm>
            <a:off x="594360" y="3819144"/>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Predict </a:t>
            </a:r>
            <a:r>
              <a:rPr sz="2200">
                <a:solidFill>
                  <a:srgbClr val="2B2B2B"/>
                </a:solidFill>
                <a:latin typeface="Courier New"/>
              </a:rPr>
              <a:t xml:space="preserve">something</a:t>
            </a:r>
            <a:r>
              <a:rPr sz="2200">
                <a:solidFill>
                  <a:srgbClr val="666666"/>
                </a:solidFill>
                <a:latin typeface="Courier New"/>
              </a:rPr>
              <a:t xml:space="preserve">[</a:t>
            </a:r>
            <a:r>
              <a:rPr sz="2200">
                <a:solidFill>
                  <a:srgbClr val="666666"/>
                </a:solidFill>
                <a:latin typeface="Courier New"/>
              </a:rPr>
              <a:t xml:space="preserve">:</a:t>
            </a:r>
            <a:r>
              <a:rPr sz="2200">
                <a:solidFill>
                  <a:srgbClr val="208050"/>
                </a:solidFill>
                <a:latin typeface="Courier New"/>
              </a:rPr>
              <a:t xml:space="preserve">4</a:t>
            </a:r>
            <a:r>
              <a:rPr sz="2200">
                <a:solidFill>
                  <a:srgbClr val="666666"/>
                </a:solidFill>
                <a:latin typeface="Courier New"/>
              </a:rPr>
              <a:t xml:space="preserve">]</a:t>
            </a:r>
            <a:r>
              <a:rPr sz="2200">
                <a:solidFill>
                  <a:srgbClr val="2B2B2B"/>
                </a:solidFill>
                <a:latin typeface="Arial"/>
              </a:rPr>
              <a:t>, </a:t>
            </a:r>
            <a:r>
              <a:rPr sz="2200">
                <a:solidFill>
                  <a:srgbClr val="2B2B2B"/>
                </a:solidFill>
                <a:latin typeface="Courier New"/>
              </a:rPr>
              <a:t xml:space="preserve">something</a:t>
            </a:r>
            <a:r>
              <a:rPr sz="2200">
                <a:solidFill>
                  <a:srgbClr val="666666"/>
                </a:solidFill>
                <a:latin typeface="Courier New"/>
              </a:rPr>
              <a:t xml:space="preserve">[</a:t>
            </a:r>
            <a:r>
              <a:rPr sz="2200">
                <a:solidFill>
                  <a:srgbClr val="208050"/>
                </a:solidFill>
                <a:latin typeface="Courier New"/>
              </a:rPr>
              <a:t xml:space="preserve">0</a:t>
            </a:r>
            <a:r>
              <a:rPr sz="2200">
                <a:solidFill>
                  <a:srgbClr val="666666"/>
                </a:solidFill>
                <a:latin typeface="Courier New"/>
              </a:rPr>
              <a:t xml:space="preserve">:</a:t>
            </a:r>
            <a:r>
              <a:rPr sz="2200">
                <a:solidFill>
                  <a:srgbClr val="666666"/>
                </a:solidFill>
                <a:latin typeface="Courier New"/>
              </a:rPr>
              <a:t xml:space="preserve">-</a:t>
            </a:r>
            <a:r>
              <a:rPr sz="2200">
                <a:solidFill>
                  <a:srgbClr val="208050"/>
                </a:solidFill>
                <a:latin typeface="Courier New"/>
              </a:rPr>
              <a:t xml:space="preserve">1</a:t>
            </a:r>
            <a:r>
              <a:rPr sz="2200">
                <a:solidFill>
                  <a:srgbClr val="666666"/>
                </a:solidFill>
                <a:latin typeface="Courier New"/>
              </a:rPr>
              <a:t xml:space="preserve">]</a:t>
            </a:r>
            <a:r>
              <a:rPr sz="2200">
                <a:solidFill>
                  <a:srgbClr val="2B2B2B"/>
                </a:solidFill>
                <a:latin typeface="Arial"/>
              </a:rPr>
              <a:t>, and </a:t>
            </a:r>
            <a:r>
              <a:rPr sz="2200">
                <a:solidFill>
                  <a:srgbClr val="2B2B2B"/>
                </a:solidFill>
                <a:latin typeface="Courier New"/>
              </a:rPr>
              <a:t xml:space="preserve">something</a:t>
            </a:r>
            <a:r>
              <a:rPr sz="2200">
                <a:solidFill>
                  <a:srgbClr val="666666"/>
                </a:solidFill>
                <a:latin typeface="Courier New"/>
              </a:rPr>
              <a:t xml:space="preserve">[</a:t>
            </a:r>
            <a:r>
              <a:rPr sz="2200">
                <a:solidFill>
                  <a:srgbClr val="666666"/>
                </a:solidFill>
                <a:latin typeface="Courier New"/>
              </a:rPr>
              <a:t xml:space="preserve">-</a:t>
            </a:r>
            <a:r>
              <a:rPr sz="2200">
                <a:solidFill>
                  <a:srgbClr val="208050"/>
                </a:solidFill>
                <a:latin typeface="Courier New"/>
              </a:rPr>
              <a:t xml:space="preserve">1</a:t>
            </a:r>
            <a:r>
              <a:rPr sz="2200">
                <a:solidFill>
                  <a:srgbClr val="666666"/>
                </a:solidFill>
                <a:latin typeface="Courier New"/>
              </a:rPr>
              <a:t xml:space="preserve">:</a:t>
            </a:r>
            <a:r>
              <a:rPr sz="2200">
                <a:solidFill>
                  <a:srgbClr val="666666"/>
                </a:solidFill>
                <a:latin typeface="Courier New"/>
              </a:rPr>
              <a:t xml:space="preserve">-</a:t>
            </a:r>
            <a:r>
              <a:rPr sz="2200">
                <a:solidFill>
                  <a:srgbClr val="208050"/>
                </a:solidFill>
                <a:latin typeface="Courier New"/>
              </a:rPr>
              <a:t xml:space="preserve">4</a:t>
            </a:r>
            <a:r>
              <a:rPr sz="2200">
                <a:solidFill>
                  <a:srgbClr val="666666"/>
                </a:solidFill>
                <a:latin typeface="Courier New"/>
              </a:rPr>
              <a:t xml:space="preserve">]</a:t>
            </a:r>
            <a:r>
              <a:rPr sz="2200">
                <a:solidFill>
                  <a:srgbClr val="2B2B2B"/>
                </a:solidFill>
                <a:latin typeface="Arial"/>
              </a:rPr>
              <a:t>. Check them and explain why the last expression does not reverse the string.</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EXERCISE</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63</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Exercise 7 — Split, join, and replace</a:t>
            </a:r>
          </a:p>
        </p:txBody>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Use </a:t>
            </a:r>
            <a:r>
              <a:rPr sz="2200">
                <a:solidFill>
                  <a:srgbClr val="06287E"/>
                </a:solidFill>
                <a:latin typeface="Courier New"/>
              </a:rPr>
              <a:t xml:space="preserve">split</a:t>
            </a:r>
            <a:r>
              <a:rPr sz="2200">
                <a:solidFill>
                  <a:srgbClr val="2B2B2B"/>
                </a:solidFill>
                <a:latin typeface="Arial"/>
              </a:rPr>
              <a:t> and </a:t>
            </a:r>
            <a:r>
              <a:rPr sz="2200">
                <a:solidFill>
                  <a:srgbClr val="06287E"/>
                </a:solidFill>
                <a:latin typeface="Courier New"/>
              </a:rPr>
              <a:t xml:space="preserve">join</a:t>
            </a:r>
            <a:r>
              <a:rPr sz="2200">
                <a:solidFill>
                  <a:srgbClr val="2B2B2B"/>
                </a:solidFill>
                <a:latin typeface="Arial"/>
              </a:rPr>
              <a:t> to transform </a:t>
            </a:r>
            <a:r>
              <a:rPr sz="2200">
                <a:solidFill>
                  <a:srgbClr val="4070A0"/>
                </a:solidFill>
                <a:latin typeface="Courier New"/>
              </a:rPr>
              <a:t xml:space="preserve">"No ice"</a:t>
            </a:r>
            <a:r>
              <a:rPr sz="2200">
                <a:solidFill>
                  <a:srgbClr val="2B2B2B"/>
                </a:solidFill>
                <a:latin typeface="Arial"/>
              </a:rPr>
              <a:t> into </a:t>
            </a:r>
            <a:r>
              <a:rPr sz="2200">
                <a:solidFill>
                  <a:srgbClr val="4070A0"/>
                </a:solidFill>
                <a:latin typeface="Courier New"/>
              </a:rPr>
              <a:t xml:space="preserve">"Noice"</a:t>
            </a:r>
            <a:r>
              <a:rPr sz="2200">
                <a:solidFill>
                  <a:srgbClr val="2B2B2B"/>
                </a:solidFill>
                <a:latin typeface="Arial"/>
              </a:rPr>
              <a:t>. Then use </a:t>
            </a:r>
            <a:r>
              <a:rPr sz="2200">
                <a:solidFill>
                  <a:srgbClr val="06287E"/>
                </a:solidFill>
                <a:latin typeface="Courier New"/>
              </a:rPr>
              <a:t xml:space="preserve">replace</a:t>
            </a:r>
            <a:r>
              <a:rPr sz="2200">
                <a:solidFill>
                  <a:srgbClr val="2B2B2B"/>
                </a:solidFill>
                <a:latin typeface="Arial"/>
              </a:rPr>
              <a:t> to transform </a:t>
            </a:r>
            <a:r>
              <a:rPr sz="2200">
                <a:solidFill>
                  <a:srgbClr val="4070A0"/>
                </a:solidFill>
                <a:latin typeface="Courier New"/>
              </a:rPr>
              <a:t xml:space="preserve">"Not Ice"</a:t>
            </a:r>
            <a:r>
              <a:rPr sz="2200">
                <a:solidFill>
                  <a:srgbClr val="2B2B2B"/>
                </a:solidFill>
                <a:latin typeface="Arial"/>
              </a:rPr>
              <a:t> into </a:t>
            </a:r>
            <a:r>
              <a:rPr sz="2200">
                <a:solidFill>
                  <a:srgbClr val="4070A0"/>
                </a:solidFill>
                <a:latin typeface="Courier New"/>
              </a:rPr>
              <a:t xml:space="preserve">"Notice"</a:t>
            </a:r>
            <a:r>
              <a:rPr sz="2200">
                <a:solidFill>
                  <a:srgbClr val="2B2B2B"/>
                </a:solidFill>
                <a:latin typeface="Arial"/>
              </a:rPr>
              <a:t>, and that result into </a:t>
            </a:r>
            <a:r>
              <a:rPr sz="2200">
                <a:solidFill>
                  <a:srgbClr val="4070A0"/>
                </a:solidFill>
                <a:latin typeface="Courier New"/>
              </a:rPr>
              <a:t xml:space="preserve">"Noice"</a:t>
            </a:r>
            <a:r>
              <a:rPr sz="2200">
                <a:solidFill>
                  <a:srgbClr val="2B2B2B"/>
                </a:solidFill>
                <a:latin typeface="Arial"/>
              </a:rPr>
              <a:t>.</a:t>
            </a:r>
          </a:p>
        </p:txBody>
      </p:sp>
      <p:sp>
        <p:nvSpPr>
          <p:cNvPr id="4" name="Code number 0:1"/>
          <p:cNvSpPr txBox="1"/>
          <p:nvPr/>
        </p:nvSpPr>
        <p:spPr>
          <a:xfrm>
            <a:off x="164592" y="231038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5" name="Code line 0:1"/>
          <p:cNvSpPr txBox="1"/>
          <p:nvPr/>
        </p:nvSpPr>
        <p:spPr>
          <a:xfrm>
            <a:off x="594360" y="2310384"/>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spaced</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"No ice"</a:t>
            </a:r>
          </a:p>
        </p:txBody>
      </p:sp>
      <p:sp>
        <p:nvSpPr>
          <p:cNvPr id="6" name="Code number 0:2"/>
          <p:cNvSpPr txBox="1"/>
          <p:nvPr/>
        </p:nvSpPr>
        <p:spPr>
          <a:xfrm>
            <a:off x="164592" y="264718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7" name="Code line 0:2"/>
          <p:cNvSpPr txBox="1"/>
          <p:nvPr/>
        </p:nvSpPr>
        <p:spPr>
          <a:xfrm>
            <a:off x="594360" y="2647188"/>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phrase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"Not Ice"</a:t>
            </a:r>
          </a:p>
        </p:txBody>
      </p:sp>
      <p:sp>
        <p:nvSpPr>
          <p:cNvPr id="8" name="Code number 0:3"/>
          <p:cNvSpPr txBox="1"/>
          <p:nvPr/>
        </p:nvSpPr>
        <p:spPr>
          <a:xfrm>
            <a:off x="164592" y="298399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9" name="Code line 0:3"/>
          <p:cNvSpPr txBox="1"/>
          <p:nvPr/>
        </p:nvSpPr>
        <p:spPr>
          <a:xfrm>
            <a:off x="594360" y="2983992"/>
            <a:ext cx="10972800" cy="336804"/>
          </a:xfrm>
          <a:prstGeom prst="rect">
            <a:avLst/>
          </a:prstGeom>
          <a:noFill/>
          <a:ln>
            <a:noFill/>
          </a:ln>
        </p:spPr>
        <p:txBody>
          <a:bodyPr wrap="square" lIns="0" rIns="0" tIns="0" bIns="0">
            <a:noAutofit/>
          </a:bodyPr>
          <a:lstStyle/>
          <a:p>
            <a:pPr marL="0" indent="0" algn="l">
              <a:lnSpc>
                <a:spcPct val="120000"/>
              </a:lnSpc>
              <a:buNone/>
            </a:pPr>
            <a:r>
              <a:rPr sz="2000" i="1">
                <a:solidFill>
                  <a:srgbClr val="555554"/>
                </a:solidFill>
                <a:latin typeface="Courier New"/>
              </a:rPr>
              <a:t xml:space="preserve"># YOUR CODE HERE: create and print the requested strings.</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EXERCISE</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64</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Exercise 8 — The mystery phrase</a:t>
            </a:r>
          </a:p>
        </p:txBody>
      </p:sp>
      <p:sp>
        <p:nvSpPr>
          <p:cNvPr id="3" name="Body paragraph 3"/>
          <p:cNvSpPr txBox="1"/>
          <p:nvPr/>
        </p:nvSpPr>
        <p:spPr>
          <a:xfrm>
            <a:off x="594360" y="1417320"/>
            <a:ext cx="10972800" cy="106070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The original challenge puts </a:t>
            </a:r>
            <a:r>
              <a:rPr sz="2200">
                <a:solidFill>
                  <a:srgbClr val="4070A0"/>
                </a:solidFill>
                <a:latin typeface="Courier New"/>
              </a:rPr>
              <a:t xml:space="preserve">"N O I C E"</a:t>
            </a:r>
            <a:r>
              <a:rPr sz="2200">
                <a:solidFill>
                  <a:srgbClr val="2B2B2B"/>
                </a:solidFill>
                <a:latin typeface="Arial"/>
              </a:rPr>
              <a:t> after your names. Verify that the phrase is present, extract it as a substring, and find a second way to extract it. Share your reasoning with a neighbor.</a:t>
            </a:r>
          </a:p>
        </p:txBody>
      </p:sp>
      <p:sp>
        <p:nvSpPr>
          <p:cNvPr id="4" name="Code number 0:1"/>
          <p:cNvSpPr txBox="1"/>
          <p:nvPr/>
        </p:nvSpPr>
        <p:spPr>
          <a:xfrm>
            <a:off x="164592" y="264566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5" name="Code line 0:1"/>
          <p:cNvSpPr txBox="1"/>
          <p:nvPr/>
        </p:nvSpPr>
        <p:spPr>
          <a:xfrm>
            <a:off x="594360" y="2645664"/>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mysteryString</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firstName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lastName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"N O I C E"</a:t>
            </a:r>
          </a:p>
        </p:txBody>
      </p:sp>
      <p:sp>
        <p:nvSpPr>
          <p:cNvPr id="6" name="Code number 0:2"/>
          <p:cNvSpPr txBox="1"/>
          <p:nvPr/>
        </p:nvSpPr>
        <p:spPr>
          <a:xfrm>
            <a:off x="164592" y="298246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7" name="Code line 0:2"/>
          <p:cNvSpPr txBox="1"/>
          <p:nvPr/>
        </p:nvSpPr>
        <p:spPr>
          <a:xfrm>
            <a:off x="594360" y="2982468"/>
            <a:ext cx="10972800" cy="336804"/>
          </a:xfrm>
          <a:prstGeom prst="rect">
            <a:avLst/>
          </a:prstGeom>
          <a:noFill/>
          <a:ln>
            <a:noFill/>
          </a:ln>
        </p:spPr>
        <p:txBody>
          <a:bodyPr wrap="square" lIns="0" rIns="0" tIns="0" bIns="0">
            <a:noAutofit/>
          </a:bodyPr>
          <a:lstStyle/>
          <a:p>
            <a:pPr marL="0" indent="0" algn="l">
              <a:lnSpc>
                <a:spcPct val="120000"/>
              </a:lnSpc>
              <a:buNone/>
            </a:pPr>
            <a:r>
              <a:rPr sz="2000" i="1">
                <a:solidFill>
                  <a:srgbClr val="555554"/>
                </a:solidFill>
                <a:latin typeface="Courier New"/>
              </a:rPr>
              <a:t xml:space="preserve"># YOUR CODE HERE: membership test and two extractions.</a:t>
            </a:r>
          </a:p>
        </p:txBody>
      </p:sp>
      <p:sp>
        <p:nvSpPr>
          <p:cNvPr id="8" name="Pi515 accent"/>
          <p:cNvSpPr/>
          <p:nvPr/>
        </p:nvSpPr>
        <p:spPr>
          <a:xfrm>
            <a:off x="0" y="0"/>
            <a:ext cx="12192000" cy="54864"/>
          </a:xfrm>
          <a:prstGeom prst="rect">
            <a:avLst/>
          </a:prstGeom>
          <a:solidFill>
            <a:srgbClr val="39DC78"/>
          </a:solidFill>
          <a:ln>
            <a:noFill/>
          </a:ln>
        </p:spPr>
      </p:sp>
      <p:sp>
        <p:nvSpPr>
          <p:cNvPr id="9"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EXERCISE</a:t>
            </a:r>
          </a:p>
        </p:txBody>
      </p:sp>
      <p:sp>
        <p:nvSpPr>
          <p:cNvPr id="10" name="Footer rule"/>
          <p:cNvSpPr/>
          <p:nvPr/>
        </p:nvSpPr>
        <p:spPr>
          <a:xfrm>
            <a:off x="594360" y="6400800"/>
            <a:ext cx="10972800" cy="10973"/>
          </a:xfrm>
          <a:prstGeom prst="rect">
            <a:avLst/>
          </a:prstGeom>
          <a:solidFill>
            <a:srgbClr val="E6E6E6"/>
          </a:solidFill>
          <a:ln>
            <a:noFill/>
          </a:ln>
        </p:spPr>
      </p:sp>
      <p:sp>
        <p:nvSpPr>
          <p:cNvPr id="11"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65</a:t>
            </a:r>
          </a:p>
        </p:txBody>
      </p:sp>
      <p:pic>
        <p:nvPicPr>
          <p:cNvPr id="12"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Exercise 9 — Two ways to transform the phrase</a:t>
            </a:r>
          </a:p>
        </p:txBody>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Find two ways to </a:t>
            </a:r>
            <a:r>
              <a:rPr sz="2200">
                <a:solidFill>
                  <a:srgbClr val="06287E"/>
                </a:solidFill>
                <a:latin typeface="Courier New"/>
              </a:rPr>
              <a:t xml:space="preserve">replace</a:t>
            </a:r>
            <a:r>
              <a:rPr sz="2200">
                <a:solidFill>
                  <a:srgbClr val="2B2B2B"/>
                </a:solidFill>
                <a:latin typeface="Arial"/>
              </a:rPr>
              <a:t> every space in </a:t>
            </a:r>
            <a:r>
              <a:rPr sz="2200">
                <a:solidFill>
                  <a:srgbClr val="4070A0"/>
                </a:solidFill>
                <a:latin typeface="Courier New"/>
              </a:rPr>
              <a:t xml:space="preserve">"N O I C E"</a:t>
            </a:r>
            <a:r>
              <a:rPr sz="2200">
                <a:solidFill>
                  <a:srgbClr val="2B2B2B"/>
                </a:solidFill>
                <a:latin typeface="Arial"/>
              </a:rPr>
              <a:t> with a comma. Then transform the original phrase into </a:t>
            </a:r>
            <a:r>
              <a:rPr sz="2200">
                <a:solidFill>
                  <a:srgbClr val="4070A0"/>
                </a:solidFill>
                <a:latin typeface="Courier New"/>
              </a:rPr>
              <a:t xml:space="preserve">"noice"</a:t>
            </a:r>
            <a:r>
              <a:rPr sz="2200">
                <a:solidFill>
                  <a:srgbClr val="2B2B2B"/>
                </a:solidFill>
                <a:latin typeface="Arial"/>
              </a:rPr>
              <a:t>.</a:t>
            </a:r>
          </a:p>
        </p:txBody>
      </p:sp>
      <p:sp>
        <p:nvSpPr>
          <p:cNvPr id="4" name="Code number 0:1"/>
          <p:cNvSpPr txBox="1"/>
          <p:nvPr/>
        </p:nvSpPr>
        <p:spPr>
          <a:xfrm>
            <a:off x="164592" y="231038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5" name="Code line 0:1"/>
          <p:cNvSpPr txBox="1"/>
          <p:nvPr/>
        </p:nvSpPr>
        <p:spPr>
          <a:xfrm>
            <a:off x="594360" y="2310384"/>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phrase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"N O I C E"</a:t>
            </a:r>
          </a:p>
        </p:txBody>
      </p:sp>
      <p:sp>
        <p:nvSpPr>
          <p:cNvPr id="6" name="Code number 0:2"/>
          <p:cNvSpPr txBox="1"/>
          <p:nvPr/>
        </p:nvSpPr>
        <p:spPr>
          <a:xfrm>
            <a:off x="164592" y="264718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7" name="Code line 0:2"/>
          <p:cNvSpPr txBox="1"/>
          <p:nvPr/>
        </p:nvSpPr>
        <p:spPr>
          <a:xfrm>
            <a:off x="594360" y="2647188"/>
            <a:ext cx="10972800" cy="336804"/>
          </a:xfrm>
          <a:prstGeom prst="rect">
            <a:avLst/>
          </a:prstGeom>
          <a:noFill/>
          <a:ln>
            <a:noFill/>
          </a:ln>
        </p:spPr>
        <p:txBody>
          <a:bodyPr wrap="square" lIns="0" rIns="0" tIns="0" bIns="0">
            <a:noAutofit/>
          </a:bodyPr>
          <a:lstStyle/>
          <a:p>
            <a:pPr marL="0" indent="0" algn="l">
              <a:lnSpc>
                <a:spcPct val="120000"/>
              </a:lnSpc>
              <a:buNone/>
            </a:pPr>
            <a:r>
              <a:rPr sz="2000" i="1">
                <a:solidFill>
                  <a:srgbClr val="555554"/>
                </a:solidFill>
                <a:latin typeface="Courier New"/>
              </a:rPr>
              <a:t xml:space="preserve"># YOUR CODE HERE: two comma versions, then lowercase noice.</a:t>
            </a:r>
          </a:p>
        </p:txBody>
      </p:sp>
      <p:sp>
        <p:nvSpPr>
          <p:cNvPr id="8" name="Body paragraph 8"/>
          <p:cNvSpPr txBox="1"/>
          <p:nvPr/>
        </p:nvSpPr>
        <p:spPr>
          <a:xfrm>
            <a:off x="594360" y="3093720"/>
            <a:ext cx="10972800" cy="390144"/>
          </a:xfrm>
          <a:prstGeom prst="rect">
            <a:avLst/>
          </a:prstGeom>
          <a:noFill/>
          <a:ln>
            <a:noFill/>
          </a:ln>
        </p:spPr>
        <p:txBody>
          <a:bodyPr wrap="square" lIns="0" rIns="0" tIns="0" bIns="0">
            <a:noAutofit/>
          </a:bodyPr>
          <a:lstStyle/>
          <a:p>
            <a:pPr marL="0" indent="0">
              <a:lnSpc>
                <a:spcPct val="120000"/>
              </a:lnSpc>
              <a:buNone/>
            </a:pPr>
            <a:r>
              <a:rPr sz="2200" b="1">
                <a:solidFill>
                  <a:srgbClr val="2B2B2B"/>
                </a:solidFill>
                <a:latin typeface="Arial"/>
              </a:rPr>
              <a:t>Optional extension</a:t>
            </a:r>
          </a:p>
        </p:txBody>
      </p:sp>
      <p:sp>
        <p:nvSpPr>
          <p:cNvPr id="9" name="Body paragraph 9"/>
          <p:cNvSpPr txBox="1"/>
          <p:nvPr/>
        </p:nvSpPr>
        <p:spPr>
          <a:xfrm>
            <a:off x="594360" y="3483864"/>
            <a:ext cx="10972800" cy="106070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How many ways can you combine </a:t>
            </a:r>
            <a:r>
              <a:rPr sz="2200">
                <a:solidFill>
                  <a:srgbClr val="2B2B2B"/>
                </a:solidFill>
                <a:latin typeface="Courier New"/>
              </a:rPr>
              <a:t xml:space="preserve">firstName</a:t>
            </a:r>
            <a:r>
              <a:rPr sz="2200">
                <a:solidFill>
                  <a:srgbClr val="2B2B2B"/>
                </a:solidFill>
                <a:latin typeface="Arial"/>
              </a:rPr>
              <a:t> and </a:t>
            </a:r>
            <a:r>
              <a:rPr sz="2200">
                <a:solidFill>
                  <a:srgbClr val="2B2B2B"/>
                </a:solidFill>
                <a:latin typeface="Courier New"/>
              </a:rPr>
              <a:t xml:space="preserve">lastName</a:t>
            </a:r>
            <a:r>
              <a:rPr sz="2200">
                <a:solidFill>
                  <a:srgbClr val="2B2B2B"/>
                </a:solidFill>
                <a:latin typeface="Arial"/>
              </a:rPr>
              <a:t> with a single space between them? Try concatenation and joining pieces. Distinguish building one string from printing multiple arguments.</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EXERCISE</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66</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theme/theme1.xml><?xml version="1.0" encoding="utf-8"?>
<a:theme xmlns:a="http://schemas.openxmlformats.org/drawingml/2006/main" name="Office Theme">
  <a:themeElements>
    <a:clrScheme name="Office">
      <a:dk1>
        <a:srgbClr val="2B2B2B"/>
      </a:dk1>
      <a:lt1>
        <a:sysClr val="window" lastClr="FFFFFF"/>
      </a:lt1>
      <a:dk2>
        <a:srgbClr val="0D4423"/>
      </a:dk2>
      <a:lt2>
        <a:srgbClr val="EEECE1"/>
      </a:lt2>
      <a:accent1>
        <a:srgbClr val="39DC78"/>
      </a:accent1>
      <a:accent2>
        <a:srgbClr val="17763C"/>
      </a:accent2>
      <a:accent3>
        <a:srgbClr val="9BBB59"/>
      </a:accent3>
      <a:accent4>
        <a:srgbClr val="8064A2"/>
      </a:accent4>
      <a:accent5>
        <a:srgbClr val="4BACC6"/>
      </a:accent5>
      <a:accent6>
        <a:srgbClr val="F79646"/>
      </a:accent6>
      <a:hlink>
        <a:srgbClr val="17763C"/>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rgbClr val="2B2B2B"/>
      </a:dk1>
      <a:lt1>
        <a:sysClr val="window" lastClr="FFFFFF"/>
      </a:lt1>
      <a:dk2>
        <a:srgbClr val="0D4423"/>
      </a:dk2>
      <a:lt2>
        <a:srgbClr val="E7E6E6"/>
      </a:lt2>
      <a:accent1>
        <a:srgbClr val="39DC78"/>
      </a:accent1>
      <a:accent2>
        <a:srgbClr val="17763C"/>
      </a:accent2>
      <a:accent3>
        <a:srgbClr val="A5A5A5"/>
      </a:accent3>
      <a:accent4>
        <a:srgbClr val="FFC000"/>
      </a:accent4>
      <a:accent5>
        <a:srgbClr val="4472C4"/>
      </a:accent5>
      <a:accent6>
        <a:srgbClr val="70AD47"/>
      </a:accent6>
      <a:hlink>
        <a:srgbClr val="17763C"/>
      </a:hlink>
      <a:folHlink>
        <a:srgbClr val="954F72"/>
      </a:folHlink>
    </a:clrScheme>
    <a:fontScheme name="Office">
      <a:majorFont>
        <a:latin typeface="Arial"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Strings - indexing, slicing, and methods</dc:title>
  <dc:creator/>
  <cp:keywords/>
  <dcterms:created xsi:type="dcterms:W3CDTF">2026-10-20T18:35:26Z</dcterms:created>
  <dcterms:modified xsi:type="dcterms:W3CDTF">2026-10-20T18:35:26Z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xecute">
    <vt:lpwstr/>
  </property>
  <property fmtid="{D5CDD505-2E9C-101B-9397-08002B2CF9AE}" pid="4" name="header-includes">
    <vt:lpwstr/>
  </property>
  <property fmtid="{D5CDD505-2E9C-101B-9397-08002B2CF9AE}" pid="5" name="include-after">
    <vt:lpwstr/>
  </property>
  <property fmtid="{D5CDD505-2E9C-101B-9397-08002B2CF9AE}" pid="6" name="include-before">
    <vt:lpwstr/>
  </property>
  <property fmtid="{D5CDD505-2E9C-101B-9397-08002B2CF9AE}" pid="7" name="labels">
    <vt:lpwstr/>
  </property>
  <property fmtid="{D5CDD505-2E9C-101B-9397-08002B2CF9AE}" pid="8" name="monofont">
    <vt:lpwstr>Courier New</vt:lpwstr>
  </property>
  <property fmtid="{D5CDD505-2E9C-101B-9397-08002B2CF9AE}" pid="9" name="toc-title">
    <vt:lpwstr>Table of contents</vt:lpwstr>
  </property>
</Properties>
</file>